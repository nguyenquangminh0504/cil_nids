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44"/>
  </p:notesMasterIdLst>
  <p:handoutMasterIdLst>
    <p:handoutMasterId r:id="rId45"/>
  </p:handoutMasterIdLst>
  <p:sldIdLst>
    <p:sldId id="257" r:id="rId2"/>
    <p:sldId id="263" r:id="rId3"/>
    <p:sldId id="319" r:id="rId4"/>
    <p:sldId id="265" r:id="rId5"/>
    <p:sldId id="321" r:id="rId6"/>
    <p:sldId id="282" r:id="rId7"/>
    <p:sldId id="322" r:id="rId8"/>
    <p:sldId id="320" r:id="rId9"/>
    <p:sldId id="323" r:id="rId10"/>
    <p:sldId id="283" r:id="rId11"/>
    <p:sldId id="289" r:id="rId12"/>
    <p:sldId id="290" r:id="rId13"/>
    <p:sldId id="291" r:id="rId14"/>
    <p:sldId id="318" r:id="rId15"/>
    <p:sldId id="326" r:id="rId16"/>
    <p:sldId id="294" r:id="rId17"/>
    <p:sldId id="296" r:id="rId18"/>
    <p:sldId id="335" r:id="rId19"/>
    <p:sldId id="297" r:id="rId20"/>
    <p:sldId id="298" r:id="rId21"/>
    <p:sldId id="299" r:id="rId22"/>
    <p:sldId id="300" r:id="rId23"/>
    <p:sldId id="336" r:id="rId24"/>
    <p:sldId id="302" r:id="rId25"/>
    <p:sldId id="337" r:id="rId26"/>
    <p:sldId id="303" r:id="rId27"/>
    <p:sldId id="305" r:id="rId28"/>
    <p:sldId id="306" r:id="rId29"/>
    <p:sldId id="307" r:id="rId30"/>
    <p:sldId id="308" r:id="rId31"/>
    <p:sldId id="331" r:id="rId32"/>
    <p:sldId id="332" r:id="rId33"/>
    <p:sldId id="333" r:id="rId34"/>
    <p:sldId id="334" r:id="rId35"/>
    <p:sldId id="316" r:id="rId36"/>
    <p:sldId id="317" r:id="rId37"/>
    <p:sldId id="269" r:id="rId38"/>
    <p:sldId id="324" r:id="rId39"/>
    <p:sldId id="325" r:id="rId40"/>
    <p:sldId id="328" r:id="rId41"/>
    <p:sldId id="309" r:id="rId42"/>
    <p:sldId id="292"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9CB7ED-7921-AE4C-A6FE-33B0183F66D6}" v="516" dt="2024-07-10T14:18:33.4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62" autoAdjust="0"/>
    <p:restoredTop sz="94582"/>
  </p:normalViewPr>
  <p:slideViewPr>
    <p:cSldViewPr snapToGrid="0">
      <p:cViewPr varScale="1">
        <p:scale>
          <a:sx n="100" d="100"/>
          <a:sy n="100" d="100"/>
        </p:scale>
        <p:origin x="184" y="5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7/16/24</a:t>
            </a:fld>
            <a:endParaRPr lang="en-US" dirty="0"/>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dirty="0"/>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7/16/24</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dirty="0"/>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AB2FC7A4-3D1B-482D-8C9D-7642A2CE3076}" type="slidenum">
              <a:rPr lang="en-US" smtClean="0"/>
              <a:t>1</a:t>
            </a:fld>
            <a:endParaRPr lang="en-US" dirty="0"/>
          </a:p>
        </p:txBody>
      </p:sp>
    </p:spTree>
    <p:extLst>
      <p:ext uri="{BB962C8B-B14F-4D97-AF65-F5344CB8AC3E}">
        <p14:creationId xmlns:p14="http://schemas.microsoft.com/office/powerpoint/2010/main" val="3295630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NIDS use network traffic, collected via mirroring by network devices such as switches, routers to identify threats within network traffic.</a:t>
            </a:r>
            <a:br>
              <a:rPr lang="en-US" sz="1200" dirty="0"/>
            </a:br>
            <a:r>
              <a:rPr lang="en-US" sz="1200" dirty="0"/>
              <a:t>The model learn patterns associated with different types of network traffic and classify new traffic accordingly.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VN" dirty="0"/>
          </a:p>
        </p:txBody>
      </p:sp>
      <p:sp>
        <p:nvSpPr>
          <p:cNvPr id="4" name="Slide Number Placeholder 3"/>
          <p:cNvSpPr>
            <a:spLocks noGrp="1"/>
          </p:cNvSpPr>
          <p:nvPr>
            <p:ph type="sldNum" sz="quarter" idx="5"/>
          </p:nvPr>
        </p:nvSpPr>
        <p:spPr/>
        <p:txBody>
          <a:bodyPr/>
          <a:lstStyle/>
          <a:p>
            <a:fld id="{AB2FC7A4-3D1B-482D-8C9D-7642A2CE3076}" type="slidenum">
              <a:rPr lang="en-US" smtClean="0"/>
              <a:t>4</a:t>
            </a:fld>
            <a:endParaRPr lang="en-US" dirty="0"/>
          </a:p>
        </p:txBody>
      </p:sp>
    </p:spTree>
    <p:extLst>
      <p:ext uri="{BB962C8B-B14F-4D97-AF65-F5344CB8AC3E}">
        <p14:creationId xmlns:p14="http://schemas.microsoft.com/office/powerpoint/2010/main" val="3108142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VnNimbusRomanNo9L"/>
              </a:rPr>
              <a:t>The landscape of cyber threats is constantly evolving, with new attack techniques and patterns emerging regularly. Class incremental learning enables intrusion detection systems to adapt to these evolving threats by incorporating new attack classes or patterns without re- quiring a complete retraining of the model. This adaptability is crucial for maintaining the effectiveness of intrusion detection systems in detecting novel and sophisticated attacks. </a:t>
            </a:r>
          </a:p>
          <a:p>
            <a:endParaRPr lang="en-V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effectLst/>
                <a:latin typeface="VnNimbusRomanNo9L"/>
              </a:rPr>
              <a:t>Reduced Latency in Response</a:t>
            </a:r>
            <a:r>
              <a:rPr lang="en-US" sz="1800" dirty="0">
                <a:effectLst/>
                <a:latin typeface="VnNimbusRomanNo9L"/>
              </a:rPr>
              <a:t>: In network intrusion detection, timely detection and response to threats are critical to mitigate potential damages. Class incremental learning enables intrusion detection system to update their knowldge base rapidly with new attack signatures or patterns, leading to reduced latency in detecting and responding to emerging threats. This rapid response capability enhances the effectiveness of intrusion detection systems in mitigating the impact of cyber attacks</a:t>
            </a:r>
          </a:p>
          <a:p>
            <a:endParaRPr lang="en-VN" dirty="0"/>
          </a:p>
        </p:txBody>
      </p:sp>
      <p:sp>
        <p:nvSpPr>
          <p:cNvPr id="4" name="Slide Number Placeholder 3"/>
          <p:cNvSpPr>
            <a:spLocks noGrp="1"/>
          </p:cNvSpPr>
          <p:nvPr>
            <p:ph type="sldNum" sz="quarter" idx="5"/>
          </p:nvPr>
        </p:nvSpPr>
        <p:spPr/>
        <p:txBody>
          <a:bodyPr/>
          <a:lstStyle/>
          <a:p>
            <a:fld id="{AB2FC7A4-3D1B-482D-8C9D-7642A2CE3076}" type="slidenum">
              <a:rPr lang="en-US" smtClean="0"/>
              <a:t>6</a:t>
            </a:fld>
            <a:endParaRPr lang="en-US" dirty="0"/>
          </a:p>
        </p:txBody>
      </p:sp>
    </p:spTree>
    <p:extLst>
      <p:ext uri="{BB962C8B-B14F-4D97-AF65-F5344CB8AC3E}">
        <p14:creationId xmlns:p14="http://schemas.microsoft.com/office/powerpoint/2010/main" val="897832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dirty="0">
                    <a:effectLst/>
                  </a:rPr>
                  <a:t>With the help of the exemplar set, the model can utilize </a:t>
                </a:r>
                <a14:m>
                  <m:oMath xmlns:m="http://schemas.openxmlformats.org/officeDocument/2006/math">
                    <m:r>
                      <a:rPr lang="en-US" sz="1200" i="1" smtClean="0">
                        <a:effectLst/>
                        <a:latin typeface="Cambria Math" panose="02040503050406030204" pitchFamily="18" charset="0"/>
                        <a:ea typeface="Cambria Math" panose="02040503050406030204" pitchFamily="18" charset="0"/>
                      </a:rPr>
                      <m:t>𝜀</m:t>
                    </m:r>
                    <m:r>
                      <a:rPr lang="vi-VN" sz="1200" b="0" i="1" smtClean="0">
                        <a:effectLst/>
                        <a:latin typeface="Cambria Math" panose="02040503050406030204" pitchFamily="18" charset="0"/>
                        <a:ea typeface="Cambria Math" panose="02040503050406030204" pitchFamily="18" charset="0"/>
                      </a:rPr>
                      <m:t> ∪ </m:t>
                    </m:r>
                    <m:sSub>
                      <m:sSubPr>
                        <m:ctrlPr>
                          <a:rPr lang="vi-VN" sz="1200" b="0" i="1" smtClean="0">
                            <a:effectLst/>
                            <a:latin typeface="Cambria Math" panose="02040503050406030204" pitchFamily="18" charset="0"/>
                            <a:ea typeface="Cambria Math" panose="02040503050406030204" pitchFamily="18" charset="0"/>
                          </a:rPr>
                        </m:ctrlPr>
                      </m:sSubPr>
                      <m:e>
                        <m:r>
                          <m:rPr>
                            <m:sty m:val="p"/>
                          </m:rPr>
                          <a:rPr lang="vi-VN" sz="1200" i="1">
                            <a:latin typeface="Cambria Math" panose="02040503050406030204" pitchFamily="18" charset="0"/>
                            <a:ea typeface="Cambria Math" panose="02040503050406030204" pitchFamily="18" charset="0"/>
                          </a:rPr>
                          <m:t>D</m:t>
                        </m:r>
                      </m:e>
                      <m:sub>
                        <m:r>
                          <m:rPr>
                            <m:sty m:val="p"/>
                          </m:rPr>
                          <a:rPr lang="vi-VN" sz="1200" i="1">
                            <a:latin typeface="Cambria Math" panose="02040503050406030204" pitchFamily="18" charset="0"/>
                            <a:ea typeface="Cambria Math" panose="02040503050406030204" pitchFamily="18" charset="0"/>
                          </a:rPr>
                          <m:t>b</m:t>
                        </m:r>
                      </m:sub>
                    </m:sSub>
                  </m:oMath>
                </a14:m>
                <a:r>
                  <a:rPr lang="en-US" sz="1200" dirty="0">
                    <a:effectLst/>
                  </a:rPr>
                  <a:t> for the update within each task. The model manages the exemplar set after the training process of each task.</a:t>
                </a:r>
                <a:br>
                  <a:rPr lang="en-US" sz="1200" dirty="0">
                    <a:effectLst/>
                  </a:rPr>
                </a:br>
                <a:endParaRPr lang="en-VN"/>
              </a:p>
            </p:txBody>
          </p:sp>
        </mc:Choice>
        <mc:Fallback xmlns="">
          <p:sp>
            <p:nvSpPr>
              <p:cNvPr id="3" name="Notes Placeholder 2"/>
              <p:cNvSpPr>
                <a:spLocks noGrp="1"/>
              </p:cNvSpPr>
              <p:nvPr>
                <p:ph type="body" idx="1"/>
              </p:nvPr>
            </p:nvSpPr>
            <p:spPr/>
            <p:txBody>
              <a:bodyPr/>
              <a:lstStyle/>
              <a:p>
                <a:r>
                  <a:rPr lang="en-US" sz="1200" dirty="0">
                    <a:effectLst/>
                  </a:rPr>
                  <a:t>With the help of the exemplar set, the model can utilize </a:t>
                </a:r>
                <a:r>
                  <a:rPr lang="en-US" sz="1200" i="0">
                    <a:effectLst/>
                    <a:latin typeface="Cambria Math" panose="02040503050406030204" pitchFamily="18" charset="0"/>
                    <a:ea typeface="Cambria Math" panose="02040503050406030204" pitchFamily="18" charset="0"/>
                  </a:rPr>
                  <a:t>𝜀</a:t>
                </a:r>
                <a:r>
                  <a:rPr lang="vi-VN" sz="1200" b="0" i="0">
                    <a:effectLst/>
                    <a:latin typeface="Cambria Math" panose="02040503050406030204" pitchFamily="18" charset="0"/>
                    <a:ea typeface="Cambria Math" panose="02040503050406030204" pitchFamily="18" charset="0"/>
                  </a:rPr>
                  <a:t> ∪ </a:t>
                </a:r>
                <a:r>
                  <a:rPr lang="vi-VN" sz="1200" i="0">
                    <a:latin typeface="Cambria Math" panose="02040503050406030204" pitchFamily="18" charset="0"/>
                    <a:ea typeface="Cambria Math" panose="02040503050406030204" pitchFamily="18" charset="0"/>
                  </a:rPr>
                  <a:t>D</a:t>
                </a:r>
                <a:r>
                  <a:rPr lang="vi-VN" sz="1200" b="0" i="0">
                    <a:effectLst/>
                    <a:latin typeface="Cambria Math" panose="02040503050406030204" pitchFamily="18" charset="0"/>
                    <a:ea typeface="Cambria Math" panose="02040503050406030204" pitchFamily="18" charset="0"/>
                  </a:rPr>
                  <a:t>_</a:t>
                </a:r>
                <a:r>
                  <a:rPr lang="vi-VN" sz="1200" i="0">
                    <a:latin typeface="Cambria Math" panose="02040503050406030204" pitchFamily="18" charset="0"/>
                    <a:ea typeface="Cambria Math" panose="02040503050406030204" pitchFamily="18" charset="0"/>
                  </a:rPr>
                  <a:t>b</a:t>
                </a:r>
                <a:r>
                  <a:rPr lang="en-US" sz="1200" dirty="0">
                    <a:effectLst/>
                  </a:rPr>
                  <a:t> for the update within each task. The model manages the exemplar set after the training process of each task.</a:t>
                </a:r>
                <a:br>
                  <a:rPr lang="en-US" sz="1200" dirty="0">
                    <a:effectLst/>
                  </a:rPr>
                </a:br>
                <a:endParaRPr lang="en-VN" dirty="0"/>
              </a:p>
            </p:txBody>
          </p:sp>
        </mc:Fallback>
      </mc:AlternateContent>
      <p:sp>
        <p:nvSpPr>
          <p:cNvPr id="4" name="Slide Number Placeholder 3"/>
          <p:cNvSpPr>
            <a:spLocks noGrp="1"/>
          </p:cNvSpPr>
          <p:nvPr>
            <p:ph type="sldNum" sz="quarter" idx="5"/>
          </p:nvPr>
        </p:nvSpPr>
        <p:spPr/>
        <p:txBody>
          <a:bodyPr/>
          <a:lstStyle/>
          <a:p>
            <a:fld id="{AB2FC7A4-3D1B-482D-8C9D-7642A2CE3076}" type="slidenum">
              <a:rPr lang="en-US" smtClean="0"/>
              <a:t>9</a:t>
            </a:fld>
            <a:endParaRPr lang="en-US" dirty="0"/>
          </a:p>
        </p:txBody>
      </p:sp>
    </p:spTree>
    <p:extLst>
      <p:ext uri="{BB962C8B-B14F-4D97-AF65-F5344CB8AC3E}">
        <p14:creationId xmlns:p14="http://schemas.microsoft.com/office/powerpoint/2010/main" val="32450819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dirty="0">
                    <a:effectLst/>
                  </a:rPr>
                  <a:t>With the help of the exemplar set, the model can utilize </a:t>
                </a:r>
                <a14:m>
                  <m:oMath xmlns:m="http://schemas.openxmlformats.org/officeDocument/2006/math">
                    <m:r>
                      <a:rPr lang="en-US" sz="1200" i="1" smtClean="0">
                        <a:effectLst/>
                        <a:latin typeface="Cambria Math" panose="02040503050406030204" pitchFamily="18" charset="0"/>
                        <a:ea typeface="Cambria Math" panose="02040503050406030204" pitchFamily="18" charset="0"/>
                      </a:rPr>
                      <m:t>𝜀</m:t>
                    </m:r>
                    <m:r>
                      <a:rPr lang="vi-VN" sz="1200" b="0" i="1" smtClean="0">
                        <a:effectLst/>
                        <a:latin typeface="Cambria Math" panose="02040503050406030204" pitchFamily="18" charset="0"/>
                        <a:ea typeface="Cambria Math" panose="02040503050406030204" pitchFamily="18" charset="0"/>
                      </a:rPr>
                      <m:t> ∪ </m:t>
                    </m:r>
                    <m:sSub>
                      <m:sSubPr>
                        <m:ctrlPr>
                          <a:rPr lang="vi-VN" sz="1200" b="0" i="1" smtClean="0">
                            <a:effectLst/>
                            <a:latin typeface="Cambria Math" panose="02040503050406030204" pitchFamily="18" charset="0"/>
                            <a:ea typeface="Cambria Math" panose="02040503050406030204" pitchFamily="18" charset="0"/>
                          </a:rPr>
                        </m:ctrlPr>
                      </m:sSubPr>
                      <m:e>
                        <m:r>
                          <m:rPr>
                            <m:sty m:val="p"/>
                          </m:rPr>
                          <a:rPr lang="vi-VN" sz="1200" i="1">
                            <a:latin typeface="Cambria Math" panose="02040503050406030204" pitchFamily="18" charset="0"/>
                            <a:ea typeface="Cambria Math" panose="02040503050406030204" pitchFamily="18" charset="0"/>
                          </a:rPr>
                          <m:t>D</m:t>
                        </m:r>
                      </m:e>
                      <m:sub>
                        <m:r>
                          <m:rPr>
                            <m:sty m:val="p"/>
                          </m:rPr>
                          <a:rPr lang="vi-VN" sz="1200" i="1">
                            <a:latin typeface="Cambria Math" panose="02040503050406030204" pitchFamily="18" charset="0"/>
                            <a:ea typeface="Cambria Math" panose="02040503050406030204" pitchFamily="18" charset="0"/>
                          </a:rPr>
                          <m:t>b</m:t>
                        </m:r>
                      </m:sub>
                    </m:sSub>
                  </m:oMath>
                </a14:m>
                <a:r>
                  <a:rPr lang="en-US" sz="1200" dirty="0">
                    <a:effectLst/>
                  </a:rPr>
                  <a:t> for the update within each task. The model manages the exemplar set after the training process of each task.</a:t>
                </a:r>
                <a:br>
                  <a:rPr lang="en-US" sz="1200" dirty="0">
                    <a:effectLst/>
                  </a:rPr>
                </a:br>
                <a:endParaRPr lang="en-VN"/>
              </a:p>
            </p:txBody>
          </p:sp>
        </mc:Choice>
        <mc:Fallback xmlns="">
          <p:sp>
            <p:nvSpPr>
              <p:cNvPr id="3" name="Notes Placeholder 2"/>
              <p:cNvSpPr>
                <a:spLocks noGrp="1"/>
              </p:cNvSpPr>
              <p:nvPr>
                <p:ph type="body" idx="1"/>
              </p:nvPr>
            </p:nvSpPr>
            <p:spPr/>
            <p:txBody>
              <a:bodyPr/>
              <a:lstStyle/>
              <a:p>
                <a:r>
                  <a:rPr lang="en-US" sz="1200" dirty="0">
                    <a:effectLst/>
                  </a:rPr>
                  <a:t>With the help of the exemplar set, the model can utilize </a:t>
                </a:r>
                <a:r>
                  <a:rPr lang="en-US" sz="1200" i="0">
                    <a:effectLst/>
                    <a:latin typeface="Cambria Math" panose="02040503050406030204" pitchFamily="18" charset="0"/>
                    <a:ea typeface="Cambria Math" panose="02040503050406030204" pitchFamily="18" charset="0"/>
                  </a:rPr>
                  <a:t>𝜀</a:t>
                </a:r>
                <a:r>
                  <a:rPr lang="vi-VN" sz="1200" b="0" i="0">
                    <a:effectLst/>
                    <a:latin typeface="Cambria Math" panose="02040503050406030204" pitchFamily="18" charset="0"/>
                    <a:ea typeface="Cambria Math" panose="02040503050406030204" pitchFamily="18" charset="0"/>
                  </a:rPr>
                  <a:t> ∪ </a:t>
                </a:r>
                <a:r>
                  <a:rPr lang="vi-VN" sz="1200" i="0">
                    <a:latin typeface="Cambria Math" panose="02040503050406030204" pitchFamily="18" charset="0"/>
                    <a:ea typeface="Cambria Math" panose="02040503050406030204" pitchFamily="18" charset="0"/>
                  </a:rPr>
                  <a:t>D</a:t>
                </a:r>
                <a:r>
                  <a:rPr lang="vi-VN" sz="1200" b="0" i="0">
                    <a:effectLst/>
                    <a:latin typeface="Cambria Math" panose="02040503050406030204" pitchFamily="18" charset="0"/>
                    <a:ea typeface="Cambria Math" panose="02040503050406030204" pitchFamily="18" charset="0"/>
                  </a:rPr>
                  <a:t>_</a:t>
                </a:r>
                <a:r>
                  <a:rPr lang="vi-VN" sz="1200" i="0">
                    <a:latin typeface="Cambria Math" panose="02040503050406030204" pitchFamily="18" charset="0"/>
                    <a:ea typeface="Cambria Math" panose="02040503050406030204" pitchFamily="18" charset="0"/>
                  </a:rPr>
                  <a:t>b</a:t>
                </a:r>
                <a:r>
                  <a:rPr lang="en-US" sz="1200" dirty="0">
                    <a:effectLst/>
                  </a:rPr>
                  <a:t> for the update within each task. The model manages the exemplar set after the training process of each task.</a:t>
                </a:r>
                <a:br>
                  <a:rPr lang="en-US" sz="1200" dirty="0">
                    <a:effectLst/>
                  </a:rPr>
                </a:br>
                <a:endParaRPr lang="en-VN" dirty="0"/>
              </a:p>
            </p:txBody>
          </p:sp>
        </mc:Fallback>
      </mc:AlternateContent>
      <p:sp>
        <p:nvSpPr>
          <p:cNvPr id="4" name="Slide Number Placeholder 3"/>
          <p:cNvSpPr>
            <a:spLocks noGrp="1"/>
          </p:cNvSpPr>
          <p:nvPr>
            <p:ph type="sldNum" sz="quarter" idx="5"/>
          </p:nvPr>
        </p:nvSpPr>
        <p:spPr/>
        <p:txBody>
          <a:bodyPr/>
          <a:lstStyle/>
          <a:p>
            <a:fld id="{AB2FC7A4-3D1B-482D-8C9D-7642A2CE3076}" type="slidenum">
              <a:rPr lang="en-US" smtClean="0"/>
              <a:t>10</a:t>
            </a:fld>
            <a:endParaRPr lang="en-US" dirty="0"/>
          </a:p>
        </p:txBody>
      </p:sp>
    </p:spTree>
    <p:extLst>
      <p:ext uri="{BB962C8B-B14F-4D97-AF65-F5344CB8AC3E}">
        <p14:creationId xmlns:p14="http://schemas.microsoft.com/office/powerpoint/2010/main" val="27444131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dirty="0">
                <a:latin typeface="Lato" panose="020F0502020204030203" pitchFamily="34" charset="0"/>
                <a:ea typeface="Lato" panose="020F0502020204030203" pitchFamily="34" charset="0"/>
                <a:cs typeface="Lato" panose="020F0502020204030203" pitchFamily="34" charset="0"/>
              </a:rPr>
              <a:t>Compared to fixed number of exemplar per class where it lead to linear increasing </a:t>
            </a:r>
            <a:br>
              <a:rPr lang="en-VN" dirty="0">
                <a:latin typeface="Lato" panose="020F0502020204030203" pitchFamily="34" charset="0"/>
                <a:ea typeface="Lato" panose="020F0502020204030203" pitchFamily="34" charset="0"/>
                <a:cs typeface="Lato" panose="020F0502020204030203" pitchFamily="34" charset="0"/>
              </a:rPr>
            </a:br>
            <a:r>
              <a:rPr lang="en-VN" dirty="0">
                <a:latin typeface="Lato" panose="020F0502020204030203" pitchFamily="34" charset="0"/>
                <a:ea typeface="Lato" panose="020F0502020204030203" pitchFamily="34" charset="0"/>
                <a:cs typeface="Lato" panose="020F0502020204030203" pitchFamily="34" charset="0"/>
              </a:rPr>
              <a:t>memory,  this approach maintains a constant memory size for the exemplar set.</a:t>
            </a:r>
            <a:endParaRPr lang="en-VN" dirty="0"/>
          </a:p>
        </p:txBody>
      </p:sp>
      <p:sp>
        <p:nvSpPr>
          <p:cNvPr id="4" name="Slide Number Placeholder 3"/>
          <p:cNvSpPr>
            <a:spLocks noGrp="1"/>
          </p:cNvSpPr>
          <p:nvPr>
            <p:ph type="sldNum" sz="quarter" idx="5"/>
          </p:nvPr>
        </p:nvSpPr>
        <p:spPr/>
        <p:txBody>
          <a:bodyPr/>
          <a:lstStyle/>
          <a:p>
            <a:fld id="{AB2FC7A4-3D1B-482D-8C9D-7642A2CE3076}" type="slidenum">
              <a:rPr lang="en-US" smtClean="0"/>
              <a:t>20</a:t>
            </a:fld>
            <a:endParaRPr lang="en-US" dirty="0"/>
          </a:p>
        </p:txBody>
      </p:sp>
    </p:spTree>
    <p:extLst>
      <p:ext uri="{BB962C8B-B14F-4D97-AF65-F5344CB8AC3E}">
        <p14:creationId xmlns:p14="http://schemas.microsoft.com/office/powerpoint/2010/main" val="1790515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a:t>:. </a:t>
            </a:r>
            <a:r>
              <a:rPr lang="en-US" sz="1200" dirty="0">
                <a:effectLst/>
                <a:latin typeface="VnNimbusRomanNo9L"/>
              </a:rPr>
              <a:t>This method prioritizes selecting the most representative data</a:t>
            </a:r>
            <a:br>
              <a:rPr lang="en-US" sz="1200" dirty="0">
                <a:effectLst/>
                <a:latin typeface="VnNimbusRomanNo9L"/>
              </a:rPr>
            </a:br>
            <a:r>
              <a:rPr lang="en-US" sz="1200" dirty="0">
                <a:effectLst/>
                <a:latin typeface="VnNimbusRomanNo9L"/>
              </a:rPr>
              <a:t> points for each class, maximizing the information content stored within the limited </a:t>
            </a:r>
            <a:br>
              <a:rPr lang="en-US" sz="1200" dirty="0">
                <a:effectLst/>
                <a:latin typeface="VnNimbusRomanNo9L"/>
              </a:rPr>
            </a:br>
            <a:r>
              <a:rPr lang="en-US" sz="1200" dirty="0">
                <a:effectLst/>
                <a:latin typeface="VnNimbusRomanNo9L"/>
              </a:rPr>
              <a:t>exemplar set. </a:t>
            </a:r>
            <a:r>
              <a:rPr lang="en-US" dirty="0"/>
              <a:t>Since the class center can be seen as the most representative pattern of each class, selecting exemplars near the class center also enhance the representativeness of exemplars. </a:t>
            </a:r>
          </a:p>
          <a:p>
            <a:endParaRPr lang="en-VN"/>
          </a:p>
        </p:txBody>
      </p:sp>
      <p:sp>
        <p:nvSpPr>
          <p:cNvPr id="4" name="Slide Number Placeholder 3"/>
          <p:cNvSpPr>
            <a:spLocks noGrp="1"/>
          </p:cNvSpPr>
          <p:nvPr>
            <p:ph type="sldNum" sz="quarter" idx="5"/>
          </p:nvPr>
        </p:nvSpPr>
        <p:spPr/>
        <p:txBody>
          <a:bodyPr/>
          <a:lstStyle/>
          <a:p>
            <a:fld id="{AB2FC7A4-3D1B-482D-8C9D-7642A2CE3076}" type="slidenum">
              <a:rPr lang="en-US" smtClean="0"/>
              <a:t>21</a:t>
            </a:fld>
            <a:endParaRPr lang="en-US" dirty="0"/>
          </a:p>
        </p:txBody>
      </p:sp>
    </p:spTree>
    <p:extLst>
      <p:ext uri="{BB962C8B-B14F-4D97-AF65-F5344CB8AC3E}">
        <p14:creationId xmlns:p14="http://schemas.microsoft.com/office/powerpoint/2010/main" val="1714230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sz="1200" dirty="0">
                    <a:effectLst/>
                    <a:latin typeface="VnNimbusRomanNo9L"/>
                  </a:rPr>
                  <a:t>where </a:t>
                </a:r>
                <a:r>
                  <a:rPr lang="en-US" sz="1200" dirty="0">
                    <a:effectLst/>
                    <a:latin typeface="CMMI12"/>
                  </a:rPr>
                  <a:t>y </a:t>
                </a:r>
                <a:r>
                  <a:rPr lang="en-US" sz="1200" dirty="0">
                    <a:effectLst/>
                    <a:latin typeface="VnNimbusRomanNo9L"/>
                  </a:rPr>
                  <a:t>is a class in the observed classes </a:t>
                </a:r>
                <a14:m>
                  <m:oMath xmlns:m="http://schemas.openxmlformats.org/officeDocument/2006/math">
                    <m:r>
                      <a:rPr lang="en-US" sz="1200" b="0" i="1" smtClean="0">
                        <a:effectLst/>
                        <a:latin typeface="Cambria Math" panose="02040503050406030204" pitchFamily="18" charset="0"/>
                      </a:rPr>
                      <m:t>1, 2, 3, …, </m:t>
                    </m:r>
                    <m:r>
                      <a:rPr lang="en-US" sz="1200" b="0" i="1" smtClean="0">
                        <a:effectLst/>
                        <a:latin typeface="Cambria Math" panose="02040503050406030204" pitchFamily="18" charset="0"/>
                      </a:rPr>
                      <m:t>𝑡</m:t>
                    </m:r>
                  </m:oMath>
                </a14:m>
                <a:r>
                  <a:rPr lang="en-US" sz="1200" dirty="0">
                    <a:effectLst/>
                    <a:latin typeface="VnNimbusRomanNo9L"/>
                  </a:rPr>
                  <a:t>. Then, for a new unseen instance, </a:t>
                </a:r>
                <a:endParaRPr lang="en-VN" dirty="0"/>
              </a:p>
            </p:txBody>
          </p:sp>
        </mc:Choice>
        <mc:Fallback>
          <p:sp>
            <p:nvSpPr>
              <p:cNvPr id="3" name="Notes Placeholder 2"/>
              <p:cNvSpPr>
                <a:spLocks noGrp="1"/>
              </p:cNvSpPr>
              <p:nvPr>
                <p:ph type="body" idx="1"/>
              </p:nvPr>
            </p:nvSpPr>
            <p:spPr/>
            <p:txBody>
              <a:bodyPr/>
              <a:lstStyle/>
              <a:p>
                <a:r>
                  <a:rPr lang="en-US" sz="1200" dirty="0">
                    <a:effectLst/>
                    <a:latin typeface="VnNimbusRomanNo9L"/>
                  </a:rPr>
                  <a:t>where </a:t>
                </a:r>
                <a:r>
                  <a:rPr lang="en-US" sz="1200" dirty="0">
                    <a:effectLst/>
                    <a:latin typeface="CMMI12"/>
                  </a:rPr>
                  <a:t>y </a:t>
                </a:r>
                <a:r>
                  <a:rPr lang="en-US" sz="1200" dirty="0">
                    <a:effectLst/>
                    <a:latin typeface="VnNimbusRomanNo9L"/>
                  </a:rPr>
                  <a:t>is a class in the observed classes </a:t>
                </a:r>
                <a:r>
                  <a:rPr lang="en-US" sz="1200" b="0" i="0">
                    <a:effectLst/>
                    <a:latin typeface="Cambria Math" panose="02040503050406030204" pitchFamily="18" charset="0"/>
                  </a:rPr>
                  <a:t>1, 2, 3, …, 𝑡</a:t>
                </a:r>
                <a:r>
                  <a:rPr lang="en-US" sz="1200" dirty="0">
                    <a:effectLst/>
                    <a:latin typeface="VnNimbusRomanNo9L"/>
                  </a:rPr>
                  <a:t>. Then, for a new unseen instance, </a:t>
                </a:r>
                <a:endParaRPr lang="en-VN" dirty="0"/>
              </a:p>
            </p:txBody>
          </p:sp>
        </mc:Fallback>
      </mc:AlternateContent>
      <p:sp>
        <p:nvSpPr>
          <p:cNvPr id="4" name="Slide Number Placeholder 3"/>
          <p:cNvSpPr>
            <a:spLocks noGrp="1"/>
          </p:cNvSpPr>
          <p:nvPr>
            <p:ph type="sldNum" sz="quarter" idx="5"/>
          </p:nvPr>
        </p:nvSpPr>
        <p:spPr/>
        <p:txBody>
          <a:bodyPr/>
          <a:lstStyle/>
          <a:p>
            <a:fld id="{AB2FC7A4-3D1B-482D-8C9D-7642A2CE3076}" type="slidenum">
              <a:rPr lang="en-US" smtClean="0"/>
              <a:t>22</a:t>
            </a:fld>
            <a:endParaRPr lang="en-US" dirty="0"/>
          </a:p>
        </p:txBody>
      </p:sp>
    </p:spTree>
    <p:extLst>
      <p:ext uri="{BB962C8B-B14F-4D97-AF65-F5344CB8AC3E}">
        <p14:creationId xmlns:p14="http://schemas.microsoft.com/office/powerpoint/2010/main" val="13544242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VN" sz="1200"/>
              <a:t>DER expands a new backbone when facing new task.</a:t>
            </a:r>
            <a:endParaRPr lang="en-US" sz="1200" dirty="0">
              <a:effectLst/>
              <a:latin typeface="VnNimbusRomanNo9L"/>
            </a:endParaRPr>
          </a:p>
          <a:p>
            <a:pPr marL="0" indent="0">
              <a:buNone/>
            </a:pPr>
            <a:r>
              <a:rPr lang="en-US" sz="1200" dirty="0">
                <a:effectLst/>
                <a:latin typeface="VnNimbusRomanNo9L"/>
              </a:rPr>
              <a:t>At step </a:t>
            </a:r>
            <a:r>
              <a:rPr lang="en-US" sz="1200" dirty="0">
                <a:effectLst/>
                <a:latin typeface="CMMI12"/>
              </a:rPr>
              <a:t>t</a:t>
            </a:r>
            <a:r>
              <a:rPr lang="en-US" sz="1200" dirty="0">
                <a:effectLst/>
                <a:latin typeface="VnNimbusRomanNo9L"/>
              </a:rPr>
              <a:t>, the model’s feature extractor </a:t>
            </a:r>
            <a:r>
              <a:rPr lang="el-GR" sz="1200" dirty="0">
                <a:effectLst/>
                <a:latin typeface="CMR12"/>
              </a:rPr>
              <a:t>Φ</a:t>
            </a:r>
            <a:r>
              <a:rPr lang="en-US" sz="1200" dirty="0">
                <a:effectLst/>
                <a:latin typeface="CMMI9"/>
              </a:rPr>
              <a:t>t </a:t>
            </a:r>
            <a:r>
              <a:rPr lang="en-US" sz="1200" dirty="0">
                <a:effectLst/>
                <a:latin typeface="VnNimbusRomanNo9L"/>
              </a:rPr>
              <a:t>is build by expanding the feature extractor </a:t>
            </a:r>
            <a:r>
              <a:rPr lang="el-GR" sz="1200" dirty="0">
                <a:effectLst/>
                <a:latin typeface="CMR12"/>
              </a:rPr>
              <a:t>Φ</a:t>
            </a:r>
            <a:r>
              <a:rPr lang="en-US" sz="1200" dirty="0">
                <a:effectLst/>
                <a:latin typeface="CMMI9"/>
              </a:rPr>
              <a:t>t</a:t>
            </a:r>
            <a:r>
              <a:rPr lang="en-US" sz="1200" dirty="0">
                <a:effectLst/>
                <a:latin typeface="CMSY9"/>
              </a:rPr>
              <a:t>−</a:t>
            </a:r>
            <a:r>
              <a:rPr lang="en-US" sz="1200" dirty="0">
                <a:effectLst/>
                <a:latin typeface="CMR9"/>
              </a:rPr>
              <a:t>1 </a:t>
            </a:r>
            <a:r>
              <a:rPr lang="en-US" sz="1200" dirty="0">
                <a:effectLst/>
                <a:latin typeface="VnNimbusRomanNo9L"/>
              </a:rPr>
              <a:t>with a newly created backbone </a:t>
            </a:r>
            <a:r>
              <a:rPr lang="en-US" sz="1200" dirty="0">
                <a:effectLst/>
                <a:latin typeface="CMSY10"/>
              </a:rPr>
              <a:t>B</a:t>
            </a:r>
            <a:r>
              <a:rPr lang="en-US" sz="1200" dirty="0">
                <a:effectLst/>
                <a:latin typeface="VnNimbusRomanNo9L"/>
              </a:rPr>
              <a:t>. </a:t>
            </a:r>
            <a:endParaRPr lang="en-US" sz="1200" dirty="0"/>
          </a:p>
          <a:p>
            <a:endParaRPr lang="en-VN" sz="1200"/>
          </a:p>
          <a:p>
            <a:endParaRPr lang="en-VN" sz="1200"/>
          </a:p>
          <a:p>
            <a:pPr marL="0" indent="0">
              <a:buNone/>
            </a:pPr>
            <a:endParaRPr lang="en-US" sz="1200" dirty="0">
              <a:effectLst/>
              <a:latin typeface="VnNimbusRomanNo9L"/>
            </a:endParaRPr>
          </a:p>
          <a:p>
            <a:pPr marL="0" indent="0">
              <a:buNone/>
            </a:pPr>
            <a:r>
              <a:rPr lang="en-US" sz="1200" dirty="0">
                <a:effectLst/>
                <a:latin typeface="VnNimbusRomanNo9L"/>
              </a:rPr>
              <a:t>To reduce model’s forgetting, the parameter of the last feature extractor </a:t>
            </a:r>
            <a:r>
              <a:rPr lang="el-GR" sz="1200" dirty="0">
                <a:effectLst/>
                <a:latin typeface="CMR12"/>
              </a:rPr>
              <a:t>Φ</a:t>
            </a:r>
            <a:r>
              <a:rPr lang="en-US" sz="1200" dirty="0">
                <a:effectLst/>
                <a:latin typeface="CMMI9"/>
              </a:rPr>
              <a:t>t</a:t>
            </a:r>
            <a:r>
              <a:rPr lang="en-US" sz="1200" dirty="0">
                <a:effectLst/>
                <a:latin typeface="CMSY9"/>
              </a:rPr>
              <a:t>−</a:t>
            </a:r>
            <a:r>
              <a:rPr lang="en-US" sz="1200" dirty="0">
                <a:effectLst/>
                <a:latin typeface="CMR9"/>
              </a:rPr>
              <a:t>1 </a:t>
            </a:r>
            <a:r>
              <a:rPr lang="en-US" sz="1200" dirty="0">
                <a:effectLst/>
                <a:latin typeface="VnNimbusRomanNo9L"/>
              </a:rPr>
              <a:t>is freeze. Since this component remains unchanged during subsequent learning stages, the features learned for previous tasks are preserved, preventing them from being overwritten by new information </a:t>
            </a:r>
            <a:endParaRPr lang="en-US" sz="1200" dirty="0"/>
          </a:p>
          <a:p>
            <a:endParaRPr lang="en-VN"/>
          </a:p>
        </p:txBody>
      </p:sp>
      <p:sp>
        <p:nvSpPr>
          <p:cNvPr id="4" name="Slide Number Placeholder 3"/>
          <p:cNvSpPr>
            <a:spLocks noGrp="1"/>
          </p:cNvSpPr>
          <p:nvPr>
            <p:ph type="sldNum" sz="quarter" idx="5"/>
          </p:nvPr>
        </p:nvSpPr>
        <p:spPr/>
        <p:txBody>
          <a:bodyPr/>
          <a:lstStyle/>
          <a:p>
            <a:fld id="{AB2FC7A4-3D1B-482D-8C9D-7642A2CE3076}" type="slidenum">
              <a:rPr lang="en-US" smtClean="0"/>
              <a:t>24</a:t>
            </a:fld>
            <a:endParaRPr lang="en-US" dirty="0"/>
          </a:p>
        </p:txBody>
      </p:sp>
    </p:spTree>
    <p:extLst>
      <p:ext uri="{BB962C8B-B14F-4D97-AF65-F5344CB8AC3E}">
        <p14:creationId xmlns:p14="http://schemas.microsoft.com/office/powerpoint/2010/main" val="3684904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VnNimbusRomanNo9L"/>
              </a:rPr>
              <a:t>T</a:t>
            </a:r>
            <a:r>
              <a:rPr lang="en-US" sz="1200" dirty="0">
                <a:effectLst/>
                <a:latin typeface="VnNimbusRomanNo9L"/>
              </a:rPr>
              <a:t>he model structure was redefined by decomposing the embedding layer module into specialized and generalized blocks. Specialized blocks correspond to the deep layers in the network, while generalized blocks correspond to the rest of the shallow layers. MEMO proposes to decouple the backbone at the middle level: </a:t>
            </a:r>
            <a:endParaRPr lang="en-US" dirty="0"/>
          </a:p>
          <a:p>
            <a:endParaRPr lang="en-VN"/>
          </a:p>
        </p:txBody>
      </p:sp>
      <p:sp>
        <p:nvSpPr>
          <p:cNvPr id="4" name="Slide Number Placeholder 3"/>
          <p:cNvSpPr>
            <a:spLocks noGrp="1"/>
          </p:cNvSpPr>
          <p:nvPr>
            <p:ph type="sldNum" sz="quarter" idx="5"/>
          </p:nvPr>
        </p:nvSpPr>
        <p:spPr/>
        <p:txBody>
          <a:bodyPr/>
          <a:lstStyle/>
          <a:p>
            <a:fld id="{AB2FC7A4-3D1B-482D-8C9D-7642A2CE3076}" type="slidenum">
              <a:rPr lang="en-US" smtClean="0"/>
              <a:t>26</a:t>
            </a:fld>
            <a:endParaRPr lang="en-US" dirty="0"/>
          </a:p>
        </p:txBody>
      </p:sp>
    </p:spTree>
    <p:extLst>
      <p:ext uri="{BB962C8B-B14F-4D97-AF65-F5344CB8AC3E}">
        <p14:creationId xmlns:p14="http://schemas.microsoft.com/office/powerpoint/2010/main" val="2649784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AB2FC7A4-3D1B-482D-8C9D-7642A2CE3076}" type="slidenum">
              <a:rPr lang="en-US" smtClean="0"/>
              <a:t>37</a:t>
            </a:fld>
            <a:endParaRPr lang="en-US" dirty="0"/>
          </a:p>
        </p:txBody>
      </p:sp>
    </p:spTree>
    <p:extLst>
      <p:ext uri="{BB962C8B-B14F-4D97-AF65-F5344CB8AC3E}">
        <p14:creationId xmlns:p14="http://schemas.microsoft.com/office/powerpoint/2010/main" val="23231773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7/16/24</a:t>
            </a:fld>
            <a:endParaRPr lang="en-US" dirty="0"/>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7/16/24</a:t>
            </a:fld>
            <a:endParaRPr lang="en-US" dirty="0"/>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7/16/24</a:t>
            </a:fld>
            <a:endParaRPr lang="en-US" dirty="0"/>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7/16/24</a:t>
            </a:fld>
            <a:endParaRPr lang="en-US" dirty="0"/>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7/16/24</a:t>
            </a:fld>
            <a:endParaRPr lang="en-US" dirty="0"/>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7/16/24</a:t>
            </a:fld>
            <a:endParaRPr lang="en-US" dirty="0"/>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7/16/24</a:t>
            </a:fld>
            <a:endParaRPr lang="en-US" dirty="0"/>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628650" y="6486007"/>
            <a:ext cx="2057400" cy="365125"/>
          </a:xfrm>
          <a:prstGeom prst="rect">
            <a:avLst/>
          </a:prstGeom>
        </p:spPr>
        <p:txBody>
          <a:bodyPr/>
          <a:lstStyle>
            <a:lvl1pPr>
              <a:defRPr sz="9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7/16/24</a:t>
            </a:fld>
            <a:endParaRPr lang="en-US" dirty="0"/>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3028950" y="6486007"/>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6867383" y="6492876"/>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3418779" y="1248325"/>
            <a:ext cx="554355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3418779" y="404265"/>
            <a:ext cx="5543550" cy="436098"/>
          </a:xfrm>
          <a:prstGeom prst="rect">
            <a:avLst/>
          </a:prstGeom>
        </p:spPr>
        <p:txBody>
          <a:bodyPr/>
          <a:lstStyle>
            <a:lvl1pPr>
              <a:defRPr sz="21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a:t>Title 5:……………………………………..</a:t>
            </a:r>
          </a:p>
        </p:txBody>
      </p:sp>
    </p:spTree>
    <p:extLst>
      <p:ext uri="{BB962C8B-B14F-4D97-AF65-F5344CB8AC3E}">
        <p14:creationId xmlns:p14="http://schemas.microsoft.com/office/powerpoint/2010/main" val="2699277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83" r:id="rId3"/>
    <p:sldLayoutId id="2147483679" r:id="rId4"/>
    <p:sldLayoutId id="2147483680" r:id="rId5"/>
    <p:sldLayoutId id="2147483681" r:id="rId6"/>
    <p:sldLayoutId id="2147483682" r:id="rId7"/>
    <p:sldLayoutId id="2147483678" r:id="rId8"/>
    <p:sldLayoutId id="2147483684"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0.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1776867"/>
            <a:ext cx="7342482" cy="1212518"/>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3200" dirty="0"/>
              <a:t>Performance Analysis of Incremental Learning in Network Intrusion Detection</a:t>
            </a: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567622"/>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b="0" dirty="0"/>
              <a:t>Student: Nguyễn Quang Minh 20194444</a:t>
            </a:r>
          </a:p>
          <a:p>
            <a:r>
              <a:rPr lang="en-US" sz="2800" b="0" dirty="0"/>
              <a:t>Supervisor: Dr. Trần Hải Anh</a:t>
            </a:r>
          </a:p>
          <a:p>
            <a:endParaRPr lang="en-US" sz="2800" b="0" dirty="0"/>
          </a:p>
          <a:p>
            <a:endParaRPr lang="en-US" sz="2800" b="0" dirty="0"/>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08E1B1-D9CD-415A-BCE5-B57F39B2F31D}"/>
              </a:ext>
            </a:extLst>
          </p:cNvPr>
          <p:cNvSpPr>
            <a:spLocks noGrp="1"/>
          </p:cNvSpPr>
          <p:nvPr>
            <p:ph sz="quarter" idx="13"/>
          </p:nvPr>
        </p:nvSpPr>
        <p:spPr>
          <a:xfrm>
            <a:off x="3381233" y="1597551"/>
            <a:ext cx="5543550" cy="3904059"/>
          </a:xfrm>
        </p:spPr>
        <p:txBody>
          <a:bodyPr/>
          <a:lstStyle/>
          <a:p>
            <a:pPr marL="385763" indent="-385763">
              <a:buAutoNum type="arabicPeriod"/>
            </a:pPr>
            <a:endParaRPr lang="en-US" dirty="0"/>
          </a:p>
          <a:p>
            <a:pPr marL="385763" indent="-385763">
              <a:buAutoNum type="arabicPeriod"/>
            </a:pPr>
            <a:endParaRPr lang="en-US" dirty="0"/>
          </a:p>
          <a:p>
            <a:pPr marL="385763" indent="-385763">
              <a:buAutoNum type="arabicPeriod"/>
            </a:pPr>
            <a:r>
              <a:rPr lang="en-US" dirty="0"/>
              <a:t>INTRODUCTION</a:t>
            </a:r>
          </a:p>
          <a:p>
            <a:pPr marL="385763" indent="-385763">
              <a:buAutoNum type="arabicPeriod"/>
            </a:pPr>
            <a:r>
              <a:rPr lang="en-US" dirty="0"/>
              <a:t>PRELIMINARIES AND LITERATURE REVIEW</a:t>
            </a:r>
          </a:p>
          <a:p>
            <a:pPr marL="385763" indent="-385763">
              <a:buAutoNum type="arabicPeriod"/>
            </a:pPr>
            <a:r>
              <a:rPr lang="en-US" dirty="0"/>
              <a:t>METHODOLOGY</a:t>
            </a:r>
          </a:p>
          <a:p>
            <a:pPr marL="385763" indent="-385763">
              <a:buAutoNum type="arabicPeriod"/>
            </a:pPr>
            <a:r>
              <a:rPr lang="en-US" dirty="0"/>
              <a:t>NUMERICAL RESULTS</a:t>
            </a:r>
          </a:p>
          <a:p>
            <a:pPr marL="385763" indent="-385763">
              <a:buAutoNum type="arabicPeriod"/>
            </a:pPr>
            <a:r>
              <a:rPr lang="en-US" dirty="0"/>
              <a:t>CONCLUSION </a:t>
            </a:r>
          </a:p>
        </p:txBody>
      </p:sp>
      <p:sp>
        <p:nvSpPr>
          <p:cNvPr id="3" name="Title 2">
            <a:extLst>
              <a:ext uri="{FF2B5EF4-FFF2-40B4-BE49-F238E27FC236}">
                <a16:creationId xmlns:a16="http://schemas.microsoft.com/office/drawing/2014/main" id="{AD6941D0-D074-43AE-8875-C4BDC98ADB7F}"/>
              </a:ext>
            </a:extLst>
          </p:cNvPr>
          <p:cNvSpPr>
            <a:spLocks noGrp="1"/>
          </p:cNvSpPr>
          <p:nvPr>
            <p:ph type="title"/>
          </p:nvPr>
        </p:nvSpPr>
        <p:spPr/>
        <p:txBody>
          <a:bodyPr/>
          <a:lstStyle/>
          <a:p>
            <a:r>
              <a:rPr lang="en-US" sz="2700" dirty="0">
                <a:latin typeface="Lato Bold"/>
              </a:rPr>
              <a:t>CONTENT</a:t>
            </a:r>
          </a:p>
        </p:txBody>
      </p:sp>
      <p:sp>
        <p:nvSpPr>
          <p:cNvPr id="4" name="Slide Number Placeholder 3">
            <a:extLst>
              <a:ext uri="{FF2B5EF4-FFF2-40B4-BE49-F238E27FC236}">
                <a16:creationId xmlns:a16="http://schemas.microsoft.com/office/drawing/2014/main" id="{BD91CA00-8B5A-4B5F-AE21-CF0691D64D53}"/>
              </a:ext>
            </a:extLst>
          </p:cNvPr>
          <p:cNvSpPr>
            <a:spLocks noGrp="1"/>
          </p:cNvSpPr>
          <p:nvPr>
            <p:ph type="sldNum" sz="quarter" idx="12"/>
          </p:nvPr>
        </p:nvSpPr>
        <p:spPr/>
        <p:txBody>
          <a:bodyPr/>
          <a:lstStyle/>
          <a:p>
            <a:fld id="{9EA0BE3B-158A-4EDF-80DC-E394A0D1600F}" type="slidenum">
              <a:rPr lang="en-US" smtClean="0"/>
              <a:pPr/>
              <a:t>2</a:t>
            </a:fld>
            <a:endParaRPr lang="en-US" dirty="0"/>
          </a:p>
        </p:txBody>
      </p:sp>
    </p:spTree>
    <p:extLst>
      <p:ext uri="{BB962C8B-B14F-4D97-AF65-F5344CB8AC3E}">
        <p14:creationId xmlns:p14="http://schemas.microsoft.com/office/powerpoint/2010/main" val="485500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08E1B1-D9CD-415A-BCE5-B57F39B2F31D}"/>
              </a:ext>
            </a:extLst>
          </p:cNvPr>
          <p:cNvSpPr>
            <a:spLocks noGrp="1"/>
          </p:cNvSpPr>
          <p:nvPr>
            <p:ph sz="quarter" idx="13"/>
          </p:nvPr>
        </p:nvSpPr>
        <p:spPr>
          <a:xfrm>
            <a:off x="3418779" y="3094226"/>
            <a:ext cx="5543550" cy="2632680"/>
          </a:xfrm>
        </p:spPr>
        <p:txBody>
          <a:bodyPr/>
          <a:lstStyle/>
          <a:p>
            <a:pPr marL="0" indent="0">
              <a:buNone/>
            </a:pPr>
            <a:r>
              <a:rPr lang="en-US" sz="2700" b="1" dirty="0">
                <a:latin typeface="Lato Bold"/>
              </a:rPr>
              <a:t>	1. INTRODUCTION</a:t>
            </a:r>
          </a:p>
        </p:txBody>
      </p:sp>
      <p:sp>
        <p:nvSpPr>
          <p:cNvPr id="4" name="Slide Number Placeholder 3">
            <a:extLst>
              <a:ext uri="{FF2B5EF4-FFF2-40B4-BE49-F238E27FC236}">
                <a16:creationId xmlns:a16="http://schemas.microsoft.com/office/drawing/2014/main" id="{BD91CA00-8B5A-4B5F-AE21-CF0691D64D53}"/>
              </a:ext>
            </a:extLst>
          </p:cNvPr>
          <p:cNvSpPr>
            <a:spLocks noGrp="1"/>
          </p:cNvSpPr>
          <p:nvPr>
            <p:ph type="sldNum" sz="quarter" idx="12"/>
          </p:nvPr>
        </p:nvSpPr>
        <p:spPr/>
        <p:txBody>
          <a:bodyPr/>
          <a:lstStyle/>
          <a:p>
            <a:fld id="{9EA0BE3B-158A-4EDF-80DC-E394A0D1600F}" type="slidenum">
              <a:rPr lang="en-US" smtClean="0"/>
              <a:pPr/>
              <a:t>3</a:t>
            </a:fld>
            <a:endParaRPr lang="en-US" dirty="0"/>
          </a:p>
        </p:txBody>
      </p:sp>
    </p:spTree>
    <p:extLst>
      <p:ext uri="{BB962C8B-B14F-4D97-AF65-F5344CB8AC3E}">
        <p14:creationId xmlns:p14="http://schemas.microsoft.com/office/powerpoint/2010/main" val="1703108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dirty="0"/>
              <a:t>Introduction</a:t>
            </a:r>
          </a:p>
        </p:txBody>
      </p:sp>
      <p:sp>
        <p:nvSpPr>
          <p:cNvPr id="4" name="Content Placeholder 3">
            <a:extLst>
              <a:ext uri="{FF2B5EF4-FFF2-40B4-BE49-F238E27FC236}">
                <a16:creationId xmlns:a16="http://schemas.microsoft.com/office/drawing/2014/main" id="{59563378-38F8-4CB3-AF99-2C56FCF55404}"/>
              </a:ext>
            </a:extLst>
          </p:cNvPr>
          <p:cNvSpPr>
            <a:spLocks noGrp="1"/>
          </p:cNvSpPr>
          <p:nvPr>
            <p:ph sz="quarter" idx="13"/>
          </p:nvPr>
        </p:nvSpPr>
        <p:spPr>
          <a:xfrm>
            <a:off x="235077" y="841247"/>
            <a:ext cx="4560416" cy="2587753"/>
          </a:xfrm>
        </p:spPr>
        <p:txBody>
          <a:bodyPr/>
          <a:lstStyle/>
          <a:p>
            <a:pPr marL="0" indent="0">
              <a:buNone/>
            </a:pPr>
            <a:r>
              <a:rPr lang="en-US" sz="2000" b="1" dirty="0"/>
              <a:t>Network Intrusion Detection System </a:t>
            </a:r>
            <a:r>
              <a:rPr lang="en-US" sz="2000" dirty="0"/>
              <a:t>(NIDS) monitors network traffic by </a:t>
            </a:r>
            <a:r>
              <a:rPr lang="en-US" sz="2000" b="1" dirty="0"/>
              <a:t>analyzing data packets </a:t>
            </a:r>
            <a:r>
              <a:rPr lang="en-US" sz="2000" dirty="0"/>
              <a:t>at network point to identify malicious actions. </a:t>
            </a:r>
            <a:endParaRPr lang="en-US" sz="2000" b="1" dirty="0"/>
          </a:p>
          <a:p>
            <a:pPr marL="0" indent="0">
              <a:buNone/>
            </a:pPr>
            <a:endParaRPr lang="en-US" sz="2000" b="1" dirty="0"/>
          </a:p>
          <a:p>
            <a:pPr marL="0" indent="0">
              <a:buNone/>
            </a:pPr>
            <a:r>
              <a:rPr lang="en-US" sz="2000" b="1" dirty="0"/>
              <a:t>Supervised neural network </a:t>
            </a:r>
            <a:r>
              <a:rPr lang="en-US" sz="2000" dirty="0"/>
              <a:t>involves training a model on labeled dataset where the input data is associated with known labels. </a:t>
            </a:r>
          </a:p>
          <a:p>
            <a:pPr marL="0" indent="0">
              <a:buNone/>
            </a:pPr>
            <a:endParaRPr lang="en-US" sz="2000" dirty="0"/>
          </a:p>
        </p:txBody>
      </p:sp>
      <p:pic>
        <p:nvPicPr>
          <p:cNvPr id="29" name="Graphic 28" descr="Magnifying glass outline">
            <a:extLst>
              <a:ext uri="{FF2B5EF4-FFF2-40B4-BE49-F238E27FC236}">
                <a16:creationId xmlns:a16="http://schemas.microsoft.com/office/drawing/2014/main" id="{3BF6A363-65B1-2285-5B18-0B6CB2AB2FB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68135" y="404475"/>
            <a:ext cx="45719" cy="45719"/>
          </a:xfrm>
          <a:prstGeom prst="rect">
            <a:avLst/>
          </a:prstGeom>
        </p:spPr>
      </p:pic>
      <p:grpSp>
        <p:nvGrpSpPr>
          <p:cNvPr id="40" name="Group 39">
            <a:extLst>
              <a:ext uri="{FF2B5EF4-FFF2-40B4-BE49-F238E27FC236}">
                <a16:creationId xmlns:a16="http://schemas.microsoft.com/office/drawing/2014/main" id="{65F30AF6-2327-9030-0957-3581B25922C6}"/>
              </a:ext>
            </a:extLst>
          </p:cNvPr>
          <p:cNvGrpSpPr/>
          <p:nvPr/>
        </p:nvGrpSpPr>
        <p:grpSpPr>
          <a:xfrm>
            <a:off x="5192593" y="1177302"/>
            <a:ext cx="3442521" cy="4248215"/>
            <a:chOff x="5307744" y="1110488"/>
            <a:chExt cx="3442521" cy="4248215"/>
          </a:xfrm>
        </p:grpSpPr>
        <p:pic>
          <p:nvPicPr>
            <p:cNvPr id="6" name="Graphic 5" descr="Internet outline">
              <a:extLst>
                <a:ext uri="{FF2B5EF4-FFF2-40B4-BE49-F238E27FC236}">
                  <a16:creationId xmlns:a16="http://schemas.microsoft.com/office/drawing/2014/main" id="{6C6CE167-C0D4-F27C-3010-1EFD53D3353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95928" y="4444303"/>
              <a:ext cx="914400" cy="914400"/>
            </a:xfrm>
            <a:prstGeom prst="rect">
              <a:avLst/>
            </a:prstGeom>
          </p:spPr>
        </p:pic>
        <p:pic>
          <p:nvPicPr>
            <p:cNvPr id="9" name="Graphic 8" descr="Internet outline">
              <a:extLst>
                <a:ext uri="{FF2B5EF4-FFF2-40B4-BE49-F238E27FC236}">
                  <a16:creationId xmlns:a16="http://schemas.microsoft.com/office/drawing/2014/main" id="{E68C0E5F-3AAA-56BB-3347-981590041B3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55991" y="4408828"/>
              <a:ext cx="914400" cy="914400"/>
            </a:xfrm>
            <a:prstGeom prst="rect">
              <a:avLst/>
            </a:prstGeom>
          </p:spPr>
        </p:pic>
        <p:pic>
          <p:nvPicPr>
            <p:cNvPr id="10" name="Graphic 9" descr="Internet outline">
              <a:extLst>
                <a:ext uri="{FF2B5EF4-FFF2-40B4-BE49-F238E27FC236}">
                  <a16:creationId xmlns:a16="http://schemas.microsoft.com/office/drawing/2014/main" id="{81219B52-062D-7916-C492-CFA76A6227D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35865" y="4408828"/>
              <a:ext cx="914400" cy="914400"/>
            </a:xfrm>
            <a:prstGeom prst="rect">
              <a:avLst/>
            </a:prstGeom>
          </p:spPr>
        </p:pic>
        <p:grpSp>
          <p:nvGrpSpPr>
            <p:cNvPr id="13" name="Group 12">
              <a:extLst>
                <a:ext uri="{FF2B5EF4-FFF2-40B4-BE49-F238E27FC236}">
                  <a16:creationId xmlns:a16="http://schemas.microsoft.com/office/drawing/2014/main" id="{C559DF80-940F-5007-FFD5-558445BBBA84}"/>
                </a:ext>
              </a:extLst>
            </p:cNvPr>
            <p:cNvGrpSpPr/>
            <p:nvPr/>
          </p:nvGrpSpPr>
          <p:grpSpPr>
            <a:xfrm>
              <a:off x="6268916" y="1110488"/>
              <a:ext cx="1627167" cy="1627167"/>
              <a:chOff x="6325191" y="1231922"/>
              <a:chExt cx="1627167" cy="1627167"/>
            </a:xfrm>
          </p:grpSpPr>
          <p:pic>
            <p:nvPicPr>
              <p:cNvPr id="8" name="Graphic 7" descr="Cloud outline">
                <a:extLst>
                  <a:ext uri="{FF2B5EF4-FFF2-40B4-BE49-F238E27FC236}">
                    <a16:creationId xmlns:a16="http://schemas.microsoft.com/office/drawing/2014/main" id="{2BE747AF-3E9B-2D69-ED48-694818FCDF0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25191" y="1231922"/>
                <a:ext cx="1627167" cy="1627167"/>
              </a:xfrm>
              <a:prstGeom prst="rect">
                <a:avLst/>
              </a:prstGeom>
            </p:spPr>
          </p:pic>
          <p:sp>
            <p:nvSpPr>
              <p:cNvPr id="11" name="TextBox 10">
                <a:extLst>
                  <a:ext uri="{FF2B5EF4-FFF2-40B4-BE49-F238E27FC236}">
                    <a16:creationId xmlns:a16="http://schemas.microsoft.com/office/drawing/2014/main" id="{223D940D-E698-C5F9-8600-647CABF31246}"/>
                  </a:ext>
                </a:extLst>
              </p:cNvPr>
              <p:cNvSpPr txBox="1"/>
              <p:nvPr/>
            </p:nvSpPr>
            <p:spPr>
              <a:xfrm>
                <a:off x="6666240" y="1985693"/>
                <a:ext cx="945067" cy="369332"/>
              </a:xfrm>
              <a:prstGeom prst="rect">
                <a:avLst/>
              </a:prstGeom>
              <a:noFill/>
            </p:spPr>
            <p:txBody>
              <a:bodyPr wrap="none" rtlCol="0">
                <a:spAutoFit/>
              </a:bodyPr>
              <a:lstStyle/>
              <a:p>
                <a:r>
                  <a:rPr lang="en-VN" dirty="0"/>
                  <a:t>Internet</a:t>
                </a:r>
              </a:p>
            </p:txBody>
          </p:sp>
        </p:grpSp>
        <p:sp>
          <p:nvSpPr>
            <p:cNvPr id="12" name="Rounded Rectangle 11">
              <a:extLst>
                <a:ext uri="{FF2B5EF4-FFF2-40B4-BE49-F238E27FC236}">
                  <a16:creationId xmlns:a16="http://schemas.microsoft.com/office/drawing/2014/main" id="{B9CE6393-572F-6BBF-C204-71288976A455}"/>
                </a:ext>
              </a:extLst>
            </p:cNvPr>
            <p:cNvSpPr/>
            <p:nvPr/>
          </p:nvSpPr>
          <p:spPr>
            <a:xfrm>
              <a:off x="5307744" y="2873477"/>
              <a:ext cx="750277" cy="451739"/>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VN"/>
                <a:t>NIDS</a:t>
              </a:r>
            </a:p>
          </p:txBody>
        </p:sp>
        <p:cxnSp>
          <p:nvCxnSpPr>
            <p:cNvPr id="18" name="Straight Connector 17">
              <a:extLst>
                <a:ext uri="{FF2B5EF4-FFF2-40B4-BE49-F238E27FC236}">
                  <a16:creationId xmlns:a16="http://schemas.microsoft.com/office/drawing/2014/main" id="{6517CE6B-FAB4-A9F9-78F1-824E85EA5881}"/>
                </a:ext>
              </a:extLst>
            </p:cNvPr>
            <p:cNvCxnSpPr/>
            <p:nvPr/>
          </p:nvCxnSpPr>
          <p:spPr>
            <a:xfrm>
              <a:off x="5813191" y="3877421"/>
              <a:ext cx="247987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805C35B-601F-D0E7-700B-84B8ADBCBA0C}"/>
                </a:ext>
              </a:extLst>
            </p:cNvPr>
            <p:cNvCxnSpPr>
              <a:cxnSpLocks/>
            </p:cNvCxnSpPr>
            <p:nvPr/>
          </p:nvCxnSpPr>
          <p:spPr>
            <a:xfrm>
              <a:off x="5813191" y="3877421"/>
              <a:ext cx="0" cy="73148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4FD681F-563B-C7C7-C372-51F20728961C}"/>
                </a:ext>
              </a:extLst>
            </p:cNvPr>
            <p:cNvCxnSpPr/>
            <p:nvPr/>
          </p:nvCxnSpPr>
          <p:spPr>
            <a:xfrm>
              <a:off x="8293065" y="3877421"/>
              <a:ext cx="0" cy="73148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1" name="Graphic 30" descr="Magnifying glass outline">
              <a:extLst>
                <a:ext uri="{FF2B5EF4-FFF2-40B4-BE49-F238E27FC236}">
                  <a16:creationId xmlns:a16="http://schemas.microsoft.com/office/drawing/2014/main" id="{B23ACDB9-4E7A-D92D-2DA1-AB283E8DD6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10889" y="2888879"/>
              <a:ext cx="484478" cy="484478"/>
            </a:xfrm>
            <a:prstGeom prst="rect">
              <a:avLst/>
            </a:prstGeom>
          </p:spPr>
        </p:pic>
        <p:cxnSp>
          <p:nvCxnSpPr>
            <p:cNvPr id="33" name="Straight Connector 32">
              <a:extLst>
                <a:ext uri="{FF2B5EF4-FFF2-40B4-BE49-F238E27FC236}">
                  <a16:creationId xmlns:a16="http://schemas.microsoft.com/office/drawing/2014/main" id="{C4EAF328-3312-23F4-F023-0D52E33B7C7A}"/>
                </a:ext>
              </a:extLst>
            </p:cNvPr>
            <p:cNvCxnSpPr>
              <a:cxnSpLocks/>
            </p:cNvCxnSpPr>
            <p:nvPr/>
          </p:nvCxnSpPr>
          <p:spPr>
            <a:xfrm>
              <a:off x="7046550" y="2327720"/>
              <a:ext cx="0" cy="612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810A294-F91E-E2F5-5750-EC95F82966D5}"/>
                </a:ext>
              </a:extLst>
            </p:cNvPr>
            <p:cNvCxnSpPr/>
            <p:nvPr/>
          </p:nvCxnSpPr>
          <p:spPr>
            <a:xfrm>
              <a:off x="7046550" y="3225207"/>
              <a:ext cx="0" cy="141522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10C1A45-1F87-8087-22DD-95E2BBBD4655}"/>
                </a:ext>
              </a:extLst>
            </p:cNvPr>
            <p:cNvCxnSpPr>
              <a:cxnSpLocks/>
              <a:stCxn id="12" idx="3"/>
            </p:cNvCxnSpPr>
            <p:nvPr/>
          </p:nvCxnSpPr>
          <p:spPr>
            <a:xfrm flipV="1">
              <a:off x="6058021" y="3099346"/>
              <a:ext cx="792000"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a16="http://schemas.microsoft.com/office/drawing/2014/main" id="{4E27C356-7F3B-2745-0E94-91A928FE2BEE}"/>
              </a:ext>
            </a:extLst>
          </p:cNvPr>
          <p:cNvSpPr txBox="1"/>
          <p:nvPr/>
        </p:nvSpPr>
        <p:spPr>
          <a:xfrm>
            <a:off x="277161" y="3739895"/>
            <a:ext cx="4283759" cy="1938992"/>
          </a:xfrm>
          <a:prstGeom prst="rect">
            <a:avLst/>
          </a:prstGeom>
          <a:noFill/>
        </p:spPr>
        <p:txBody>
          <a:bodyPr wrap="square" rtlCol="0">
            <a:spAutoFit/>
          </a:bodyPr>
          <a:lstStyle/>
          <a:p>
            <a:pPr marL="0" indent="0">
              <a:buNone/>
            </a:pPr>
            <a:r>
              <a:rPr lang="en-US" sz="2000" dirty="0">
                <a:latin typeface="Lato" panose="020F0502020204030203" pitchFamily="34" charset="0"/>
                <a:ea typeface="Lato" panose="020F0502020204030203" pitchFamily="34" charset="0"/>
                <a:cs typeface="Lato" panose="020F0502020204030203" pitchFamily="34" charset="0"/>
              </a:rPr>
              <a:t>When new attacks emerge, the model failed to classify. =&gt; Incorporating Class Incremental Learning (CIL) to detect new attack types.</a:t>
            </a:r>
          </a:p>
          <a:p>
            <a:endParaRPr lang="en-VN" sz="20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92364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3AA000A-C2AC-184C-0551-3E3B03AD8DC7}"/>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3" name="Title 2">
            <a:extLst>
              <a:ext uri="{FF2B5EF4-FFF2-40B4-BE49-F238E27FC236}">
                <a16:creationId xmlns:a16="http://schemas.microsoft.com/office/drawing/2014/main" id="{B02511F9-3DEB-29C5-5591-BB89B37F24C2}"/>
              </a:ext>
            </a:extLst>
          </p:cNvPr>
          <p:cNvSpPr>
            <a:spLocks noGrp="1"/>
          </p:cNvSpPr>
          <p:nvPr>
            <p:ph type="title"/>
          </p:nvPr>
        </p:nvSpPr>
        <p:spPr/>
        <p:txBody>
          <a:bodyPr/>
          <a:lstStyle/>
          <a:p>
            <a:r>
              <a:rPr lang="en-VN"/>
              <a:t>Class Incremental Learning</a:t>
            </a:r>
            <a:br>
              <a:rPr lang="en-VN"/>
            </a:br>
            <a:endParaRPr lang="en-VN"/>
          </a:p>
        </p:txBody>
      </p:sp>
      <p:pic>
        <p:nvPicPr>
          <p:cNvPr id="7" name="Picture 6" descr="A diagram of a model&#10;&#10;Description automatically generated">
            <a:extLst>
              <a:ext uri="{FF2B5EF4-FFF2-40B4-BE49-F238E27FC236}">
                <a16:creationId xmlns:a16="http://schemas.microsoft.com/office/drawing/2014/main" id="{31A801BC-5C57-D00C-8B2C-8556A2A4C8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6511" y="1298872"/>
            <a:ext cx="5402411" cy="3262495"/>
          </a:xfrm>
          <a:prstGeom prst="rect">
            <a:avLst/>
          </a:prstGeom>
        </p:spPr>
      </p:pic>
      <p:sp>
        <p:nvSpPr>
          <p:cNvPr id="8" name="TextBox 7">
            <a:extLst>
              <a:ext uri="{FF2B5EF4-FFF2-40B4-BE49-F238E27FC236}">
                <a16:creationId xmlns:a16="http://schemas.microsoft.com/office/drawing/2014/main" id="{067DCDD8-F1DC-6BE3-0ADE-3D751D8F04BB}"/>
              </a:ext>
            </a:extLst>
          </p:cNvPr>
          <p:cNvSpPr txBox="1"/>
          <p:nvPr/>
        </p:nvSpPr>
        <p:spPr>
          <a:xfrm>
            <a:off x="270567" y="1905506"/>
            <a:ext cx="3235944" cy="3046988"/>
          </a:xfrm>
          <a:prstGeom prst="rect">
            <a:avLst/>
          </a:prstGeom>
          <a:noFill/>
        </p:spPr>
        <p:txBody>
          <a:bodyPr wrap="square" rtlCol="0">
            <a:spAutoFit/>
          </a:bodyPr>
          <a:lstStyle/>
          <a:p>
            <a:pPr marL="342900" indent="-342900">
              <a:buFontTx/>
              <a:buChar char="-"/>
            </a:pPr>
            <a:r>
              <a:rPr lang="en-VN" sz="2400" dirty="0">
                <a:latin typeface="Lato" panose="020F0502020204030203" pitchFamily="34" charset="0"/>
                <a:ea typeface="Lato" panose="020F0502020204030203" pitchFamily="34" charset="0"/>
                <a:cs typeface="Lato" panose="020F0502020204030203" pitchFamily="34" charset="0"/>
              </a:rPr>
              <a:t>Stream of incoming new classes.</a:t>
            </a:r>
          </a:p>
          <a:p>
            <a:pPr marL="342900" indent="-342900">
              <a:buFontTx/>
              <a:buChar char="-"/>
            </a:pPr>
            <a:r>
              <a:rPr lang="en-VN" sz="2400" dirty="0">
                <a:latin typeface="Lato" panose="020F0502020204030203" pitchFamily="34" charset="0"/>
                <a:ea typeface="Lato" panose="020F0502020204030203" pitchFamily="34" charset="0"/>
                <a:cs typeface="Lato" panose="020F0502020204030203" pitchFamily="34" charset="0"/>
              </a:rPr>
              <a:t> No overlapping classes.</a:t>
            </a:r>
          </a:p>
          <a:p>
            <a:pPr marL="342900" indent="-342900">
              <a:buFontTx/>
              <a:buChar char="-"/>
            </a:pPr>
            <a:r>
              <a:rPr lang="en-VN" sz="2400" dirty="0">
                <a:latin typeface="Lato" panose="020F0502020204030203" pitchFamily="34" charset="0"/>
                <a:ea typeface="Lato" panose="020F0502020204030203" pitchFamily="34" charset="0"/>
                <a:cs typeface="Lato" panose="020F0502020204030203" pitchFamily="34" charset="0"/>
              </a:rPr>
              <a:t>Training data limited to current task.</a:t>
            </a:r>
            <a:br>
              <a:rPr lang="en-VN" sz="2400" dirty="0">
                <a:latin typeface="Lato" panose="020F0502020204030203" pitchFamily="34" charset="0"/>
                <a:ea typeface="Lato" panose="020F0502020204030203" pitchFamily="34" charset="0"/>
                <a:cs typeface="Lato" panose="020F0502020204030203" pitchFamily="34" charset="0"/>
              </a:rPr>
            </a:br>
            <a:endParaRPr lang="en-VN" sz="2400" dirty="0">
              <a:latin typeface="Lato" panose="020F0502020204030203" pitchFamily="34" charset="0"/>
              <a:ea typeface="Lato" panose="020F0502020204030203" pitchFamily="34" charset="0"/>
              <a:cs typeface="Lato" panose="020F0502020204030203" pitchFamily="34" charset="0"/>
            </a:endParaRPr>
          </a:p>
        </p:txBody>
      </p:sp>
      <p:sp>
        <p:nvSpPr>
          <p:cNvPr id="4" name="TextBox 3">
            <a:extLst>
              <a:ext uri="{FF2B5EF4-FFF2-40B4-BE49-F238E27FC236}">
                <a16:creationId xmlns:a16="http://schemas.microsoft.com/office/drawing/2014/main" id="{664D55C5-4E2A-B2E4-6078-806CB5CDB1C7}"/>
              </a:ext>
            </a:extLst>
          </p:cNvPr>
          <p:cNvSpPr txBox="1"/>
          <p:nvPr/>
        </p:nvSpPr>
        <p:spPr>
          <a:xfrm>
            <a:off x="3912866" y="4805916"/>
            <a:ext cx="4876528" cy="646331"/>
          </a:xfrm>
          <a:prstGeom prst="rect">
            <a:avLst/>
          </a:prstGeom>
          <a:noFill/>
        </p:spPr>
        <p:txBody>
          <a:bodyPr wrap="none" rtlCol="0">
            <a:spAutoFit/>
          </a:bodyPr>
          <a:lstStyle/>
          <a:p>
            <a:pPr algn="ctr"/>
            <a:r>
              <a:rPr lang="en-VN" dirty="0"/>
              <a:t>Fig 1: Setting of CIL. </a:t>
            </a:r>
            <a:br>
              <a:rPr lang="en-VN" dirty="0"/>
            </a:br>
            <a:r>
              <a:rPr lang="en-VN" dirty="0"/>
              <a:t>Source: Deep Class Incremental Learning: A survey</a:t>
            </a:r>
          </a:p>
        </p:txBody>
      </p:sp>
    </p:spTree>
    <p:extLst>
      <p:ext uri="{BB962C8B-B14F-4D97-AF65-F5344CB8AC3E}">
        <p14:creationId xmlns:p14="http://schemas.microsoft.com/office/powerpoint/2010/main" val="1146557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4B5665-5AFD-3F87-B541-4CB5BC2C5A4A}"/>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3" name="Title 2">
            <a:extLst>
              <a:ext uri="{FF2B5EF4-FFF2-40B4-BE49-F238E27FC236}">
                <a16:creationId xmlns:a16="http://schemas.microsoft.com/office/drawing/2014/main" id="{484B2702-0E60-19C8-BE2C-CF99A0B52FB5}"/>
              </a:ext>
            </a:extLst>
          </p:cNvPr>
          <p:cNvSpPr>
            <a:spLocks noGrp="1"/>
          </p:cNvSpPr>
          <p:nvPr>
            <p:ph type="title"/>
          </p:nvPr>
        </p:nvSpPr>
        <p:spPr/>
        <p:txBody>
          <a:bodyPr/>
          <a:lstStyle/>
          <a:p>
            <a:r>
              <a:rPr lang="en-VN"/>
              <a:t>Class Incremental Learning</a:t>
            </a:r>
          </a:p>
        </p:txBody>
      </p:sp>
      <p:sp>
        <p:nvSpPr>
          <p:cNvPr id="4" name="Content Placeholder 3">
            <a:extLst>
              <a:ext uri="{FF2B5EF4-FFF2-40B4-BE49-F238E27FC236}">
                <a16:creationId xmlns:a16="http://schemas.microsoft.com/office/drawing/2014/main" id="{47A20A71-50EA-D314-381E-FD585BE5AEB9}"/>
              </a:ext>
            </a:extLst>
          </p:cNvPr>
          <p:cNvSpPr>
            <a:spLocks noGrp="1"/>
          </p:cNvSpPr>
          <p:nvPr>
            <p:ph sz="quarter" idx="13"/>
          </p:nvPr>
        </p:nvSpPr>
        <p:spPr>
          <a:xfrm>
            <a:off x="235077" y="841247"/>
            <a:ext cx="8673846" cy="2720660"/>
          </a:xfrm>
        </p:spPr>
        <p:txBody>
          <a:bodyPr/>
          <a:lstStyle/>
          <a:p>
            <a:pPr marL="0" indent="0">
              <a:buNone/>
            </a:pPr>
            <a:r>
              <a:rPr lang="en-VN" dirty="0"/>
              <a:t>Benefits:</a:t>
            </a:r>
          </a:p>
          <a:p>
            <a:pPr lvl="1"/>
            <a:r>
              <a:rPr lang="en-VN" dirty="0"/>
              <a:t>Adaptability -&gt; Allow NIDS to detect new attack classes</a:t>
            </a:r>
          </a:p>
          <a:p>
            <a:pPr lvl="1"/>
            <a:r>
              <a:rPr lang="en-VN" dirty="0"/>
              <a:t>Compute Resource Efficiency -&gt; Reduce deployment time of NIDS</a:t>
            </a:r>
          </a:p>
          <a:p>
            <a:pPr lvl="1"/>
            <a:r>
              <a:rPr lang="en-VN" dirty="0"/>
              <a:t>Memory Efficient.</a:t>
            </a:r>
          </a:p>
          <a:p>
            <a:pPr marL="0" indent="0">
              <a:buNone/>
            </a:pPr>
            <a:r>
              <a:rPr lang="en-VN" sz="2800" dirty="0">
                <a:latin typeface="Lato" panose="020F0502020204030203" pitchFamily="34" charset="0"/>
                <a:ea typeface="Lato" panose="020F0502020204030203" pitchFamily="34" charset="0"/>
                <a:cs typeface="Lato" panose="020F0502020204030203" pitchFamily="34" charset="0"/>
              </a:rPr>
              <a:t>Challenges: Catastrophic forgetting</a:t>
            </a:r>
          </a:p>
          <a:p>
            <a:endParaRPr lang="en-VN" dirty="0"/>
          </a:p>
        </p:txBody>
      </p:sp>
      <p:sp>
        <p:nvSpPr>
          <p:cNvPr id="6" name="TextBox 5">
            <a:extLst>
              <a:ext uri="{FF2B5EF4-FFF2-40B4-BE49-F238E27FC236}">
                <a16:creationId xmlns:a16="http://schemas.microsoft.com/office/drawing/2014/main" id="{1E7FD129-9DC3-35AC-FF3C-3DC67125F84A}"/>
              </a:ext>
            </a:extLst>
          </p:cNvPr>
          <p:cNvSpPr txBox="1"/>
          <p:nvPr/>
        </p:nvSpPr>
        <p:spPr>
          <a:xfrm>
            <a:off x="235077" y="3561907"/>
            <a:ext cx="8673846" cy="2308324"/>
          </a:xfrm>
          <a:prstGeom prst="rect">
            <a:avLst/>
          </a:prstGeom>
          <a:noFill/>
        </p:spPr>
        <p:txBody>
          <a:bodyPr wrap="square" rtlCol="0">
            <a:spAutoFit/>
          </a:bodyPr>
          <a:lstStyle/>
          <a:p>
            <a:endParaRPr lang="en-US" sz="2400" dirty="0">
              <a:effectLst/>
              <a:latin typeface="Lato" panose="020F0502020204030203" pitchFamily="34" charset="0"/>
              <a:ea typeface="Lato" panose="020F0502020204030203" pitchFamily="34" charset="0"/>
              <a:cs typeface="Lato" panose="020F0502020204030203" pitchFamily="34" charset="0"/>
            </a:endParaRPr>
          </a:p>
          <a:p>
            <a:r>
              <a:rPr lang="en-US" sz="2400" dirty="0">
                <a:effectLst/>
                <a:latin typeface="Lato" panose="020F0502020204030203" pitchFamily="34" charset="0"/>
                <a:ea typeface="Lato" panose="020F0502020204030203" pitchFamily="34" charset="0"/>
                <a:cs typeface="Lato" panose="020F0502020204030203" pitchFamily="34" charset="0"/>
              </a:rPr>
              <a:t>Catastrophic forgetting refers to the tendency of a neural network to completely previously learned information upon learning new data. </a:t>
            </a:r>
            <a:endParaRPr lang="en-US" sz="2400" dirty="0">
              <a:latin typeface="Lato" panose="020F0502020204030203" pitchFamily="34" charset="0"/>
              <a:ea typeface="Lato" panose="020F0502020204030203" pitchFamily="34" charset="0"/>
              <a:cs typeface="Lato" panose="020F0502020204030203" pitchFamily="34" charset="0"/>
            </a:endParaRPr>
          </a:p>
          <a:p>
            <a:endParaRPr lang="en-US" sz="2400" dirty="0">
              <a:latin typeface="Lato" panose="020F0502020204030203" pitchFamily="34" charset="0"/>
              <a:ea typeface="Lato" panose="020F0502020204030203" pitchFamily="34" charset="0"/>
              <a:cs typeface="Lato" panose="020F0502020204030203" pitchFamily="34" charset="0"/>
            </a:endParaRPr>
          </a:p>
          <a:p>
            <a:endParaRPr lang="en-VN" sz="24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442583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96CE69-5E77-8EBC-D6D2-9C2B4B18A3AC}"/>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Title 2">
            <a:extLst>
              <a:ext uri="{FF2B5EF4-FFF2-40B4-BE49-F238E27FC236}">
                <a16:creationId xmlns:a16="http://schemas.microsoft.com/office/drawing/2014/main" id="{6BF4D60B-0F1F-FDAA-0069-F5E04BC65DA4}"/>
              </a:ext>
            </a:extLst>
          </p:cNvPr>
          <p:cNvSpPr>
            <a:spLocks noGrp="1"/>
          </p:cNvSpPr>
          <p:nvPr>
            <p:ph type="title"/>
          </p:nvPr>
        </p:nvSpPr>
        <p:spPr/>
        <p:txBody>
          <a:bodyPr/>
          <a:lstStyle/>
          <a:p>
            <a:r>
              <a:rPr lang="en-VN"/>
              <a:t>Contribution</a:t>
            </a:r>
          </a:p>
        </p:txBody>
      </p:sp>
      <p:sp>
        <p:nvSpPr>
          <p:cNvPr id="4" name="Content Placeholder 3">
            <a:extLst>
              <a:ext uri="{FF2B5EF4-FFF2-40B4-BE49-F238E27FC236}">
                <a16:creationId xmlns:a16="http://schemas.microsoft.com/office/drawing/2014/main" id="{B2379934-A9AD-E59F-0AA7-EA3F839B25D0}"/>
              </a:ext>
            </a:extLst>
          </p:cNvPr>
          <p:cNvSpPr>
            <a:spLocks noGrp="1"/>
          </p:cNvSpPr>
          <p:nvPr>
            <p:ph sz="quarter" idx="13"/>
          </p:nvPr>
        </p:nvSpPr>
        <p:spPr/>
        <p:txBody>
          <a:bodyPr/>
          <a:lstStyle/>
          <a:p>
            <a:r>
              <a:rPr lang="en-VN" dirty="0"/>
              <a:t>Integration of Class Incremental Learning in Network Intrusion Detection System</a:t>
            </a:r>
          </a:p>
          <a:p>
            <a:r>
              <a:rPr lang="en-VN" dirty="0"/>
              <a:t>Comparative Analysis of CIL methods:</a:t>
            </a:r>
          </a:p>
          <a:p>
            <a:pPr lvl="1"/>
            <a:endParaRPr lang="en-VN" dirty="0"/>
          </a:p>
          <a:p>
            <a:pPr lvl="1"/>
            <a:r>
              <a:rPr lang="en-VN" dirty="0"/>
              <a:t>LWF: Learning Without Forgetting</a:t>
            </a:r>
          </a:p>
          <a:p>
            <a:pPr lvl="1"/>
            <a:r>
              <a:rPr lang="en-VN" dirty="0"/>
              <a:t>ICARL: Incremental Classifier and Representation Learning</a:t>
            </a:r>
          </a:p>
          <a:p>
            <a:pPr lvl="1"/>
            <a:r>
              <a:rPr lang="en-VN" dirty="0"/>
              <a:t>DER: Dynamic Expandable Representation</a:t>
            </a:r>
          </a:p>
          <a:p>
            <a:pPr lvl="1"/>
            <a:r>
              <a:rPr lang="en-VN" dirty="0"/>
              <a:t>MEMO: Memory Efficient Expandable Model</a:t>
            </a:r>
          </a:p>
          <a:p>
            <a:r>
              <a:rPr lang="en-VN" dirty="0"/>
              <a:t>Evaluations on multiple NIDS datasets: KDD99, CIC-IDS-2017, UNSW-NB15, ToN-IoT-Network and a synthetic dataset.</a:t>
            </a:r>
          </a:p>
          <a:p>
            <a:pPr lvl="1"/>
            <a:endParaRPr lang="en-VN" dirty="0"/>
          </a:p>
        </p:txBody>
      </p:sp>
    </p:spTree>
    <p:extLst>
      <p:ext uri="{BB962C8B-B14F-4D97-AF65-F5344CB8AC3E}">
        <p14:creationId xmlns:p14="http://schemas.microsoft.com/office/powerpoint/2010/main" val="948367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08E1B1-D9CD-415A-BCE5-B57F39B2F31D}"/>
              </a:ext>
            </a:extLst>
          </p:cNvPr>
          <p:cNvSpPr>
            <a:spLocks noGrp="1"/>
          </p:cNvSpPr>
          <p:nvPr>
            <p:ph sz="quarter" idx="13"/>
          </p:nvPr>
        </p:nvSpPr>
        <p:spPr>
          <a:xfrm>
            <a:off x="3418779" y="3094226"/>
            <a:ext cx="5543550" cy="2632680"/>
          </a:xfrm>
        </p:spPr>
        <p:txBody>
          <a:bodyPr/>
          <a:lstStyle/>
          <a:p>
            <a:pPr marL="0" indent="0">
              <a:buNone/>
            </a:pPr>
            <a:r>
              <a:rPr lang="en-US" sz="2700" b="1" dirty="0">
                <a:latin typeface="Lato Bold"/>
              </a:rPr>
              <a:t>	2. </a:t>
            </a:r>
            <a:r>
              <a:rPr lang="en-US" sz="2400" b="1" dirty="0"/>
              <a:t>PRELIMINARIES AND 		LITERATURE REVIEW</a:t>
            </a:r>
          </a:p>
          <a:p>
            <a:pPr marL="0" indent="0">
              <a:buNone/>
            </a:pPr>
            <a:endParaRPr lang="en-US" sz="2700" b="1" dirty="0">
              <a:latin typeface="Lato Bold"/>
            </a:endParaRPr>
          </a:p>
        </p:txBody>
      </p:sp>
      <p:sp>
        <p:nvSpPr>
          <p:cNvPr id="4" name="Slide Number Placeholder 3">
            <a:extLst>
              <a:ext uri="{FF2B5EF4-FFF2-40B4-BE49-F238E27FC236}">
                <a16:creationId xmlns:a16="http://schemas.microsoft.com/office/drawing/2014/main" id="{BD91CA00-8B5A-4B5F-AE21-CF0691D64D53}"/>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Tree>
    <p:extLst>
      <p:ext uri="{BB962C8B-B14F-4D97-AF65-F5344CB8AC3E}">
        <p14:creationId xmlns:p14="http://schemas.microsoft.com/office/powerpoint/2010/main" val="1791924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6FDFCF-9A16-55FA-47BE-6574E76B2AAB}"/>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3" name="Title 2">
            <a:extLst>
              <a:ext uri="{FF2B5EF4-FFF2-40B4-BE49-F238E27FC236}">
                <a16:creationId xmlns:a16="http://schemas.microsoft.com/office/drawing/2014/main" id="{557BCCEC-DC98-A73F-7B77-CCF7AB070FB2}"/>
              </a:ext>
            </a:extLst>
          </p:cNvPr>
          <p:cNvSpPr>
            <a:spLocks noGrp="1"/>
          </p:cNvSpPr>
          <p:nvPr>
            <p:ph type="title"/>
          </p:nvPr>
        </p:nvSpPr>
        <p:spPr/>
        <p:txBody>
          <a:bodyPr/>
          <a:lstStyle/>
          <a:p>
            <a:r>
              <a:rPr lang="en-VN"/>
              <a:t>Preliminaries</a:t>
            </a:r>
            <a:br>
              <a:rPr lang="en-VN"/>
            </a:br>
            <a:endParaRPr lang="en-VN"/>
          </a:p>
        </p:txBody>
      </p:sp>
      <p:sp>
        <p:nvSpPr>
          <p:cNvPr id="7" name="TextBox 6">
            <a:extLst>
              <a:ext uri="{FF2B5EF4-FFF2-40B4-BE49-F238E27FC236}">
                <a16:creationId xmlns:a16="http://schemas.microsoft.com/office/drawing/2014/main" id="{688619B7-C8BA-8FC9-3624-EDBB3C505427}"/>
              </a:ext>
            </a:extLst>
          </p:cNvPr>
          <p:cNvSpPr txBox="1"/>
          <p:nvPr/>
        </p:nvSpPr>
        <p:spPr>
          <a:xfrm>
            <a:off x="393405" y="1158950"/>
            <a:ext cx="184731" cy="369332"/>
          </a:xfrm>
          <a:prstGeom prst="rect">
            <a:avLst/>
          </a:prstGeom>
          <a:noFill/>
        </p:spPr>
        <p:txBody>
          <a:bodyPr wrap="none" rtlCol="0">
            <a:spAutoFit/>
          </a:bodyPr>
          <a:lstStyle/>
          <a:p>
            <a:endParaRPr lang="en-VN"/>
          </a:p>
        </p:txBody>
      </p:sp>
      <p:sp>
        <p:nvSpPr>
          <p:cNvPr id="4" name="AutoShape 2" descr="Getting Started with Convolutional Neural Networks (CNN) | by Ben Earnest,  M. Sc. | AI Mind">
            <a:extLst>
              <a:ext uri="{FF2B5EF4-FFF2-40B4-BE49-F238E27FC236}">
                <a16:creationId xmlns:a16="http://schemas.microsoft.com/office/drawing/2014/main" id="{3E6A35A6-F919-2FDD-4116-192C90CB8810}"/>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VN"/>
          </a:p>
        </p:txBody>
      </p:sp>
      <p:sp>
        <p:nvSpPr>
          <p:cNvPr id="5" name="AutoShape 4" descr="Getting Started with Convolutional Neural Networks (CNN) | by Ben Earnest,  M. Sc. | AI Mind">
            <a:extLst>
              <a:ext uri="{FF2B5EF4-FFF2-40B4-BE49-F238E27FC236}">
                <a16:creationId xmlns:a16="http://schemas.microsoft.com/office/drawing/2014/main" id="{41A9A2BD-9BD0-3554-E852-770A5E8A4151}"/>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VN"/>
          </a:p>
        </p:txBody>
      </p:sp>
      <p:sp>
        <p:nvSpPr>
          <p:cNvPr id="6" name="AutoShape 6" descr="Getting Started with Convolutional Neural Networks (CNN) | by Ben Earnest,  M. Sc. | AI Mind">
            <a:extLst>
              <a:ext uri="{FF2B5EF4-FFF2-40B4-BE49-F238E27FC236}">
                <a16:creationId xmlns:a16="http://schemas.microsoft.com/office/drawing/2014/main" id="{EDA29862-8ADB-D273-4DCB-6B181A6A2ADC}"/>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VN"/>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9D77D1E7-396D-F847-6A82-99AED403B6AE}"/>
                  </a:ext>
                </a:extLst>
              </p:cNvPr>
              <p:cNvSpPr txBox="1"/>
              <p:nvPr/>
            </p:nvSpPr>
            <p:spPr>
              <a:xfrm>
                <a:off x="393405" y="1088612"/>
                <a:ext cx="8070864" cy="2620974"/>
              </a:xfrm>
              <a:prstGeom prst="rect">
                <a:avLst/>
              </a:prstGeom>
              <a:noFill/>
            </p:spPr>
            <p:txBody>
              <a:bodyPr wrap="none" rtlCol="0">
                <a:spAutoFit/>
              </a:bodyPr>
              <a:lstStyle/>
              <a:p>
                <a:r>
                  <a:rPr lang="en-VN" dirty="0">
                    <a:latin typeface="Lato" panose="020F0502020204030203" pitchFamily="34" charset="0"/>
                    <a:ea typeface="Lato" panose="020F0502020204030203" pitchFamily="34" charset="0"/>
                    <a:cs typeface="Lato" panose="020F0502020204030203" pitchFamily="34" charset="0"/>
                  </a:rPr>
                  <a:t>Feature extractor </a:t>
                </a:r>
                <a14:m>
                  <m:oMath xmlns:m="http://schemas.openxmlformats.org/officeDocument/2006/math">
                    <m:r>
                      <m:rPr>
                        <m:sty m:val="p"/>
                      </m:rPr>
                      <a:rPr lang="el-GR" b="0" i="0" smtClean="0">
                        <a:latin typeface="Cambria Math" panose="02040503050406030204" pitchFamily="18" charset="0"/>
                        <a:ea typeface="Cambria Math" panose="02040503050406030204" pitchFamily="18" charset="0"/>
                      </a:rPr>
                      <m:t>Φ</m:t>
                    </m:r>
                    <m:d>
                      <m:dPr>
                        <m:ctrlPr>
                          <a:rPr lang="vi-VN" i="1" smtClean="0">
                            <a:latin typeface="Cambria Math" panose="02040503050406030204" pitchFamily="18" charset="0"/>
                            <a:ea typeface="Cambria Math" panose="02040503050406030204" pitchFamily="18" charset="0"/>
                          </a:rPr>
                        </m:ctrlPr>
                      </m:dPr>
                      <m:e>
                        <m:r>
                          <a:rPr lang="vi-VN" b="0" i="1" smtClean="0">
                            <a:latin typeface="Cambria Math" panose="02040503050406030204" pitchFamily="18" charset="0"/>
                            <a:ea typeface="Cambria Math" panose="02040503050406030204" pitchFamily="18" charset="0"/>
                          </a:rPr>
                          <m:t>𝑥</m:t>
                        </m:r>
                      </m:e>
                    </m:d>
                  </m:oMath>
                </a14:m>
                <a:r>
                  <a:rPr lang="en-VN" dirty="0">
                    <a:latin typeface="Lato" panose="020F0502020204030203" pitchFamily="34" charset="0"/>
                    <a:ea typeface="Lato" panose="020F0502020204030203" pitchFamily="34" charset="0"/>
                    <a:cs typeface="Lato" panose="020F0502020204030203" pitchFamily="34" charset="0"/>
                  </a:rPr>
                  <a:t>: Transform raw input into more useful information.</a:t>
                </a:r>
                <a:br>
                  <a:rPr lang="en-VN" dirty="0">
                    <a:latin typeface="Lato" panose="020F0502020204030203" pitchFamily="34" charset="0"/>
                    <a:ea typeface="Lato" panose="020F0502020204030203" pitchFamily="34" charset="0"/>
                    <a:cs typeface="Lato" panose="020F0502020204030203" pitchFamily="34" charset="0"/>
                  </a:rPr>
                </a:br>
                <a:br>
                  <a:rPr lang="en-VN" dirty="0">
                    <a:latin typeface="Lato" panose="020F0502020204030203" pitchFamily="34" charset="0"/>
                    <a:ea typeface="Lato" panose="020F0502020204030203" pitchFamily="34" charset="0"/>
                    <a:cs typeface="Lato" panose="020F0502020204030203" pitchFamily="34" charset="0"/>
                  </a:rPr>
                </a:br>
                <a:r>
                  <a:rPr lang="en-VN" dirty="0">
                    <a:latin typeface="Lato" panose="020F0502020204030203" pitchFamily="34" charset="0"/>
                    <a:ea typeface="Lato" panose="020F0502020204030203" pitchFamily="34" charset="0"/>
                    <a:cs typeface="Lato" panose="020F0502020204030203" pitchFamily="34" charset="0"/>
                  </a:rPr>
                  <a:t>Fully Connected (FC) layer </a:t>
                </a:r>
                <a14:m>
                  <m:oMath xmlns:m="http://schemas.openxmlformats.org/officeDocument/2006/math">
                    <m:r>
                      <a:rPr lang="en-VN" b="0" i="1" smtClean="0">
                        <a:latin typeface="Cambria Math" panose="02040503050406030204" pitchFamily="18" charset="0"/>
                        <a:ea typeface="Cambria Math" panose="02040503050406030204" pitchFamily="18" charset="0"/>
                      </a:rPr>
                      <m:t>ℱ</m:t>
                    </m:r>
                  </m:oMath>
                </a14:m>
                <a:r>
                  <a:rPr lang="en-VN" dirty="0">
                    <a:latin typeface="Lato" panose="020F0502020204030203" pitchFamily="34" charset="0"/>
                    <a:ea typeface="Lato" panose="020F0502020204030203" pitchFamily="34" charset="0"/>
                    <a:cs typeface="Lato" panose="020F0502020204030203" pitchFamily="34" charset="0"/>
                  </a:rPr>
                  <a:t>: Perform classification on the extracted features.</a:t>
                </a:r>
                <a:br>
                  <a:rPr lang="en-VN" dirty="0">
                    <a:latin typeface="Lato" panose="020F0502020204030203" pitchFamily="34" charset="0"/>
                    <a:ea typeface="Lato" panose="020F0502020204030203" pitchFamily="34" charset="0"/>
                    <a:cs typeface="Lato" panose="020F0502020204030203" pitchFamily="34" charset="0"/>
                  </a:rPr>
                </a:br>
                <a:endParaRPr lang="en-VN" dirty="0">
                  <a:latin typeface="Lato" panose="020F0502020204030203" pitchFamily="34" charset="0"/>
                  <a:ea typeface="Lato" panose="020F0502020204030203" pitchFamily="34" charset="0"/>
                  <a:cs typeface="Lato" panose="020F0502020204030203" pitchFamily="34" charset="0"/>
                </a:endParaRPr>
              </a:p>
              <a:p>
                <a:r>
                  <a:rPr lang="en-VN" dirty="0">
                    <a:latin typeface="Lato" panose="020F0502020204030203" pitchFamily="34" charset="0"/>
                    <a:ea typeface="Lato" panose="020F0502020204030203" pitchFamily="34" charset="0"/>
                    <a:cs typeface="Lato" panose="020F0502020204030203" pitchFamily="34" charset="0"/>
                  </a:rPr>
                  <a:t>Loss function </a:t>
                </a:r>
                <a14:m>
                  <m:oMath xmlns:m="http://schemas.openxmlformats.org/officeDocument/2006/math">
                    <m:r>
                      <a:rPr lang="en-VN" b="0" i="1" smtClean="0">
                        <a:latin typeface="Cambria Math" panose="02040503050406030204" pitchFamily="18" charset="0"/>
                        <a:ea typeface="Cambria Math" panose="02040503050406030204" pitchFamily="18" charset="0"/>
                      </a:rPr>
                      <m:t>ℒ</m:t>
                    </m:r>
                  </m:oMath>
                </a14:m>
                <a:r>
                  <a:rPr lang="en-VN" dirty="0">
                    <a:latin typeface="Lato" panose="020F0502020204030203" pitchFamily="34" charset="0"/>
                    <a:ea typeface="Lato" panose="020F0502020204030203" pitchFamily="34" charset="0"/>
                    <a:cs typeface="Lato" panose="020F0502020204030203" pitchFamily="34" charset="0"/>
                  </a:rPr>
                  <a:t>: Measures how well the model predict.</a:t>
                </a:r>
              </a:p>
              <a:p>
                <a:endParaRPr lang="en-VN" dirty="0">
                  <a:latin typeface="Lato" panose="020F0502020204030203" pitchFamily="34" charset="0"/>
                  <a:ea typeface="Lato" panose="020F0502020204030203" pitchFamily="34" charset="0"/>
                  <a:cs typeface="Lato" panose="020F0502020204030203" pitchFamily="34" charset="0"/>
                </a:endParaRPr>
              </a:p>
              <a:p>
                <a:r>
                  <a:rPr lang="en-VN" dirty="0">
                    <a:latin typeface="Lato" panose="020F0502020204030203" pitchFamily="34" charset="0"/>
                    <a:ea typeface="Lato" panose="020F0502020204030203" pitchFamily="34" charset="0"/>
                    <a:cs typeface="Lato" panose="020F0502020204030203" pitchFamily="34" charset="0"/>
                  </a:rPr>
                  <a:t>Prediction: </a:t>
                </a:r>
                <a14:m>
                  <m:oMath xmlns:m="http://schemas.openxmlformats.org/officeDocument/2006/math">
                    <m:acc>
                      <m:accPr>
                        <m:chr m:val="̂"/>
                        <m:ctrlPr>
                          <a:rPr lang="en-VN" i="1" smtClean="0">
                            <a:latin typeface="Cambria Math" panose="02040503050406030204" pitchFamily="18" charset="0"/>
                          </a:rPr>
                        </m:ctrlPr>
                      </m:accPr>
                      <m:e>
                        <m:r>
                          <a:rPr lang="en-US" b="0" i="1" smtClean="0">
                            <a:latin typeface="Cambria Math" panose="02040503050406030204" pitchFamily="18" charset="0"/>
                          </a:rPr>
                          <m:t>𝑦</m:t>
                        </m:r>
                      </m:e>
                    </m:acc>
                    <m:r>
                      <a:rPr lang="en-US" b="0" i="0" smtClean="0">
                        <a:latin typeface="Cambria Math" panose="02040503050406030204" pitchFamily="18" charset="0"/>
                      </a:rPr>
                      <m:t>=</m:t>
                    </m:r>
                    <m:r>
                      <m:rPr>
                        <m:sty m:val="p"/>
                      </m:rPr>
                      <a:rPr lang="en-US" b="0" i="0" smtClean="0">
                        <a:latin typeface="Cambria Math" panose="02040503050406030204" pitchFamily="18" charset="0"/>
                      </a:rPr>
                      <m:t>argmax</m:t>
                    </m:r>
                    <m:r>
                      <a:rPr lang="en-US" b="0" i="0" smtClean="0">
                        <a:latin typeface="Cambria Math" panose="02040503050406030204" pitchFamily="18" charset="0"/>
                      </a:rPr>
                      <m:t>(</m:t>
                    </m:r>
                    <m:r>
                      <a:rPr lang="en-VN" i="1">
                        <a:latin typeface="Cambria Math" panose="02040503050406030204" pitchFamily="18" charset="0"/>
                        <a:ea typeface="Cambria Math" panose="02040503050406030204" pitchFamily="18" charset="0"/>
                      </a:rPr>
                      <m:t>ℱ</m:t>
                    </m:r>
                    <m:d>
                      <m:dPr>
                        <m:ctrlPr>
                          <a:rPr lang="en-US" i="1">
                            <a:latin typeface="Cambria Math" panose="02040503050406030204" pitchFamily="18" charset="0"/>
                            <a:ea typeface="Cambria Math" panose="02040503050406030204" pitchFamily="18" charset="0"/>
                          </a:rPr>
                        </m:ctrlPr>
                      </m:dPr>
                      <m:e>
                        <m:r>
                          <m:rPr>
                            <m:sty m:val="p"/>
                          </m:rPr>
                          <a:rPr lang="el-GR" i="1">
                            <a:latin typeface="Cambria Math" panose="02040503050406030204" pitchFamily="18" charset="0"/>
                            <a:ea typeface="Cambria Math" panose="02040503050406030204" pitchFamily="18" charset="0"/>
                          </a:rPr>
                          <m:t>Φ</m:t>
                        </m:r>
                        <m:d>
                          <m:dPr>
                            <m:ctrlPr>
                              <a:rPr lang="vi-VN" i="1">
                                <a:latin typeface="Cambria Math" panose="02040503050406030204" pitchFamily="18" charset="0"/>
                                <a:ea typeface="Cambria Math" panose="02040503050406030204" pitchFamily="18" charset="0"/>
                              </a:rPr>
                            </m:ctrlPr>
                          </m:dPr>
                          <m:e>
                            <m:r>
                              <a:rPr lang="vi-VN" i="1">
                                <a:latin typeface="Cambria Math" panose="02040503050406030204" pitchFamily="18" charset="0"/>
                                <a:ea typeface="Cambria Math" panose="02040503050406030204" pitchFamily="18" charset="0"/>
                              </a:rPr>
                              <m:t>𝑥</m:t>
                            </m:r>
                          </m:e>
                        </m:d>
                      </m:e>
                    </m:d>
                    <m:r>
                      <a:rPr lang="en-US" b="0" i="1" smtClean="0">
                        <a:latin typeface="Cambria Math" panose="02040503050406030204" pitchFamily="18" charset="0"/>
                        <a:ea typeface="Cambria Math" panose="02040503050406030204" pitchFamily="18" charset="0"/>
                      </a:rPr>
                      <m:t>)</m:t>
                    </m:r>
                  </m:oMath>
                </a14:m>
                <a:endParaRPr lang="en-VN" dirty="0">
                  <a:latin typeface="Lato" panose="020F0502020204030203" pitchFamily="34" charset="0"/>
                  <a:ea typeface="Lato" panose="020F0502020204030203" pitchFamily="34" charset="0"/>
                  <a:cs typeface="Lato" panose="020F0502020204030203" pitchFamily="34" charset="0"/>
                </a:endParaRPr>
              </a:p>
              <a:p>
                <a:endParaRPr lang="en-VN" dirty="0">
                  <a:latin typeface="Lato" panose="020F0502020204030203" pitchFamily="34" charset="0"/>
                  <a:ea typeface="Lato" panose="020F0502020204030203" pitchFamily="34" charset="0"/>
                  <a:cs typeface="Lato" panose="020F0502020204030203" pitchFamily="34" charset="0"/>
                </a:endParaRPr>
              </a:p>
              <a:p>
                <a:r>
                  <a:rPr lang="en-VN" dirty="0">
                    <a:latin typeface="Lato" panose="020F0502020204030203" pitchFamily="34" charset="0"/>
                    <a:ea typeface="Lato" panose="020F0502020204030203" pitchFamily="34" charset="0"/>
                    <a:cs typeface="Lato" panose="020F0502020204030203" pitchFamily="34" charset="0"/>
                  </a:rPr>
                  <a:t>Cross Entropy Loss: </a:t>
                </a:r>
                <a14:m>
                  <m:oMath xmlns:m="http://schemas.openxmlformats.org/officeDocument/2006/math">
                    <m:r>
                      <a:rPr lang="en-VN" i="1" smtClean="0">
                        <a:latin typeface="Cambria Math" panose="02040503050406030204" pitchFamily="18" charset="0"/>
                        <a:ea typeface="Cambria Math" panose="02040503050406030204" pitchFamily="18" charset="0"/>
                      </a:rPr>
                      <m:t>ℒ</m:t>
                    </m:r>
                    <m:r>
                      <a:rPr lang="en-US" b="0" i="1" smtClean="0">
                        <a:latin typeface="Cambria Math" panose="02040503050406030204" pitchFamily="18" charset="0"/>
                        <a:ea typeface="Cambria Math" panose="02040503050406030204" pitchFamily="18" charset="0"/>
                      </a:rPr>
                      <m:t>=</m:t>
                    </m:r>
                    <m:r>
                      <a:rPr lang="vi-VN"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vi-VN"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log</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𝒮</m:t>
                    </m:r>
                    <m:r>
                      <a:rPr lang="en-US" b="0" i="1" smtClean="0">
                        <a:latin typeface="Cambria Math" panose="02040503050406030204" pitchFamily="18" charset="0"/>
                        <a:ea typeface="Cambria Math" panose="02040503050406030204" pitchFamily="18" charset="0"/>
                      </a:rPr>
                      <m:t>(</m:t>
                    </m:r>
                    <m:r>
                      <a:rPr lang="en-VN" i="1">
                        <a:latin typeface="Cambria Math" panose="02040503050406030204" pitchFamily="18" charset="0"/>
                        <a:ea typeface="Cambria Math" panose="02040503050406030204" pitchFamily="18" charset="0"/>
                      </a:rPr>
                      <m:t>ℱ</m:t>
                    </m:r>
                    <m:r>
                      <a:rPr lang="en-US" b="0" i="1" smtClean="0">
                        <a:latin typeface="Cambria Math" panose="02040503050406030204" pitchFamily="18" charset="0"/>
                        <a:ea typeface="Cambria Math" panose="02040503050406030204" pitchFamily="18" charset="0"/>
                      </a:rPr>
                      <m:t>(</m:t>
                    </m:r>
                    <m:r>
                      <m:rPr>
                        <m:sty m:val="p"/>
                      </m:rPr>
                      <a:rPr lang="el-GR" i="1">
                        <a:latin typeface="Cambria Math" panose="02040503050406030204" pitchFamily="18" charset="0"/>
                        <a:ea typeface="Cambria Math" panose="02040503050406030204" pitchFamily="18" charset="0"/>
                      </a:rPr>
                      <m:t>Φ</m:t>
                    </m:r>
                    <m:d>
                      <m:dPr>
                        <m:ctrlPr>
                          <a:rPr lang="vi-VN" i="1">
                            <a:latin typeface="Cambria Math" panose="02040503050406030204" pitchFamily="18" charset="0"/>
                            <a:ea typeface="Cambria Math" panose="02040503050406030204" pitchFamily="18" charset="0"/>
                          </a:rPr>
                        </m:ctrlPr>
                      </m:dPr>
                      <m:e>
                        <m:r>
                          <a:rPr lang="vi-VN" i="1">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m:t>
                    </m:r>
                  </m:oMath>
                </a14:m>
                <a:endParaRPr lang="en-VN" dirty="0">
                  <a:latin typeface="Lato" panose="020F0502020204030203" pitchFamily="34" charset="0"/>
                  <a:ea typeface="Lato" panose="020F0502020204030203" pitchFamily="34" charset="0"/>
                  <a:cs typeface="Lato" panose="020F0502020204030203" pitchFamily="34" charset="0"/>
                </a:endParaRPr>
              </a:p>
            </p:txBody>
          </p:sp>
        </mc:Choice>
        <mc:Fallback xmlns="">
          <p:sp>
            <p:nvSpPr>
              <p:cNvPr id="63" name="TextBox 62">
                <a:extLst>
                  <a:ext uri="{FF2B5EF4-FFF2-40B4-BE49-F238E27FC236}">
                    <a16:creationId xmlns:a16="http://schemas.microsoft.com/office/drawing/2014/main" id="{9D77D1E7-396D-F847-6A82-99AED403B6AE}"/>
                  </a:ext>
                </a:extLst>
              </p:cNvPr>
              <p:cNvSpPr txBox="1">
                <a:spLocks noRot="1" noChangeAspect="1" noMove="1" noResize="1" noEditPoints="1" noAdjustHandles="1" noChangeArrowheads="1" noChangeShapeType="1" noTextEdit="1"/>
              </p:cNvSpPr>
              <p:nvPr/>
            </p:nvSpPr>
            <p:spPr>
              <a:xfrm>
                <a:off x="393405" y="1088612"/>
                <a:ext cx="8070864" cy="2620974"/>
              </a:xfrm>
              <a:prstGeom prst="rect">
                <a:avLst/>
              </a:prstGeom>
              <a:blipFill>
                <a:blip r:embed="rId3"/>
                <a:stretch>
                  <a:fillRect l="-786" t="-962" b="-2404"/>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025" name="Rounded Rectangle 1024">
                <a:extLst>
                  <a:ext uri="{FF2B5EF4-FFF2-40B4-BE49-F238E27FC236}">
                    <a16:creationId xmlns:a16="http://schemas.microsoft.com/office/drawing/2014/main" id="{E00D8B48-5D69-A5E5-9FD0-A88FA70C7B6F}"/>
                  </a:ext>
                </a:extLst>
              </p:cNvPr>
              <p:cNvSpPr/>
              <p:nvPr/>
            </p:nvSpPr>
            <p:spPr>
              <a:xfrm>
                <a:off x="1457174" y="4019335"/>
                <a:ext cx="6229651" cy="2030639"/>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VN" sz="1800" dirty="0"/>
                  <a:t>Expanding FC layer</a:t>
                </a:r>
                <a:br>
                  <a:rPr lang="en-VN" sz="1800" dirty="0"/>
                </a:br>
                <a:r>
                  <a:rPr lang="en-VN" sz="1800" dirty="0"/>
                  <a:t>The output layer match the number of classes, so </a:t>
                </a:r>
                <a14:m>
                  <m:oMath xmlns:m="http://schemas.openxmlformats.org/officeDocument/2006/math">
                    <m:r>
                      <a:rPr lang="en-VN" sz="1800" i="1" smtClean="0">
                        <a:latin typeface="Cambria Math" panose="02040503050406030204" pitchFamily="18" charset="0"/>
                        <a:ea typeface="Cambria Math" panose="02040503050406030204" pitchFamily="18" charset="0"/>
                      </a:rPr>
                      <m:t>ℱ</m:t>
                    </m:r>
                  </m:oMath>
                </a14:m>
                <a:r>
                  <a:rPr lang="en-VN" sz="1800" dirty="0"/>
                  <a:t> must be expanded whenever facing new task.</a:t>
                </a:r>
                <a:br>
                  <a:rPr lang="en-VN" sz="1800" dirty="0"/>
                </a:br>
                <a:endParaRPr lang="en-VN" sz="1800" dirty="0"/>
              </a:p>
              <a:p>
                <a:pPr/>
                <a14:m>
                  <m:oMathPara xmlns:m="http://schemas.openxmlformats.org/officeDocument/2006/math">
                    <m:oMathParaPr>
                      <m:jc m:val="centerGroup"/>
                    </m:oMathParaPr>
                    <m:oMath xmlns:m="http://schemas.openxmlformats.org/officeDocument/2006/math">
                      <m:sSub>
                        <m:sSubPr>
                          <m:ctrlPr>
                            <a:rPr lang="en-VN" sz="1800" i="1" smtClean="0">
                              <a:latin typeface="Cambria Math" panose="02040503050406030204" pitchFamily="18" charset="0"/>
                            </a:rPr>
                          </m:ctrlPr>
                        </m:sSubPr>
                        <m:e>
                          <m:r>
                            <a:rPr lang="en-VN" sz="1800" i="1">
                              <a:latin typeface="Cambria Math" panose="02040503050406030204" pitchFamily="18" charset="0"/>
                              <a:ea typeface="Cambria Math" panose="02040503050406030204" pitchFamily="18" charset="0"/>
                            </a:rPr>
                            <m:t>ℱ</m:t>
                          </m:r>
                        </m:e>
                        <m:sub>
                          <m:r>
                            <a:rPr lang="en-US" sz="1800" b="0" i="1" smtClean="0">
                              <a:latin typeface="Cambria Math" panose="02040503050406030204" pitchFamily="18" charset="0"/>
                            </a:rPr>
                            <m:t>𝑡</m:t>
                          </m:r>
                        </m:sub>
                      </m:sSub>
                      <m:r>
                        <a:rPr lang="en-US" sz="1800" b="0" i="1" smtClean="0">
                          <a:latin typeface="Cambria Math" panose="02040503050406030204" pitchFamily="18" charset="0"/>
                        </a:rPr>
                        <m:t>=</m:t>
                      </m:r>
                      <m:sSub>
                        <m:sSubPr>
                          <m:ctrlPr>
                            <a:rPr lang="en-VN" sz="1800" i="1">
                              <a:latin typeface="Cambria Math" panose="02040503050406030204" pitchFamily="18" charset="0"/>
                            </a:rPr>
                          </m:ctrlPr>
                        </m:sSubPr>
                        <m:e>
                          <m:r>
                            <a:rPr lang="en-VN" sz="1800" i="1">
                              <a:latin typeface="Cambria Math" panose="02040503050406030204" pitchFamily="18" charset="0"/>
                              <a:ea typeface="Cambria Math" panose="02040503050406030204" pitchFamily="18" charset="0"/>
                            </a:rPr>
                            <m:t>ℱ</m:t>
                          </m:r>
                        </m:e>
                        <m:sub>
                          <m:r>
                            <a:rPr lang="en-US" sz="1800" i="1">
                              <a:latin typeface="Cambria Math" panose="02040503050406030204" pitchFamily="18" charset="0"/>
                            </a:rPr>
                            <m:t>𝑡</m:t>
                          </m:r>
                          <m:r>
                            <a:rPr lang="en-US" sz="1800" b="0" i="1" smtClean="0">
                              <a:latin typeface="Cambria Math" panose="02040503050406030204" pitchFamily="18" charset="0"/>
                            </a:rPr>
                            <m:t>−1</m:t>
                          </m:r>
                        </m:sub>
                      </m:sSub>
                      <m:r>
                        <a:rPr lang="en-US" sz="1800" b="0" i="1" smtClean="0">
                          <a:latin typeface="Cambria Math" panose="02040503050406030204" pitchFamily="18" charset="0"/>
                        </a:rPr>
                        <m:t>+ </m:t>
                      </m:r>
                      <m:sSubSup>
                        <m:sSubSupPr>
                          <m:ctrlPr>
                            <a:rPr lang="en-US" sz="1800" b="0" i="1" smtClean="0">
                              <a:latin typeface="Cambria Math" panose="02040503050406030204" pitchFamily="18" charset="0"/>
                            </a:rPr>
                          </m:ctrlPr>
                        </m:sSubSupPr>
                        <m:e>
                          <m:r>
                            <a:rPr lang="en-VN" sz="1800" i="1">
                              <a:latin typeface="Cambria Math" panose="02040503050406030204" pitchFamily="18" charset="0"/>
                              <a:ea typeface="Cambria Math" panose="02040503050406030204" pitchFamily="18" charset="0"/>
                            </a:rPr>
                            <m:t>ℱ</m:t>
                          </m:r>
                        </m:e>
                        <m:sub>
                          <m:r>
                            <a:rPr lang="en-US" sz="1800" b="0" i="1" smtClean="0">
                              <a:latin typeface="Cambria Math" panose="02040503050406030204" pitchFamily="18" charset="0"/>
                            </a:rPr>
                            <m:t>𝑡</m:t>
                          </m:r>
                        </m:sub>
                        <m:sup>
                          <m:r>
                            <a:rPr lang="en-US" sz="1800" b="0" i="1" smtClean="0">
                              <a:latin typeface="Cambria Math" panose="02040503050406030204" pitchFamily="18" charset="0"/>
                            </a:rPr>
                            <m:t>′</m:t>
                          </m:r>
                        </m:sup>
                      </m:sSubSup>
                    </m:oMath>
                  </m:oMathPara>
                </a14:m>
                <a:endParaRPr lang="en-VN" sz="1800" dirty="0"/>
              </a:p>
              <a:p>
                <a:pPr algn="ctr"/>
                <a:endParaRPr lang="en-VN" dirty="0"/>
              </a:p>
            </p:txBody>
          </p:sp>
        </mc:Choice>
        <mc:Fallback xmlns="">
          <p:sp>
            <p:nvSpPr>
              <p:cNvPr id="1025" name="Rounded Rectangle 1024">
                <a:extLst>
                  <a:ext uri="{FF2B5EF4-FFF2-40B4-BE49-F238E27FC236}">
                    <a16:creationId xmlns:a16="http://schemas.microsoft.com/office/drawing/2014/main" id="{E00D8B48-5D69-A5E5-9FD0-A88FA70C7B6F}"/>
                  </a:ext>
                </a:extLst>
              </p:cNvPr>
              <p:cNvSpPr>
                <a:spLocks noRot="1" noChangeAspect="1" noMove="1" noResize="1" noEditPoints="1" noAdjustHandles="1" noChangeArrowheads="1" noChangeShapeType="1" noTextEdit="1"/>
              </p:cNvSpPr>
              <p:nvPr/>
            </p:nvSpPr>
            <p:spPr>
              <a:xfrm>
                <a:off x="1457174" y="4019335"/>
                <a:ext cx="6229651" cy="2030639"/>
              </a:xfrm>
              <a:prstGeom prst="roundRect">
                <a:avLst/>
              </a:prstGeom>
              <a:blipFill>
                <a:blip r:embed="rId4"/>
                <a:stretch>
                  <a:fillRect/>
                </a:stretch>
              </a:blipFill>
              <a:ln>
                <a:solidFill>
                  <a:schemeClr val="tx1"/>
                </a:solidFill>
              </a:ln>
            </p:spPr>
            <p:txBody>
              <a:bodyPr/>
              <a:lstStyle/>
              <a:p>
                <a:r>
                  <a:rPr lang="en-VN">
                    <a:noFill/>
                  </a:rPr>
                  <a:t> </a:t>
                </a:r>
              </a:p>
            </p:txBody>
          </p:sp>
        </mc:Fallback>
      </mc:AlternateContent>
    </p:spTree>
    <p:extLst>
      <p:ext uri="{BB962C8B-B14F-4D97-AF65-F5344CB8AC3E}">
        <p14:creationId xmlns:p14="http://schemas.microsoft.com/office/powerpoint/2010/main" val="233661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6FDFCF-9A16-55FA-47BE-6574E76B2AAB}"/>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Title 2">
            <a:extLst>
              <a:ext uri="{FF2B5EF4-FFF2-40B4-BE49-F238E27FC236}">
                <a16:creationId xmlns:a16="http://schemas.microsoft.com/office/drawing/2014/main" id="{557BCCEC-DC98-A73F-7B77-CCF7AB070FB2}"/>
              </a:ext>
            </a:extLst>
          </p:cNvPr>
          <p:cNvSpPr>
            <a:spLocks noGrp="1"/>
          </p:cNvSpPr>
          <p:nvPr>
            <p:ph type="title"/>
          </p:nvPr>
        </p:nvSpPr>
        <p:spPr/>
        <p:txBody>
          <a:bodyPr/>
          <a:lstStyle/>
          <a:p>
            <a:r>
              <a:rPr lang="en-VN"/>
              <a:t>Preliminaries</a:t>
            </a:r>
            <a:br>
              <a:rPr lang="en-VN"/>
            </a:br>
            <a:endParaRPr lang="en-VN"/>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A416F4C-0311-07D7-A23A-D187F1362442}"/>
                  </a:ext>
                </a:extLst>
              </p:cNvPr>
              <p:cNvSpPr>
                <a:spLocks noGrp="1"/>
              </p:cNvSpPr>
              <p:nvPr>
                <p:ph sz="quarter" idx="13"/>
              </p:nvPr>
            </p:nvSpPr>
            <p:spPr/>
            <p:txBody>
              <a:bodyPr/>
              <a:lstStyle/>
              <a:p>
                <a:r>
                  <a:rPr lang="en-US" sz="2000" b="1" dirty="0">
                    <a:effectLst/>
                  </a:rPr>
                  <a:t>Exemplar set </a:t>
                </a:r>
                <a:r>
                  <a:rPr lang="en-US" sz="2000" dirty="0">
                    <a:effectLst/>
                  </a:rPr>
                  <a:t>is an extra collection of instances from former tasks  </a:t>
                </a:r>
              </a:p>
              <a:p>
                <a:pPr marL="0" indent="0">
                  <a:buNone/>
                </a:pPr>
                <a14:m>
                  <m:oMath xmlns:m="http://schemas.openxmlformats.org/officeDocument/2006/math">
                    <m:r>
                      <a:rPr lang="en-US" sz="2000" i="1" smtClean="0">
                        <a:effectLst/>
                        <a:latin typeface="Cambria Math" panose="02040503050406030204" pitchFamily="18" charset="0"/>
                        <a:ea typeface="Cambria Math" panose="02040503050406030204" pitchFamily="18" charset="0"/>
                      </a:rPr>
                      <m:t>𝜀</m:t>
                    </m:r>
                    <m:r>
                      <a:rPr lang="vi-VN" sz="2000" b="0" i="1" smtClean="0">
                        <a:effectLst/>
                        <a:latin typeface="Cambria Math" panose="02040503050406030204" pitchFamily="18" charset="0"/>
                        <a:ea typeface="Cambria Math" panose="02040503050406030204" pitchFamily="18" charset="0"/>
                      </a:rPr>
                      <m:t>= </m:t>
                    </m:r>
                    <m:sSubSup>
                      <m:sSubSupPr>
                        <m:ctrlPr>
                          <a:rPr lang="vi-VN" sz="2000" b="0" i="1" smtClean="0">
                            <a:effectLst/>
                            <a:latin typeface="Cambria Math" panose="02040503050406030204" pitchFamily="18" charset="0"/>
                            <a:ea typeface="Cambria Math" panose="02040503050406030204" pitchFamily="18" charset="0"/>
                          </a:rPr>
                        </m:ctrlPr>
                      </m:sSubSupPr>
                      <m:e>
                        <m:d>
                          <m:dPr>
                            <m:begChr m:val="{"/>
                            <m:endChr m:val="}"/>
                            <m:ctrlPr>
                              <a:rPr lang="vi-VN" sz="2000" b="0" i="1" smtClean="0">
                                <a:effectLst/>
                                <a:latin typeface="Cambria Math" panose="02040503050406030204" pitchFamily="18" charset="0"/>
                                <a:ea typeface="Cambria Math" panose="02040503050406030204" pitchFamily="18" charset="0"/>
                              </a:rPr>
                            </m:ctrlPr>
                          </m:dPr>
                          <m:e>
                            <m:sSub>
                              <m:sSubPr>
                                <m:ctrlPr>
                                  <a:rPr lang="vi-VN" sz="2000" b="0" i="1" smtClean="0">
                                    <a:effectLst/>
                                    <a:latin typeface="Cambria Math" panose="02040503050406030204" pitchFamily="18" charset="0"/>
                                    <a:ea typeface="Cambria Math" panose="02040503050406030204" pitchFamily="18" charset="0"/>
                                  </a:rPr>
                                </m:ctrlPr>
                              </m:sSubPr>
                              <m:e>
                                <m:r>
                                  <m:rPr>
                                    <m:sty m:val="p"/>
                                  </m:rPr>
                                  <a:rPr lang="vi-VN" sz="2000" i="1">
                                    <a:latin typeface="Cambria Math" panose="02040503050406030204" pitchFamily="18" charset="0"/>
                                    <a:ea typeface="Cambria Math" panose="02040503050406030204" pitchFamily="18" charset="0"/>
                                  </a:rPr>
                                  <m:t>x</m:t>
                                </m:r>
                              </m:e>
                              <m:sub>
                                <m:r>
                                  <m:rPr>
                                    <m:sty m:val="p"/>
                                  </m:rPr>
                                  <a:rPr lang="vi-VN" sz="2000" i="1">
                                    <a:latin typeface="Cambria Math" panose="02040503050406030204" pitchFamily="18" charset="0"/>
                                    <a:ea typeface="Cambria Math" panose="02040503050406030204" pitchFamily="18" charset="0"/>
                                  </a:rPr>
                                  <m:t>j</m:t>
                                </m:r>
                              </m:sub>
                            </m:sSub>
                            <m:r>
                              <a:rPr lang="vi-VN" sz="2000" b="0" i="1" smtClean="0">
                                <a:effectLst/>
                                <a:latin typeface="Cambria Math" panose="02040503050406030204" pitchFamily="18" charset="0"/>
                                <a:ea typeface="Cambria Math" panose="02040503050406030204" pitchFamily="18" charset="0"/>
                              </a:rPr>
                              <m:t>,  </m:t>
                            </m:r>
                            <m:sSub>
                              <m:sSubPr>
                                <m:ctrlPr>
                                  <a:rPr lang="vi-VN" sz="2000" b="0" i="1" smtClean="0">
                                    <a:effectLst/>
                                    <a:latin typeface="Cambria Math" panose="02040503050406030204" pitchFamily="18" charset="0"/>
                                    <a:ea typeface="Cambria Math" panose="02040503050406030204" pitchFamily="18" charset="0"/>
                                  </a:rPr>
                                </m:ctrlPr>
                              </m:sSubPr>
                              <m:e>
                                <m:r>
                                  <m:rPr>
                                    <m:sty m:val="p"/>
                                  </m:rPr>
                                  <a:rPr lang="vi-VN" sz="2000" i="1">
                                    <a:latin typeface="Cambria Math" panose="02040503050406030204" pitchFamily="18" charset="0"/>
                                    <a:ea typeface="Cambria Math" panose="02040503050406030204" pitchFamily="18" charset="0"/>
                                  </a:rPr>
                                  <m:t>y</m:t>
                                </m:r>
                              </m:e>
                              <m:sub>
                                <m:r>
                                  <m:rPr>
                                    <m:sty m:val="p"/>
                                  </m:rPr>
                                  <a:rPr lang="vi-VN" sz="2000" i="1">
                                    <a:latin typeface="Cambria Math" panose="02040503050406030204" pitchFamily="18" charset="0"/>
                                    <a:ea typeface="Cambria Math" panose="02040503050406030204" pitchFamily="18" charset="0"/>
                                  </a:rPr>
                                  <m:t>j</m:t>
                                </m:r>
                              </m:sub>
                            </m:sSub>
                          </m:e>
                        </m:d>
                      </m:e>
                      <m:sub>
                        <m:r>
                          <m:rPr>
                            <m:sty m:val="p"/>
                          </m:rPr>
                          <a:rPr lang="vi-VN" sz="2000" i="1">
                            <a:latin typeface="Cambria Math" panose="02040503050406030204" pitchFamily="18" charset="0"/>
                            <a:ea typeface="Cambria Math" panose="02040503050406030204" pitchFamily="18" charset="0"/>
                          </a:rPr>
                          <m:t>j</m:t>
                        </m:r>
                        <m:r>
                          <a:rPr lang="vi-VN" sz="2000" b="0" i="1" smtClean="0">
                            <a:latin typeface="Cambria Math" panose="02040503050406030204" pitchFamily="18" charset="0"/>
                            <a:ea typeface="Cambria Math" panose="02040503050406030204" pitchFamily="18" charset="0"/>
                          </a:rPr>
                          <m:t>=1</m:t>
                        </m:r>
                      </m:sub>
                      <m:sup>
                        <m:r>
                          <m:rPr>
                            <m:sty m:val="p"/>
                          </m:rPr>
                          <a:rPr lang="vi-VN" sz="2000" i="1">
                            <a:latin typeface="Cambria Math" panose="02040503050406030204" pitchFamily="18" charset="0"/>
                            <a:ea typeface="Cambria Math" panose="02040503050406030204" pitchFamily="18" charset="0"/>
                          </a:rPr>
                          <m:t>M</m:t>
                        </m:r>
                      </m:sup>
                    </m:sSubSup>
                    <m:r>
                      <a:rPr lang="vi-VN" sz="2000" b="0" i="1" smtClean="0">
                        <a:effectLst/>
                        <a:latin typeface="Cambria Math" panose="02040503050406030204" pitchFamily="18" charset="0"/>
                        <a:ea typeface="Cambria Math" panose="02040503050406030204" pitchFamily="18" charset="0"/>
                      </a:rPr>
                      <m:t>, </m:t>
                    </m:r>
                    <m:sSub>
                      <m:sSubPr>
                        <m:ctrlPr>
                          <a:rPr lang="vi-VN" sz="2000" b="0" i="1" smtClean="0">
                            <a:effectLst/>
                            <a:latin typeface="Cambria Math" panose="02040503050406030204" pitchFamily="18" charset="0"/>
                            <a:ea typeface="Cambria Math" panose="02040503050406030204" pitchFamily="18" charset="0"/>
                          </a:rPr>
                        </m:ctrlPr>
                      </m:sSubPr>
                      <m:e>
                        <m:r>
                          <m:rPr>
                            <m:sty m:val="p"/>
                          </m:rPr>
                          <a:rPr lang="vi-VN" sz="2000" i="1">
                            <a:latin typeface="Cambria Math" panose="02040503050406030204" pitchFamily="18" charset="0"/>
                            <a:ea typeface="Cambria Math" panose="02040503050406030204" pitchFamily="18" charset="0"/>
                          </a:rPr>
                          <m:t>y</m:t>
                        </m:r>
                      </m:e>
                      <m:sub>
                        <m:r>
                          <m:rPr>
                            <m:sty m:val="p"/>
                          </m:rPr>
                          <a:rPr lang="vi-VN" sz="2000" i="1">
                            <a:latin typeface="Cambria Math" panose="02040503050406030204" pitchFamily="18" charset="0"/>
                            <a:ea typeface="Cambria Math" panose="02040503050406030204" pitchFamily="18" charset="0"/>
                          </a:rPr>
                          <m:t>j</m:t>
                        </m:r>
                      </m:sub>
                    </m:sSub>
                    <m:r>
                      <a:rPr lang="vi-VN" sz="2000" b="0" i="1" smtClean="0">
                        <a:effectLst/>
                        <a:latin typeface="Cambria Math" panose="02040503050406030204" pitchFamily="18" charset="0"/>
                        <a:ea typeface="Cambria Math" panose="02040503050406030204" pitchFamily="18" charset="0"/>
                      </a:rPr>
                      <m:t> ∈ </m:t>
                    </m:r>
                    <m:sSub>
                      <m:sSubPr>
                        <m:ctrlPr>
                          <a:rPr lang="vi-VN" sz="2000" b="0" i="1" smtClean="0">
                            <a:effectLst/>
                            <a:latin typeface="Cambria Math" panose="02040503050406030204" pitchFamily="18" charset="0"/>
                            <a:ea typeface="Cambria Math" panose="02040503050406030204" pitchFamily="18" charset="0"/>
                          </a:rPr>
                        </m:ctrlPr>
                      </m:sSubPr>
                      <m:e>
                        <m:r>
                          <m:rPr>
                            <m:sty m:val="p"/>
                          </m:rPr>
                          <a:rPr lang="vi-VN" sz="2000" i="1">
                            <a:latin typeface="Cambria Math" panose="02040503050406030204" pitchFamily="18" charset="0"/>
                            <a:ea typeface="Cambria Math" panose="02040503050406030204" pitchFamily="18" charset="0"/>
                          </a:rPr>
                          <m:t>Y</m:t>
                        </m:r>
                      </m:e>
                      <m:sub>
                        <m:r>
                          <m:rPr>
                            <m:sty m:val="p"/>
                          </m:rPr>
                          <a:rPr lang="vi-VN" sz="2000" i="1">
                            <a:latin typeface="Cambria Math" panose="02040503050406030204" pitchFamily="18" charset="0"/>
                            <a:ea typeface="Cambria Math" panose="02040503050406030204" pitchFamily="18" charset="0"/>
                          </a:rPr>
                          <m:t>b</m:t>
                        </m:r>
                        <m:r>
                          <a:rPr lang="vi-VN" sz="2000" b="0" i="1" smtClean="0">
                            <a:latin typeface="Cambria Math" panose="02040503050406030204" pitchFamily="18" charset="0"/>
                            <a:ea typeface="Cambria Math" panose="02040503050406030204" pitchFamily="18" charset="0"/>
                          </a:rPr>
                          <m:t> −1</m:t>
                        </m:r>
                      </m:sub>
                    </m:sSub>
                  </m:oMath>
                </a14:m>
                <a:r>
                  <a:rPr lang="en-US" sz="2000" dirty="0">
                    <a:effectLst/>
                  </a:rPr>
                  <a:t>. </a:t>
                </a:r>
                <a:endParaRPr lang="en-US" sz="2000" dirty="0"/>
              </a:p>
            </p:txBody>
          </p:sp>
        </mc:Choice>
        <mc:Fallback xmlns="">
          <p:sp>
            <p:nvSpPr>
              <p:cNvPr id="4" name="Content Placeholder 3">
                <a:extLst>
                  <a:ext uri="{FF2B5EF4-FFF2-40B4-BE49-F238E27FC236}">
                    <a16:creationId xmlns:a16="http://schemas.microsoft.com/office/drawing/2014/main" id="{7A416F4C-0311-07D7-A23A-D187F1362442}"/>
                  </a:ext>
                </a:extLst>
              </p:cNvPr>
              <p:cNvSpPr>
                <a:spLocks noGrp="1" noRot="1" noChangeAspect="1" noMove="1" noResize="1" noEditPoints="1" noAdjustHandles="1" noChangeArrowheads="1" noChangeShapeType="1" noTextEdit="1"/>
              </p:cNvSpPr>
              <p:nvPr>
                <p:ph sz="quarter" idx="13"/>
              </p:nvPr>
            </p:nvSpPr>
            <p:spPr>
              <a:blipFill>
                <a:blip r:embed="rId3"/>
                <a:stretch>
                  <a:fillRect l="-585" t="-1435"/>
                </a:stretch>
              </a:blipFill>
            </p:spPr>
            <p:txBody>
              <a:bodyPr/>
              <a:lstStyle/>
              <a:p>
                <a:r>
                  <a:rPr lang="en-VN">
                    <a:noFill/>
                  </a:rPr>
                  <a:t> </a:t>
                </a:r>
              </a:p>
            </p:txBody>
          </p:sp>
        </mc:Fallback>
      </mc:AlternateContent>
      <p:pic>
        <p:nvPicPr>
          <p:cNvPr id="38" name="Picture 37">
            <a:extLst>
              <a:ext uri="{FF2B5EF4-FFF2-40B4-BE49-F238E27FC236}">
                <a16:creationId xmlns:a16="http://schemas.microsoft.com/office/drawing/2014/main" id="{D2CE13E5-5D8B-8F5B-8DC2-A869632F2AEA}"/>
              </a:ext>
            </a:extLst>
          </p:cNvPr>
          <p:cNvPicPr>
            <a:picLocks noChangeAspect="1"/>
          </p:cNvPicPr>
          <p:nvPr/>
        </p:nvPicPr>
        <p:blipFill>
          <a:blip r:embed="rId4"/>
          <a:stretch>
            <a:fillRect/>
          </a:stretch>
        </p:blipFill>
        <p:spPr>
          <a:xfrm>
            <a:off x="590472" y="2349702"/>
            <a:ext cx="8421236" cy="3157964"/>
          </a:xfrm>
          <a:prstGeom prst="rect">
            <a:avLst/>
          </a:prstGeom>
        </p:spPr>
      </p:pic>
    </p:spTree>
    <p:extLst>
      <p:ext uri="{BB962C8B-B14F-4D97-AF65-F5344CB8AC3E}">
        <p14:creationId xmlns:p14="http://schemas.microsoft.com/office/powerpoint/2010/main" val="1940635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9F6FC0-BB3F-2FA6-6ECB-4D5E22770CA9}"/>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3" name="Title 2">
            <a:extLst>
              <a:ext uri="{FF2B5EF4-FFF2-40B4-BE49-F238E27FC236}">
                <a16:creationId xmlns:a16="http://schemas.microsoft.com/office/drawing/2014/main" id="{2A37B522-B6F5-C907-4385-7792A2FC3278}"/>
              </a:ext>
            </a:extLst>
          </p:cNvPr>
          <p:cNvSpPr>
            <a:spLocks noGrp="1"/>
          </p:cNvSpPr>
          <p:nvPr>
            <p:ph type="title"/>
          </p:nvPr>
        </p:nvSpPr>
        <p:spPr/>
        <p:txBody>
          <a:bodyPr/>
          <a:lstStyle/>
          <a:p>
            <a:r>
              <a:rPr lang="en-VN" dirty="0"/>
              <a:t>Related Works: Data Based Approach</a:t>
            </a:r>
          </a:p>
        </p:txBody>
      </p:sp>
      <p:sp>
        <p:nvSpPr>
          <p:cNvPr id="4" name="Content Placeholder 3">
            <a:extLst>
              <a:ext uri="{FF2B5EF4-FFF2-40B4-BE49-F238E27FC236}">
                <a16:creationId xmlns:a16="http://schemas.microsoft.com/office/drawing/2014/main" id="{DE1D0E23-E32F-B5D1-0B32-66DC88C699FB}"/>
              </a:ext>
            </a:extLst>
          </p:cNvPr>
          <p:cNvSpPr>
            <a:spLocks noGrp="1"/>
          </p:cNvSpPr>
          <p:nvPr>
            <p:ph sz="quarter" idx="13"/>
          </p:nvPr>
        </p:nvSpPr>
        <p:spPr>
          <a:xfrm>
            <a:off x="235077" y="841247"/>
            <a:ext cx="8689706" cy="1218161"/>
          </a:xfrm>
        </p:spPr>
        <p:txBody>
          <a:bodyPr/>
          <a:lstStyle/>
          <a:p>
            <a:pPr marL="0" indent="0">
              <a:buNone/>
            </a:pPr>
            <a:r>
              <a:rPr lang="en-VN" sz="2000" b="1"/>
              <a:t>Exemplar Based Methods</a:t>
            </a:r>
            <a:r>
              <a:rPr lang="en-VN" sz="2000"/>
              <a:t>:  Selecting the most informative exemplars. [1] choose the </a:t>
            </a:r>
            <a:r>
              <a:rPr lang="en-VN" sz="2000" b="1"/>
              <a:t>most representative ones. </a:t>
            </a:r>
            <a:r>
              <a:rPr lang="en-VN" sz="2000"/>
              <a:t>[2] choose the </a:t>
            </a:r>
            <a:r>
              <a:rPr lang="en-VN" sz="2000" b="1"/>
              <a:t>most discriminative ones. </a:t>
            </a:r>
            <a:r>
              <a:rPr lang="en-VN" sz="2000"/>
              <a:t>[3] combines both of methods.</a:t>
            </a:r>
            <a:endParaRPr lang="en-US" sz="2000" dirty="0"/>
          </a:p>
        </p:txBody>
      </p:sp>
      <p:sp>
        <p:nvSpPr>
          <p:cNvPr id="7" name="TextBox 6">
            <a:extLst>
              <a:ext uri="{FF2B5EF4-FFF2-40B4-BE49-F238E27FC236}">
                <a16:creationId xmlns:a16="http://schemas.microsoft.com/office/drawing/2014/main" id="{8AB8FAAC-C1DD-6EAD-4E4B-3EA1CDE4B948}"/>
              </a:ext>
            </a:extLst>
          </p:cNvPr>
          <p:cNvSpPr txBox="1"/>
          <p:nvPr/>
        </p:nvSpPr>
        <p:spPr>
          <a:xfrm>
            <a:off x="362325" y="2023303"/>
            <a:ext cx="2080009" cy="3785652"/>
          </a:xfrm>
          <a:prstGeom prst="rect">
            <a:avLst/>
          </a:prstGeom>
          <a:noFill/>
        </p:spPr>
        <p:txBody>
          <a:bodyPr wrap="square" rtlCol="0">
            <a:spAutoFit/>
          </a:bodyPr>
          <a:lstStyle/>
          <a:p>
            <a:pPr marL="0" indent="0">
              <a:buNone/>
            </a:pPr>
            <a:endParaRPr lang="en-VN" sz="2000">
              <a:latin typeface="Lato" panose="020F0502020204030203" pitchFamily="34" charset="0"/>
              <a:ea typeface="Lato" panose="020F0502020204030203" pitchFamily="34" charset="0"/>
              <a:cs typeface="Lato" panose="020F0502020204030203" pitchFamily="34" charset="0"/>
            </a:endParaRPr>
          </a:p>
          <a:p>
            <a:r>
              <a:rPr lang="en-VN" sz="2000" b="1">
                <a:latin typeface="Lato" panose="020F0502020204030203" pitchFamily="34" charset="0"/>
                <a:ea typeface="Lato" panose="020F0502020204030203" pitchFamily="34" charset="0"/>
                <a:cs typeface="Lato" panose="020F0502020204030203" pitchFamily="34" charset="0"/>
              </a:rPr>
              <a:t>Generative Replays Methods</a:t>
            </a:r>
            <a:r>
              <a:rPr lang="en-VN" sz="2000">
                <a:latin typeface="Lato" panose="020F0502020204030203" pitchFamily="34" charset="0"/>
                <a:ea typeface="Lato" panose="020F0502020204030203" pitchFamily="34" charset="0"/>
                <a:cs typeface="Lato" panose="020F0502020204030203" pitchFamily="34" charset="0"/>
              </a:rPr>
              <a:t>:</a:t>
            </a:r>
            <a:br>
              <a:rPr lang="en-VN" sz="2000">
                <a:latin typeface="Lato" panose="020F0502020204030203" pitchFamily="34" charset="0"/>
                <a:ea typeface="Lato" panose="020F0502020204030203" pitchFamily="34" charset="0"/>
                <a:cs typeface="Lato" panose="020F0502020204030203" pitchFamily="34" charset="0"/>
              </a:rPr>
            </a:br>
            <a:r>
              <a:rPr lang="en-VN" sz="2000">
                <a:latin typeface="Lato" panose="020F0502020204030203" pitchFamily="34" charset="0"/>
                <a:ea typeface="Lato" panose="020F0502020204030203" pitchFamily="34" charset="0"/>
                <a:cs typeface="Lato" panose="020F0502020204030203" pitchFamily="34" charset="0"/>
              </a:rPr>
              <a:t> [4] use </a:t>
            </a:r>
            <a:r>
              <a:rPr lang="en-US" sz="2000" dirty="0">
                <a:latin typeface="Lato" panose="020F0502020204030203" pitchFamily="34" charset="0"/>
                <a:ea typeface="Lato" panose="020F0502020204030203" pitchFamily="34" charset="0"/>
                <a:cs typeface="Lato" panose="020F0502020204030203" pitchFamily="34" charset="0"/>
              </a:rPr>
              <a:t>generative model to create synthetic data that resemble previously learned classes.</a:t>
            </a:r>
          </a:p>
          <a:p>
            <a:endParaRPr lang="en-VN" sz="2000">
              <a:latin typeface="Lato" panose="020F0502020204030203" pitchFamily="34" charset="0"/>
              <a:ea typeface="Lato" panose="020F0502020204030203" pitchFamily="34" charset="0"/>
              <a:cs typeface="Lato" panose="020F0502020204030203" pitchFamily="34" charset="0"/>
            </a:endParaRPr>
          </a:p>
        </p:txBody>
      </p:sp>
      <p:pic>
        <p:nvPicPr>
          <p:cNvPr id="9" name="Picture 8" descr="A diagram of a machine&#10;&#10;Description automatically generated">
            <a:extLst>
              <a:ext uri="{FF2B5EF4-FFF2-40B4-BE49-F238E27FC236}">
                <a16:creationId xmlns:a16="http://schemas.microsoft.com/office/drawing/2014/main" id="{36DE3BC8-DB4D-ABAF-1236-5B1744E57B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7532" y="2154202"/>
            <a:ext cx="5924107" cy="3607358"/>
          </a:xfrm>
          <a:prstGeom prst="rect">
            <a:avLst/>
          </a:prstGeom>
        </p:spPr>
      </p:pic>
    </p:spTree>
    <p:extLst>
      <p:ext uri="{BB962C8B-B14F-4D97-AF65-F5344CB8AC3E}">
        <p14:creationId xmlns:p14="http://schemas.microsoft.com/office/powerpoint/2010/main" val="4251942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D4A15E-4765-DBFA-58D9-425C2E5C726D}"/>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3" name="Title 2">
            <a:extLst>
              <a:ext uri="{FF2B5EF4-FFF2-40B4-BE49-F238E27FC236}">
                <a16:creationId xmlns:a16="http://schemas.microsoft.com/office/drawing/2014/main" id="{C0CD2AEC-A0DA-5935-E720-EF9A8A992B47}"/>
              </a:ext>
            </a:extLst>
          </p:cNvPr>
          <p:cNvSpPr>
            <a:spLocks noGrp="1"/>
          </p:cNvSpPr>
          <p:nvPr>
            <p:ph type="title"/>
          </p:nvPr>
        </p:nvSpPr>
        <p:spPr/>
        <p:txBody>
          <a:bodyPr/>
          <a:lstStyle/>
          <a:p>
            <a:r>
              <a:rPr lang="en-VN" dirty="0"/>
              <a:t>Related Works: Model Based Approach</a:t>
            </a:r>
          </a:p>
        </p:txBody>
      </p:sp>
      <p:sp>
        <p:nvSpPr>
          <p:cNvPr id="4" name="Content Placeholder 3">
            <a:extLst>
              <a:ext uri="{FF2B5EF4-FFF2-40B4-BE49-F238E27FC236}">
                <a16:creationId xmlns:a16="http://schemas.microsoft.com/office/drawing/2014/main" id="{874BE184-680B-A7AB-5F48-B952BE067475}"/>
              </a:ext>
            </a:extLst>
          </p:cNvPr>
          <p:cNvSpPr>
            <a:spLocks noGrp="1"/>
          </p:cNvSpPr>
          <p:nvPr>
            <p:ph sz="quarter" idx="13"/>
          </p:nvPr>
        </p:nvSpPr>
        <p:spPr/>
        <p:txBody>
          <a:bodyPr/>
          <a:lstStyle/>
          <a:p>
            <a:r>
              <a:rPr lang="en-VN" b="1"/>
              <a:t>Network Expanding Methods</a:t>
            </a:r>
            <a:r>
              <a:rPr lang="en-VN"/>
              <a:t>: [5] [6] [7] Adjust the network architecture by adding new component to accom</a:t>
            </a:r>
            <a:r>
              <a:rPr lang="en-US" dirty="0"/>
              <a:t>m</a:t>
            </a:r>
            <a:r>
              <a:rPr lang="en-VN"/>
              <a:t>odate new task while preserving previously learned knowledge.</a:t>
            </a:r>
          </a:p>
          <a:p>
            <a:r>
              <a:rPr lang="en-VN" b="1"/>
              <a:t>Knowledege Distilation Based Methods</a:t>
            </a:r>
            <a:r>
              <a:rPr lang="en-VN"/>
              <a:t>: [1] [8] Transfer knowledge of model from former task to current task model.</a:t>
            </a:r>
          </a:p>
          <a:p>
            <a:r>
              <a:rPr lang="en-VN" b="1"/>
              <a:t>Regularization Based Methods</a:t>
            </a:r>
            <a:r>
              <a:rPr lang="en-VN"/>
              <a:t>: [9] Introduce constraints during the training process to prevent the model from significantly altering the weights asociated with previously learned classes.</a:t>
            </a:r>
          </a:p>
        </p:txBody>
      </p:sp>
    </p:spTree>
    <p:extLst>
      <p:ext uri="{BB962C8B-B14F-4D97-AF65-F5344CB8AC3E}">
        <p14:creationId xmlns:p14="http://schemas.microsoft.com/office/powerpoint/2010/main" val="2284393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08E1B1-D9CD-415A-BCE5-B57F39B2F31D}"/>
              </a:ext>
            </a:extLst>
          </p:cNvPr>
          <p:cNvSpPr>
            <a:spLocks noGrp="1"/>
          </p:cNvSpPr>
          <p:nvPr>
            <p:ph sz="quarter" idx="13"/>
          </p:nvPr>
        </p:nvSpPr>
        <p:spPr>
          <a:xfrm>
            <a:off x="3418779" y="3094226"/>
            <a:ext cx="5543550" cy="2632680"/>
          </a:xfrm>
        </p:spPr>
        <p:txBody>
          <a:bodyPr/>
          <a:lstStyle/>
          <a:p>
            <a:pPr marL="0" indent="0">
              <a:buNone/>
            </a:pPr>
            <a:r>
              <a:rPr lang="en-US" sz="2700" b="1" dirty="0">
                <a:latin typeface="Lato Bold"/>
              </a:rPr>
              <a:t>	3. METHODOLOGY</a:t>
            </a:r>
          </a:p>
        </p:txBody>
      </p:sp>
      <p:sp>
        <p:nvSpPr>
          <p:cNvPr id="4" name="Slide Number Placeholder 3">
            <a:extLst>
              <a:ext uri="{FF2B5EF4-FFF2-40B4-BE49-F238E27FC236}">
                <a16:creationId xmlns:a16="http://schemas.microsoft.com/office/drawing/2014/main" id="{BD91CA00-8B5A-4B5F-AE21-CF0691D64D53}"/>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Tree>
    <p:extLst>
      <p:ext uri="{BB962C8B-B14F-4D97-AF65-F5344CB8AC3E}">
        <p14:creationId xmlns:p14="http://schemas.microsoft.com/office/powerpoint/2010/main" val="3709821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940352-A7AD-F890-D0B1-0F465E19A54F}"/>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
        <p:nvSpPr>
          <p:cNvPr id="3" name="Title 2">
            <a:extLst>
              <a:ext uri="{FF2B5EF4-FFF2-40B4-BE49-F238E27FC236}">
                <a16:creationId xmlns:a16="http://schemas.microsoft.com/office/drawing/2014/main" id="{FCB347D2-313F-3133-51B0-FD03CA07E719}"/>
              </a:ext>
            </a:extLst>
          </p:cNvPr>
          <p:cNvSpPr>
            <a:spLocks noGrp="1"/>
          </p:cNvSpPr>
          <p:nvPr>
            <p:ph type="title"/>
          </p:nvPr>
        </p:nvSpPr>
        <p:spPr/>
        <p:txBody>
          <a:bodyPr/>
          <a:lstStyle/>
          <a:p>
            <a:r>
              <a:rPr lang="en-VN"/>
              <a:t>CIL Flow</a:t>
            </a:r>
          </a:p>
        </p:txBody>
      </p:sp>
      <p:pic>
        <p:nvPicPr>
          <p:cNvPr id="6" name="Picture 5" descr="A diagram of a model&#10;&#10;Description automatically generated">
            <a:extLst>
              <a:ext uri="{FF2B5EF4-FFF2-40B4-BE49-F238E27FC236}">
                <a16:creationId xmlns:a16="http://schemas.microsoft.com/office/drawing/2014/main" id="{784C7792-3660-98C0-BD1D-5EB199B2CC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3983" y="2694431"/>
            <a:ext cx="6642100" cy="2527300"/>
          </a:xfrm>
          <a:prstGeom prst="rect">
            <a:avLst/>
          </a:prstGeom>
        </p:spPr>
      </p:pic>
      <p:sp>
        <p:nvSpPr>
          <p:cNvPr id="7" name="TextBox 6">
            <a:extLst>
              <a:ext uri="{FF2B5EF4-FFF2-40B4-BE49-F238E27FC236}">
                <a16:creationId xmlns:a16="http://schemas.microsoft.com/office/drawing/2014/main" id="{E87DBC6A-8AE9-B214-01F9-A8689CFC2BA5}"/>
              </a:ext>
            </a:extLst>
          </p:cNvPr>
          <p:cNvSpPr txBox="1"/>
          <p:nvPr/>
        </p:nvSpPr>
        <p:spPr>
          <a:xfrm>
            <a:off x="426614" y="994789"/>
            <a:ext cx="7772841" cy="1384995"/>
          </a:xfrm>
          <a:prstGeom prst="rect">
            <a:avLst/>
          </a:prstGeom>
          <a:noFill/>
        </p:spPr>
        <p:txBody>
          <a:bodyPr wrap="square" rtlCol="0">
            <a:spAutoFit/>
          </a:bodyPr>
          <a:lstStyle/>
          <a:p>
            <a:r>
              <a:rPr lang="en-US" sz="2800" dirty="0"/>
              <a:t>The process is iterative, repeating whenever the model encounters a new task. </a:t>
            </a:r>
          </a:p>
          <a:p>
            <a:endParaRPr lang="en-VN" sz="2800"/>
          </a:p>
        </p:txBody>
      </p:sp>
    </p:spTree>
    <p:custDataLst>
      <p:tags r:id="rId1"/>
    </p:custDataLst>
    <p:extLst>
      <p:ext uri="{BB962C8B-B14F-4D97-AF65-F5344CB8AC3E}">
        <p14:creationId xmlns:p14="http://schemas.microsoft.com/office/powerpoint/2010/main" val="1934536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FEC73D-8233-DF15-7D8C-C27AFE3999E1}"/>
              </a:ext>
            </a:extLst>
          </p:cNvPr>
          <p:cNvSpPr>
            <a:spLocks noGrp="1"/>
          </p:cNvSpPr>
          <p:nvPr>
            <p:ph type="sldNum" sz="quarter" idx="12"/>
          </p:nvPr>
        </p:nvSpPr>
        <p:spPr/>
        <p:txBody>
          <a:bodyPr/>
          <a:lstStyle/>
          <a:p>
            <a:fld id="{9EA0BE3B-158A-4EDF-80DC-E394A0D1600F}" type="slidenum">
              <a:rPr lang="en-US" smtClean="0"/>
              <a:pPr/>
              <a:t>15</a:t>
            </a:fld>
            <a:endParaRPr lang="en-US" dirty="0"/>
          </a:p>
        </p:txBody>
      </p:sp>
      <p:sp>
        <p:nvSpPr>
          <p:cNvPr id="3" name="Title 2">
            <a:extLst>
              <a:ext uri="{FF2B5EF4-FFF2-40B4-BE49-F238E27FC236}">
                <a16:creationId xmlns:a16="http://schemas.microsoft.com/office/drawing/2014/main" id="{D86E8E30-B7FC-4504-50D3-B3490204B2CE}"/>
              </a:ext>
            </a:extLst>
          </p:cNvPr>
          <p:cNvSpPr>
            <a:spLocks noGrp="1"/>
          </p:cNvSpPr>
          <p:nvPr>
            <p:ph type="title"/>
          </p:nvPr>
        </p:nvSpPr>
        <p:spPr/>
        <p:txBody>
          <a:bodyPr/>
          <a:lstStyle/>
          <a:p>
            <a:r>
              <a:rPr lang="en-VN" dirty="0"/>
              <a:t>Benchmark Methods</a:t>
            </a:r>
          </a:p>
        </p:txBody>
      </p:sp>
      <p:graphicFrame>
        <p:nvGraphicFramePr>
          <p:cNvPr id="7" name="Table 6">
            <a:extLst>
              <a:ext uri="{FF2B5EF4-FFF2-40B4-BE49-F238E27FC236}">
                <a16:creationId xmlns:a16="http://schemas.microsoft.com/office/drawing/2014/main" id="{D3248D3F-9B32-817B-61F3-8E501F599492}"/>
              </a:ext>
            </a:extLst>
          </p:cNvPr>
          <p:cNvGraphicFramePr>
            <a:graphicFrameLocks noGrp="1"/>
          </p:cNvGraphicFramePr>
          <p:nvPr>
            <p:extLst>
              <p:ext uri="{D42A27DB-BD31-4B8C-83A1-F6EECF244321}">
                <p14:modId xmlns:p14="http://schemas.microsoft.com/office/powerpoint/2010/main" val="360241392"/>
              </p:ext>
            </p:extLst>
          </p:nvPr>
        </p:nvGraphicFramePr>
        <p:xfrm>
          <a:off x="1441598" y="2277662"/>
          <a:ext cx="6260804" cy="3235176"/>
        </p:xfrm>
        <a:graphic>
          <a:graphicData uri="http://schemas.openxmlformats.org/drawingml/2006/table">
            <a:tbl>
              <a:tblPr firstRow="1" bandRow="1">
                <a:tableStyleId>{5C22544A-7EE6-4342-B048-85BDC9FD1C3A}</a:tableStyleId>
              </a:tblPr>
              <a:tblGrid>
                <a:gridCol w="1565201">
                  <a:extLst>
                    <a:ext uri="{9D8B030D-6E8A-4147-A177-3AD203B41FA5}">
                      <a16:colId xmlns:a16="http://schemas.microsoft.com/office/drawing/2014/main" val="4254466345"/>
                    </a:ext>
                  </a:extLst>
                </a:gridCol>
                <a:gridCol w="1565201">
                  <a:extLst>
                    <a:ext uri="{9D8B030D-6E8A-4147-A177-3AD203B41FA5}">
                      <a16:colId xmlns:a16="http://schemas.microsoft.com/office/drawing/2014/main" val="639969801"/>
                    </a:ext>
                  </a:extLst>
                </a:gridCol>
                <a:gridCol w="1565201">
                  <a:extLst>
                    <a:ext uri="{9D8B030D-6E8A-4147-A177-3AD203B41FA5}">
                      <a16:colId xmlns:a16="http://schemas.microsoft.com/office/drawing/2014/main" val="725800589"/>
                    </a:ext>
                  </a:extLst>
                </a:gridCol>
                <a:gridCol w="1565201">
                  <a:extLst>
                    <a:ext uri="{9D8B030D-6E8A-4147-A177-3AD203B41FA5}">
                      <a16:colId xmlns:a16="http://schemas.microsoft.com/office/drawing/2014/main" val="3317399481"/>
                    </a:ext>
                  </a:extLst>
                </a:gridCol>
              </a:tblGrid>
              <a:tr h="777924">
                <a:tc>
                  <a:txBody>
                    <a:bodyPr/>
                    <a:lstStyle/>
                    <a:p>
                      <a:endParaRPr lang="en-VN" dirty="0"/>
                    </a:p>
                  </a:txBody>
                  <a:tcPr/>
                </a:tc>
                <a:tc>
                  <a:txBody>
                    <a:bodyPr/>
                    <a:lstStyle/>
                    <a:p>
                      <a:r>
                        <a:rPr lang="en-VN" dirty="0"/>
                        <a:t>Knowledge Distilation</a:t>
                      </a:r>
                    </a:p>
                  </a:txBody>
                  <a:tcPr/>
                </a:tc>
                <a:tc>
                  <a:txBody>
                    <a:bodyPr/>
                    <a:lstStyle/>
                    <a:p>
                      <a:r>
                        <a:rPr lang="en-VN" dirty="0"/>
                        <a:t>Network Expanding</a:t>
                      </a:r>
                    </a:p>
                  </a:txBody>
                  <a:tcPr/>
                </a:tc>
                <a:tc>
                  <a:txBody>
                    <a:bodyPr/>
                    <a:lstStyle/>
                    <a:p>
                      <a:r>
                        <a:rPr lang="en-VN" dirty="0"/>
                        <a:t>Exemplar Using</a:t>
                      </a:r>
                    </a:p>
                  </a:txBody>
                  <a:tcPr/>
                </a:tc>
                <a:extLst>
                  <a:ext uri="{0D108BD9-81ED-4DB2-BD59-A6C34878D82A}">
                    <a16:rowId xmlns:a16="http://schemas.microsoft.com/office/drawing/2014/main" val="3232117705"/>
                  </a:ext>
                </a:extLst>
              </a:tr>
              <a:tr h="450702">
                <a:tc>
                  <a:txBody>
                    <a:bodyPr/>
                    <a:lstStyle/>
                    <a:p>
                      <a:r>
                        <a:rPr lang="en-VN" dirty="0"/>
                        <a:t>LWF</a:t>
                      </a:r>
                    </a:p>
                  </a:txBody>
                  <a:tcPr/>
                </a:tc>
                <a:tc>
                  <a:txBody>
                    <a:bodyPr/>
                    <a:lstStyle/>
                    <a:p>
                      <a:r>
                        <a:rPr lang="en-VN"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sz="1800" b="0" i="0" kern="1200" dirty="0">
                          <a:solidFill>
                            <a:schemeClr val="dk1"/>
                          </a:solidFill>
                          <a:effectLst/>
                          <a:latin typeface="+mn-lt"/>
                          <a:ea typeface="+mn-ea"/>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sz="1800" b="0" i="0" kern="1200" dirty="0">
                          <a:solidFill>
                            <a:schemeClr val="dk1"/>
                          </a:solidFill>
                          <a:effectLst/>
                          <a:latin typeface="+mn-lt"/>
                          <a:ea typeface="+mn-ea"/>
                          <a:cs typeface="+mn-cs"/>
                        </a:rPr>
                        <a:t>✗</a:t>
                      </a:r>
                    </a:p>
                  </a:txBody>
                  <a:tcPr/>
                </a:tc>
                <a:extLst>
                  <a:ext uri="{0D108BD9-81ED-4DB2-BD59-A6C34878D82A}">
                    <a16:rowId xmlns:a16="http://schemas.microsoft.com/office/drawing/2014/main" val="383183854"/>
                  </a:ext>
                </a:extLst>
              </a:tr>
              <a:tr h="450702">
                <a:tc>
                  <a:txBody>
                    <a:bodyPr/>
                    <a:lstStyle/>
                    <a:p>
                      <a:r>
                        <a:rPr lang="en-VN" dirty="0"/>
                        <a:t>ICARL</a:t>
                      </a:r>
                    </a:p>
                  </a:txBody>
                  <a:tcPr/>
                </a:tc>
                <a:tc>
                  <a:txBody>
                    <a:bodyPr/>
                    <a:lstStyle/>
                    <a:p>
                      <a:r>
                        <a:rPr lang="en-VN"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sz="1800" b="0" i="0" kern="1200" dirty="0">
                          <a:solidFill>
                            <a:schemeClr val="dk1"/>
                          </a:solidFill>
                          <a:effectLst/>
                          <a:latin typeface="+mn-lt"/>
                          <a:ea typeface="+mn-ea"/>
                          <a:cs typeface="+mn-cs"/>
                        </a:rPr>
                        <a:t>✗</a:t>
                      </a:r>
                    </a:p>
                  </a:txBody>
                  <a:tcPr/>
                </a:tc>
                <a:tc>
                  <a:txBody>
                    <a:bodyPr/>
                    <a:lstStyle/>
                    <a:p>
                      <a:r>
                        <a:rPr lang="en-VN" dirty="0"/>
                        <a:t>✓</a:t>
                      </a:r>
                    </a:p>
                  </a:txBody>
                  <a:tcPr/>
                </a:tc>
                <a:extLst>
                  <a:ext uri="{0D108BD9-81ED-4DB2-BD59-A6C34878D82A}">
                    <a16:rowId xmlns:a16="http://schemas.microsoft.com/office/drawing/2014/main" val="3608742363"/>
                  </a:ext>
                </a:extLst>
              </a:tr>
              <a:tr h="777924">
                <a:tc>
                  <a:txBody>
                    <a:bodyPr/>
                    <a:lstStyle/>
                    <a:p>
                      <a:r>
                        <a:rPr lang="en-VN" dirty="0"/>
                        <a:t>DER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sz="1800" b="0" i="0" kern="1200" dirty="0">
                          <a:solidFill>
                            <a:schemeClr val="dk1"/>
                          </a:solidFill>
                          <a:effectLst/>
                          <a:latin typeface="+mn-lt"/>
                          <a:ea typeface="+mn-ea"/>
                          <a:cs typeface="+mn-cs"/>
                        </a:rPr>
                        <a:t>✗</a:t>
                      </a:r>
                    </a:p>
                    <a:p>
                      <a:endParaRPr lang="en-VN" dirty="0"/>
                    </a:p>
                  </a:txBody>
                  <a:tcPr/>
                </a:tc>
                <a:tc>
                  <a:txBody>
                    <a:bodyPr/>
                    <a:lstStyle/>
                    <a:p>
                      <a:r>
                        <a:rPr lang="en-VN" dirty="0"/>
                        <a:t>Backbone Expand</a:t>
                      </a:r>
                    </a:p>
                  </a:txBody>
                  <a:tcPr/>
                </a:tc>
                <a:tc>
                  <a:txBody>
                    <a:bodyPr/>
                    <a:lstStyle/>
                    <a:p>
                      <a:r>
                        <a:rPr lang="en-VN" dirty="0"/>
                        <a:t>✓</a:t>
                      </a:r>
                    </a:p>
                  </a:txBody>
                  <a:tcPr/>
                </a:tc>
                <a:extLst>
                  <a:ext uri="{0D108BD9-81ED-4DB2-BD59-A6C34878D82A}">
                    <a16:rowId xmlns:a16="http://schemas.microsoft.com/office/drawing/2014/main" val="2947313611"/>
                  </a:ext>
                </a:extLst>
              </a:tr>
              <a:tr h="777924">
                <a:tc>
                  <a:txBody>
                    <a:bodyPr/>
                    <a:lstStyle/>
                    <a:p>
                      <a:r>
                        <a:rPr lang="en-VN" dirty="0"/>
                        <a:t>MEMO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sz="1800" b="0" i="0" kern="1200" dirty="0">
                          <a:solidFill>
                            <a:schemeClr val="dk1"/>
                          </a:solidFill>
                          <a:effectLst/>
                          <a:latin typeface="+mn-lt"/>
                          <a:ea typeface="+mn-ea"/>
                          <a:cs typeface="+mn-cs"/>
                        </a:rPr>
                        <a:t>✗</a:t>
                      </a:r>
                    </a:p>
                    <a:p>
                      <a:endParaRPr lang="en-VN" dirty="0"/>
                    </a:p>
                  </a:txBody>
                  <a:tcPr/>
                </a:tc>
                <a:tc>
                  <a:txBody>
                    <a:bodyPr/>
                    <a:lstStyle/>
                    <a:p>
                      <a:r>
                        <a:rPr lang="en-VN" dirty="0"/>
                        <a:t>Deep layer Expand</a:t>
                      </a:r>
                    </a:p>
                  </a:txBody>
                  <a:tcPr/>
                </a:tc>
                <a:tc>
                  <a:txBody>
                    <a:bodyPr/>
                    <a:lstStyle/>
                    <a:p>
                      <a:r>
                        <a:rPr lang="en-VN" dirty="0"/>
                        <a:t>✓</a:t>
                      </a:r>
                    </a:p>
                  </a:txBody>
                  <a:tcPr/>
                </a:tc>
                <a:extLst>
                  <a:ext uri="{0D108BD9-81ED-4DB2-BD59-A6C34878D82A}">
                    <a16:rowId xmlns:a16="http://schemas.microsoft.com/office/drawing/2014/main" val="1448141586"/>
                  </a:ext>
                </a:extLst>
              </a:tr>
            </a:tbl>
          </a:graphicData>
        </a:graphic>
      </p:graphicFrame>
      <p:sp>
        <p:nvSpPr>
          <p:cNvPr id="8" name="TextBox 7">
            <a:extLst>
              <a:ext uri="{FF2B5EF4-FFF2-40B4-BE49-F238E27FC236}">
                <a16:creationId xmlns:a16="http://schemas.microsoft.com/office/drawing/2014/main" id="{AB9F84ED-4072-661D-F374-71AFE47F8FEC}"/>
              </a:ext>
            </a:extLst>
          </p:cNvPr>
          <p:cNvSpPr txBox="1"/>
          <p:nvPr/>
        </p:nvSpPr>
        <p:spPr>
          <a:xfrm>
            <a:off x="1286485" y="988508"/>
            <a:ext cx="6571030" cy="830997"/>
          </a:xfrm>
          <a:prstGeom prst="rect">
            <a:avLst/>
          </a:prstGeom>
          <a:noFill/>
        </p:spPr>
        <p:txBody>
          <a:bodyPr wrap="none" rtlCol="0">
            <a:spAutoFit/>
          </a:bodyPr>
          <a:lstStyle/>
          <a:p>
            <a:r>
              <a:rPr lang="en-VN" sz="2400" dirty="0">
                <a:latin typeface="Lato" panose="020F0502020204030203" pitchFamily="34" charset="0"/>
                <a:ea typeface="Lato" panose="020F0502020204030203" pitchFamily="34" charset="0"/>
                <a:cs typeface="Lato" panose="020F0502020204030203" pitchFamily="34" charset="0"/>
              </a:rPr>
              <a:t>The benchmark methods from 2 approaches: </a:t>
            </a:r>
            <a:br>
              <a:rPr lang="en-VN" sz="2400" dirty="0">
                <a:latin typeface="Lato" panose="020F0502020204030203" pitchFamily="34" charset="0"/>
                <a:ea typeface="Lato" panose="020F0502020204030203" pitchFamily="34" charset="0"/>
                <a:cs typeface="Lato" panose="020F0502020204030203" pitchFamily="34" charset="0"/>
              </a:rPr>
            </a:br>
            <a:r>
              <a:rPr lang="en-VN" sz="2400" dirty="0">
                <a:latin typeface="Lato" panose="020F0502020204030203" pitchFamily="34" charset="0"/>
                <a:ea typeface="Lato" panose="020F0502020204030203" pitchFamily="34" charset="0"/>
                <a:cs typeface="Lato" panose="020F0502020204030203" pitchFamily="34" charset="0"/>
              </a:rPr>
              <a:t>Knowle</a:t>
            </a:r>
            <a:r>
              <a:rPr lang="en-US" sz="2400" dirty="0">
                <a:latin typeface="Lato" panose="020F0502020204030203" pitchFamily="34" charset="0"/>
                <a:ea typeface="Lato" panose="020F0502020204030203" pitchFamily="34" charset="0"/>
                <a:cs typeface="Lato" panose="020F0502020204030203" pitchFamily="34" charset="0"/>
              </a:rPr>
              <a:t>d</a:t>
            </a:r>
            <a:r>
              <a:rPr lang="en-VN" sz="2400" dirty="0">
                <a:latin typeface="Lato" panose="020F0502020204030203" pitchFamily="34" charset="0"/>
                <a:ea typeface="Lato" panose="020F0502020204030203" pitchFamily="34" charset="0"/>
                <a:cs typeface="Lato" panose="020F0502020204030203" pitchFamily="34" charset="0"/>
              </a:rPr>
              <a:t>ge Distilation and Network Expanding.</a:t>
            </a:r>
          </a:p>
        </p:txBody>
      </p:sp>
    </p:spTree>
    <p:extLst>
      <p:ext uri="{BB962C8B-B14F-4D97-AF65-F5344CB8AC3E}">
        <p14:creationId xmlns:p14="http://schemas.microsoft.com/office/powerpoint/2010/main" val="2227266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42931E-550F-4F16-90C4-998E253D2A94}"/>
              </a:ext>
            </a:extLst>
          </p:cNvPr>
          <p:cNvSpPr>
            <a:spLocks noGrp="1"/>
          </p:cNvSpPr>
          <p:nvPr>
            <p:ph type="sldNum" sz="quarter" idx="12"/>
          </p:nvPr>
        </p:nvSpPr>
        <p:spPr/>
        <p:txBody>
          <a:bodyPr/>
          <a:lstStyle/>
          <a:p>
            <a:fld id="{9EA0BE3B-158A-4EDF-80DC-E394A0D1600F}" type="slidenum">
              <a:rPr lang="en-US" smtClean="0"/>
              <a:pPr/>
              <a:t>16</a:t>
            </a:fld>
            <a:endParaRPr lang="en-US" dirty="0"/>
          </a:p>
        </p:txBody>
      </p:sp>
      <p:sp>
        <p:nvSpPr>
          <p:cNvPr id="3" name="Title 2">
            <a:extLst>
              <a:ext uri="{FF2B5EF4-FFF2-40B4-BE49-F238E27FC236}">
                <a16:creationId xmlns:a16="http://schemas.microsoft.com/office/drawing/2014/main" id="{8D632732-3230-6E94-7ABE-E08BAE076260}"/>
              </a:ext>
            </a:extLst>
          </p:cNvPr>
          <p:cNvSpPr>
            <a:spLocks noGrp="1"/>
          </p:cNvSpPr>
          <p:nvPr>
            <p:ph type="title"/>
          </p:nvPr>
        </p:nvSpPr>
        <p:spPr/>
        <p:txBody>
          <a:bodyPr/>
          <a:lstStyle/>
          <a:p>
            <a:r>
              <a:rPr lang="en-VN"/>
              <a:t>LWF: LEARNING WITHOUT FORGETTING</a:t>
            </a:r>
          </a:p>
        </p:txBody>
      </p:sp>
      <p:sp>
        <p:nvSpPr>
          <p:cNvPr id="5" name="Can 4">
            <a:extLst>
              <a:ext uri="{FF2B5EF4-FFF2-40B4-BE49-F238E27FC236}">
                <a16:creationId xmlns:a16="http://schemas.microsoft.com/office/drawing/2014/main" id="{A7A7523F-6DAB-BA33-DF1F-7A73B1EB59D6}"/>
              </a:ext>
            </a:extLst>
          </p:cNvPr>
          <p:cNvSpPr/>
          <p:nvPr/>
        </p:nvSpPr>
        <p:spPr>
          <a:xfrm>
            <a:off x="226998" y="3326443"/>
            <a:ext cx="1059147" cy="1052660"/>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a:t>Dataset</a:t>
            </a:r>
          </a:p>
        </p:txBody>
      </p:sp>
      <p:sp>
        <p:nvSpPr>
          <p:cNvPr id="6" name="Cube 5">
            <a:extLst>
              <a:ext uri="{FF2B5EF4-FFF2-40B4-BE49-F238E27FC236}">
                <a16:creationId xmlns:a16="http://schemas.microsoft.com/office/drawing/2014/main" id="{0B69C39E-40C7-C172-F531-D5F420CFC54D}"/>
              </a:ext>
            </a:extLst>
          </p:cNvPr>
          <p:cNvSpPr/>
          <p:nvPr/>
        </p:nvSpPr>
        <p:spPr>
          <a:xfrm>
            <a:off x="2310036" y="2693052"/>
            <a:ext cx="1778558" cy="844062"/>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a:t>Ensemble of Models</a:t>
            </a:r>
          </a:p>
        </p:txBody>
      </p:sp>
      <p:sp>
        <p:nvSpPr>
          <p:cNvPr id="7" name="Cube 6">
            <a:extLst>
              <a:ext uri="{FF2B5EF4-FFF2-40B4-BE49-F238E27FC236}">
                <a16:creationId xmlns:a16="http://schemas.microsoft.com/office/drawing/2014/main" id="{FE8819B0-A44C-5921-2F5D-CE25D41B546B}"/>
              </a:ext>
            </a:extLst>
          </p:cNvPr>
          <p:cNvSpPr/>
          <p:nvPr/>
        </p:nvSpPr>
        <p:spPr>
          <a:xfrm>
            <a:off x="2310036" y="4219269"/>
            <a:ext cx="1778558" cy="844062"/>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a:t>Single Model</a:t>
            </a:r>
          </a:p>
        </p:txBody>
      </p:sp>
      <p:sp>
        <p:nvSpPr>
          <p:cNvPr id="8" name="Rounded Rectangle 7">
            <a:extLst>
              <a:ext uri="{FF2B5EF4-FFF2-40B4-BE49-F238E27FC236}">
                <a16:creationId xmlns:a16="http://schemas.microsoft.com/office/drawing/2014/main" id="{FEFC6D49-DDE6-A9B3-9576-C7AC13CA1EC5}"/>
              </a:ext>
            </a:extLst>
          </p:cNvPr>
          <p:cNvSpPr/>
          <p:nvPr/>
        </p:nvSpPr>
        <p:spPr>
          <a:xfrm>
            <a:off x="3961020" y="2976824"/>
            <a:ext cx="1577591" cy="3416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a:t>Prediction</a:t>
            </a:r>
          </a:p>
        </p:txBody>
      </p:sp>
      <p:sp>
        <p:nvSpPr>
          <p:cNvPr id="9" name="Rounded Rectangle 8">
            <a:extLst>
              <a:ext uri="{FF2B5EF4-FFF2-40B4-BE49-F238E27FC236}">
                <a16:creationId xmlns:a16="http://schemas.microsoft.com/office/drawing/2014/main" id="{3512FC5B-75D5-6687-7983-6967EE6154BE}"/>
              </a:ext>
            </a:extLst>
          </p:cNvPr>
          <p:cNvSpPr/>
          <p:nvPr/>
        </p:nvSpPr>
        <p:spPr>
          <a:xfrm>
            <a:off x="3961020" y="4458992"/>
            <a:ext cx="1577591" cy="3416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a:t>Prediction</a:t>
            </a:r>
          </a:p>
        </p:txBody>
      </p:sp>
      <p:sp>
        <p:nvSpPr>
          <p:cNvPr id="10" name="Terminator 9">
            <a:extLst>
              <a:ext uri="{FF2B5EF4-FFF2-40B4-BE49-F238E27FC236}">
                <a16:creationId xmlns:a16="http://schemas.microsoft.com/office/drawing/2014/main" id="{65D3CD49-21EB-3A82-EEA8-9F70DDF62B68}"/>
              </a:ext>
            </a:extLst>
          </p:cNvPr>
          <p:cNvSpPr/>
          <p:nvPr/>
        </p:nvSpPr>
        <p:spPr>
          <a:xfrm>
            <a:off x="6238646" y="3767531"/>
            <a:ext cx="1929284" cy="451738"/>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a:t>Distillation Loss</a:t>
            </a:r>
          </a:p>
        </p:txBody>
      </p:sp>
      <p:sp>
        <p:nvSpPr>
          <p:cNvPr id="11" name="Terminator 10">
            <a:extLst>
              <a:ext uri="{FF2B5EF4-FFF2-40B4-BE49-F238E27FC236}">
                <a16:creationId xmlns:a16="http://schemas.microsoft.com/office/drawing/2014/main" id="{B8A5233E-F5F2-D27E-2636-9DD6C7B5009A}"/>
              </a:ext>
            </a:extLst>
          </p:cNvPr>
          <p:cNvSpPr/>
          <p:nvPr/>
        </p:nvSpPr>
        <p:spPr>
          <a:xfrm>
            <a:off x="6238646" y="5014298"/>
            <a:ext cx="1929284" cy="451738"/>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a:t>Cross Entropy Loss</a:t>
            </a:r>
          </a:p>
        </p:txBody>
      </p:sp>
      <p:cxnSp>
        <p:nvCxnSpPr>
          <p:cNvPr id="12" name="Straight Arrow Connector 11">
            <a:extLst>
              <a:ext uri="{FF2B5EF4-FFF2-40B4-BE49-F238E27FC236}">
                <a16:creationId xmlns:a16="http://schemas.microsoft.com/office/drawing/2014/main" id="{FAD0F292-D7BF-ABA2-C37B-8DE0E5A1AE66}"/>
              </a:ext>
            </a:extLst>
          </p:cNvPr>
          <p:cNvCxnSpPr>
            <a:endCxn id="6" idx="2"/>
          </p:cNvCxnSpPr>
          <p:nvPr/>
        </p:nvCxnSpPr>
        <p:spPr>
          <a:xfrm flipV="1">
            <a:off x="1775897" y="3220591"/>
            <a:ext cx="534139" cy="1291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2A5DCB5F-C391-4AFC-C193-0A3F10F849B7}"/>
              </a:ext>
            </a:extLst>
          </p:cNvPr>
          <p:cNvCxnSpPr/>
          <p:nvPr/>
        </p:nvCxnSpPr>
        <p:spPr>
          <a:xfrm flipV="1">
            <a:off x="1775896" y="4787726"/>
            <a:ext cx="534139" cy="1291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AD550A39-C07E-124B-BEA9-7C405F9D01EE}"/>
              </a:ext>
            </a:extLst>
          </p:cNvPr>
          <p:cNvCxnSpPr/>
          <p:nvPr/>
        </p:nvCxnSpPr>
        <p:spPr>
          <a:xfrm>
            <a:off x="1775897" y="3220591"/>
            <a:ext cx="0" cy="1580045"/>
          </a:xfrm>
          <a:prstGeom prst="line">
            <a:avLst/>
          </a:prstGeom>
          <a:ln w="38100"/>
        </p:spPr>
        <p:style>
          <a:lnRef idx="3">
            <a:schemeClr val="dk1"/>
          </a:lnRef>
          <a:fillRef idx="0">
            <a:schemeClr val="dk1"/>
          </a:fillRef>
          <a:effectRef idx="2">
            <a:schemeClr val="dk1"/>
          </a:effectRef>
          <a:fontRef idx="minor">
            <a:schemeClr val="tx1"/>
          </a:fontRef>
        </p:style>
      </p:cxnSp>
      <p:cxnSp>
        <p:nvCxnSpPr>
          <p:cNvPr id="17" name="Straight Connector 16">
            <a:extLst>
              <a:ext uri="{FF2B5EF4-FFF2-40B4-BE49-F238E27FC236}">
                <a16:creationId xmlns:a16="http://schemas.microsoft.com/office/drawing/2014/main" id="{20FF3C6C-78A7-78D6-DB23-316E71166A82}"/>
              </a:ext>
            </a:extLst>
          </p:cNvPr>
          <p:cNvCxnSpPr>
            <a:stCxn id="5" idx="4"/>
          </p:cNvCxnSpPr>
          <p:nvPr/>
        </p:nvCxnSpPr>
        <p:spPr>
          <a:xfrm>
            <a:off x="1286145" y="3852773"/>
            <a:ext cx="489751"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18" name="Straight Connector 17">
            <a:extLst>
              <a:ext uri="{FF2B5EF4-FFF2-40B4-BE49-F238E27FC236}">
                <a16:creationId xmlns:a16="http://schemas.microsoft.com/office/drawing/2014/main" id="{76C91DA0-931C-4493-C49B-62E17CA02E9C}"/>
              </a:ext>
            </a:extLst>
          </p:cNvPr>
          <p:cNvCxnSpPr>
            <a:cxnSpLocks/>
          </p:cNvCxnSpPr>
          <p:nvPr/>
        </p:nvCxnSpPr>
        <p:spPr>
          <a:xfrm>
            <a:off x="5538611" y="3147646"/>
            <a:ext cx="1664677"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id="{1D53E4DE-17BB-BB36-5F88-7A5D802B7E4B}"/>
              </a:ext>
            </a:extLst>
          </p:cNvPr>
          <p:cNvCxnSpPr>
            <a:cxnSpLocks/>
            <a:endCxn id="10" idx="0"/>
          </p:cNvCxnSpPr>
          <p:nvPr/>
        </p:nvCxnSpPr>
        <p:spPr>
          <a:xfrm>
            <a:off x="7200346" y="3147646"/>
            <a:ext cx="2942" cy="619885"/>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64743197-62E7-5DB7-BCD2-2364567281B0}"/>
              </a:ext>
            </a:extLst>
          </p:cNvPr>
          <p:cNvCxnSpPr>
            <a:cxnSpLocks/>
          </p:cNvCxnSpPr>
          <p:nvPr/>
        </p:nvCxnSpPr>
        <p:spPr>
          <a:xfrm>
            <a:off x="4949403" y="3971749"/>
            <a:ext cx="1289243"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C9E9638F-2C57-AFA6-579C-DE3F7BF12663}"/>
              </a:ext>
            </a:extLst>
          </p:cNvPr>
          <p:cNvCxnSpPr>
            <a:cxnSpLocks/>
          </p:cNvCxnSpPr>
          <p:nvPr/>
        </p:nvCxnSpPr>
        <p:spPr>
          <a:xfrm>
            <a:off x="4949403" y="5240167"/>
            <a:ext cx="1289243"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9" name="Straight Connector 28">
            <a:extLst>
              <a:ext uri="{FF2B5EF4-FFF2-40B4-BE49-F238E27FC236}">
                <a16:creationId xmlns:a16="http://schemas.microsoft.com/office/drawing/2014/main" id="{7C6F6FE9-D75B-76F0-E881-648D4ADF3648}"/>
              </a:ext>
            </a:extLst>
          </p:cNvPr>
          <p:cNvCxnSpPr/>
          <p:nvPr/>
        </p:nvCxnSpPr>
        <p:spPr>
          <a:xfrm>
            <a:off x="4949403" y="3971749"/>
            <a:ext cx="0" cy="487243"/>
          </a:xfrm>
          <a:prstGeom prst="line">
            <a:avLst/>
          </a:prstGeom>
          <a:ln w="38100"/>
        </p:spPr>
        <p:style>
          <a:lnRef idx="3">
            <a:schemeClr val="dk1"/>
          </a:lnRef>
          <a:fillRef idx="0">
            <a:schemeClr val="dk1"/>
          </a:fillRef>
          <a:effectRef idx="2">
            <a:schemeClr val="dk1"/>
          </a:effectRef>
          <a:fontRef idx="minor">
            <a:schemeClr val="tx1"/>
          </a:fontRef>
        </p:style>
      </p:cxnSp>
      <p:cxnSp>
        <p:nvCxnSpPr>
          <p:cNvPr id="30" name="Straight Connector 29">
            <a:extLst>
              <a:ext uri="{FF2B5EF4-FFF2-40B4-BE49-F238E27FC236}">
                <a16:creationId xmlns:a16="http://schemas.microsoft.com/office/drawing/2014/main" id="{A61156D3-9946-CD5C-969F-4D2B37D3712B}"/>
              </a:ext>
            </a:extLst>
          </p:cNvPr>
          <p:cNvCxnSpPr>
            <a:cxnSpLocks/>
          </p:cNvCxnSpPr>
          <p:nvPr/>
        </p:nvCxnSpPr>
        <p:spPr>
          <a:xfrm>
            <a:off x="4949403" y="4800636"/>
            <a:ext cx="0" cy="439531"/>
          </a:xfrm>
          <a:prstGeom prst="line">
            <a:avLst/>
          </a:prstGeom>
          <a:ln w="38100"/>
        </p:spPr>
        <p:style>
          <a:lnRef idx="3">
            <a:schemeClr val="dk1"/>
          </a:lnRef>
          <a:fillRef idx="0">
            <a:schemeClr val="dk1"/>
          </a:fillRef>
          <a:effectRef idx="2">
            <a:schemeClr val="dk1"/>
          </a:effectRef>
          <a:fontRef idx="minor">
            <a:schemeClr val="tx1"/>
          </a:fontRef>
        </p:style>
      </p:cxnSp>
      <p:sp>
        <p:nvSpPr>
          <p:cNvPr id="32" name="TextBox 31">
            <a:extLst>
              <a:ext uri="{FF2B5EF4-FFF2-40B4-BE49-F238E27FC236}">
                <a16:creationId xmlns:a16="http://schemas.microsoft.com/office/drawing/2014/main" id="{AD27DF82-4F76-84B7-CC59-C173828806FD}"/>
              </a:ext>
            </a:extLst>
          </p:cNvPr>
          <p:cNvSpPr txBox="1"/>
          <p:nvPr/>
        </p:nvSpPr>
        <p:spPr>
          <a:xfrm>
            <a:off x="6488053" y="5715728"/>
            <a:ext cx="1424586" cy="369332"/>
          </a:xfrm>
          <a:prstGeom prst="rect">
            <a:avLst/>
          </a:prstGeom>
          <a:solidFill>
            <a:srgbClr val="00B050"/>
          </a:solidFill>
        </p:spPr>
        <p:txBody>
          <a:bodyPr wrap="square" rtlCol="0">
            <a:spAutoFit/>
          </a:bodyPr>
          <a:lstStyle/>
          <a:p>
            <a:r>
              <a:rPr lang="en-US" dirty="0"/>
              <a:t>Actual labels</a:t>
            </a:r>
          </a:p>
        </p:txBody>
      </p:sp>
      <p:cxnSp>
        <p:nvCxnSpPr>
          <p:cNvPr id="34" name="Straight Arrow Connector 33">
            <a:extLst>
              <a:ext uri="{FF2B5EF4-FFF2-40B4-BE49-F238E27FC236}">
                <a16:creationId xmlns:a16="http://schemas.microsoft.com/office/drawing/2014/main" id="{00659706-FF5D-616A-FFDF-F6157EE941A2}"/>
              </a:ext>
            </a:extLst>
          </p:cNvPr>
          <p:cNvCxnSpPr>
            <a:cxnSpLocks/>
            <a:stCxn id="32" idx="0"/>
            <a:endCxn id="11" idx="2"/>
          </p:cNvCxnSpPr>
          <p:nvPr/>
        </p:nvCxnSpPr>
        <p:spPr>
          <a:xfrm flipV="1">
            <a:off x="7200346" y="5466036"/>
            <a:ext cx="2942" cy="249692"/>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5" name="Straight Connector 44">
            <a:extLst>
              <a:ext uri="{FF2B5EF4-FFF2-40B4-BE49-F238E27FC236}">
                <a16:creationId xmlns:a16="http://schemas.microsoft.com/office/drawing/2014/main" id="{563C1E03-2082-6BC7-8F7D-EDEE1FE1EC35}"/>
              </a:ext>
            </a:extLst>
          </p:cNvPr>
          <p:cNvCxnSpPr>
            <a:cxnSpLocks/>
          </p:cNvCxnSpPr>
          <p:nvPr/>
        </p:nvCxnSpPr>
        <p:spPr>
          <a:xfrm>
            <a:off x="3199315" y="6321152"/>
            <a:ext cx="5461477" cy="0"/>
          </a:xfrm>
          <a:prstGeom prst="line">
            <a:avLst/>
          </a:prstGeom>
          <a:ln w="38100">
            <a:prstDash val="solid"/>
          </a:ln>
        </p:spPr>
        <p:style>
          <a:lnRef idx="3">
            <a:schemeClr val="dk1"/>
          </a:lnRef>
          <a:fillRef idx="0">
            <a:schemeClr val="dk1"/>
          </a:fillRef>
          <a:effectRef idx="2">
            <a:schemeClr val="dk1"/>
          </a:effectRef>
          <a:fontRef idx="minor">
            <a:schemeClr val="tx1"/>
          </a:fontRef>
        </p:style>
      </p:cxnSp>
      <p:cxnSp>
        <p:nvCxnSpPr>
          <p:cNvPr id="47" name="Straight Arrow Connector 46">
            <a:extLst>
              <a:ext uri="{FF2B5EF4-FFF2-40B4-BE49-F238E27FC236}">
                <a16:creationId xmlns:a16="http://schemas.microsoft.com/office/drawing/2014/main" id="{2372311A-F917-1844-43A5-C8830DC941D2}"/>
              </a:ext>
            </a:extLst>
          </p:cNvPr>
          <p:cNvCxnSpPr>
            <a:cxnSpLocks/>
          </p:cNvCxnSpPr>
          <p:nvPr/>
        </p:nvCxnSpPr>
        <p:spPr>
          <a:xfrm flipV="1">
            <a:off x="3199315" y="5134018"/>
            <a:ext cx="0" cy="1187134"/>
          </a:xfrm>
          <a:prstGeom prst="straightConnector1">
            <a:avLst/>
          </a:prstGeom>
          <a:ln w="38100">
            <a:prstDash val="solid"/>
            <a:tailEnd type="triangle"/>
          </a:ln>
        </p:spPr>
        <p:style>
          <a:lnRef idx="3">
            <a:schemeClr val="dk1"/>
          </a:lnRef>
          <a:fillRef idx="0">
            <a:schemeClr val="dk1"/>
          </a:fillRef>
          <a:effectRef idx="2">
            <a:schemeClr val="dk1"/>
          </a:effectRef>
          <a:fontRef idx="minor">
            <a:schemeClr val="tx1"/>
          </a:fontRef>
        </p:style>
      </p:cxnSp>
      <p:cxnSp>
        <p:nvCxnSpPr>
          <p:cNvPr id="49" name="Straight Connector 48">
            <a:extLst>
              <a:ext uri="{FF2B5EF4-FFF2-40B4-BE49-F238E27FC236}">
                <a16:creationId xmlns:a16="http://schemas.microsoft.com/office/drawing/2014/main" id="{C9C28CEE-AF6C-20F7-A8D6-57510874F6ED}"/>
              </a:ext>
            </a:extLst>
          </p:cNvPr>
          <p:cNvCxnSpPr>
            <a:cxnSpLocks/>
          </p:cNvCxnSpPr>
          <p:nvPr/>
        </p:nvCxnSpPr>
        <p:spPr>
          <a:xfrm>
            <a:off x="8660792" y="4658889"/>
            <a:ext cx="0" cy="1650102"/>
          </a:xfrm>
          <a:prstGeom prst="line">
            <a:avLst/>
          </a:prstGeom>
          <a:ln w="38100">
            <a:prstDash val="solid"/>
          </a:ln>
        </p:spPr>
        <p:style>
          <a:lnRef idx="3">
            <a:schemeClr val="dk1"/>
          </a:lnRef>
          <a:fillRef idx="0">
            <a:schemeClr val="dk1"/>
          </a:fillRef>
          <a:effectRef idx="2">
            <a:schemeClr val="dk1"/>
          </a:effectRef>
          <a:fontRef idx="minor">
            <a:schemeClr val="tx1"/>
          </a:fontRef>
        </p:style>
      </p:cxnSp>
      <p:sp>
        <p:nvSpPr>
          <p:cNvPr id="56" name="Right Brace 55">
            <a:extLst>
              <a:ext uri="{FF2B5EF4-FFF2-40B4-BE49-F238E27FC236}">
                <a16:creationId xmlns:a16="http://schemas.microsoft.com/office/drawing/2014/main" id="{29CB62B6-8452-8A68-3DEB-15F6783A12A7}"/>
              </a:ext>
            </a:extLst>
          </p:cNvPr>
          <p:cNvSpPr/>
          <p:nvPr/>
        </p:nvSpPr>
        <p:spPr>
          <a:xfrm>
            <a:off x="8239650" y="3993400"/>
            <a:ext cx="349422" cy="1246766"/>
          </a:xfrm>
          <a:prstGeom prst="rightBrace">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dirty="0"/>
          </a:p>
        </p:txBody>
      </p:sp>
      <p:sp>
        <p:nvSpPr>
          <p:cNvPr id="58" name="TextBox 57">
            <a:extLst>
              <a:ext uri="{FF2B5EF4-FFF2-40B4-BE49-F238E27FC236}">
                <a16:creationId xmlns:a16="http://schemas.microsoft.com/office/drawing/2014/main" id="{2C07E05A-B6A8-AAF1-26E3-37E4E21F23AD}"/>
              </a:ext>
            </a:extLst>
          </p:cNvPr>
          <p:cNvSpPr txBox="1"/>
          <p:nvPr/>
        </p:nvSpPr>
        <p:spPr>
          <a:xfrm>
            <a:off x="6062703" y="3227046"/>
            <a:ext cx="1289242" cy="369332"/>
          </a:xfrm>
          <a:prstGeom prst="rect">
            <a:avLst/>
          </a:prstGeom>
          <a:noFill/>
        </p:spPr>
        <p:txBody>
          <a:bodyPr wrap="square" rtlCol="0">
            <a:spAutoFit/>
          </a:bodyPr>
          <a:lstStyle/>
          <a:p>
            <a:r>
              <a:rPr lang="en-US" dirty="0"/>
              <a:t>Soft labels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39ADD54-31D1-89BB-2C9C-0E6550F219CE}"/>
                  </a:ext>
                </a:extLst>
              </p:cNvPr>
              <p:cNvSpPr txBox="1"/>
              <p:nvPr/>
            </p:nvSpPr>
            <p:spPr>
              <a:xfrm>
                <a:off x="332531" y="854299"/>
                <a:ext cx="3756063" cy="733086"/>
              </a:xfrm>
              <a:prstGeom prst="rect">
                <a:avLst/>
              </a:prstGeom>
              <a:noFill/>
            </p:spPr>
            <p:txBody>
              <a:bodyPr wrap="square" rtlCol="0">
                <a:spAutoFit/>
              </a:bodyPr>
              <a:lstStyle/>
              <a:p>
                <a:r>
                  <a:rPr lang="en-VN" dirty="0"/>
                  <a:t>Soft label: </a:t>
                </a:r>
                <a14:m>
                  <m:oMath xmlns:m="http://schemas.openxmlformats.org/officeDocument/2006/math">
                    <m:sSub>
                      <m:sSubPr>
                        <m:ctrlPr>
                          <a:rPr lang="en-VN" i="1" smtClean="0">
                            <a:latin typeface="Cambria Math" panose="02040503050406030204" pitchFamily="18" charset="0"/>
                          </a:rPr>
                        </m:ctrlPr>
                      </m:sSubPr>
                      <m:e>
                        <m:r>
                          <a:rPr lang="en-VN" i="1" smtClean="0">
                            <a:latin typeface="Cambria Math" panose="02040503050406030204" pitchFamily="18" charset="0"/>
                            <a:ea typeface="Cambria Math" panose="02040503050406030204" pitchFamily="18" charset="0"/>
                          </a:rPr>
                          <m:t>𝒮</m:t>
                        </m:r>
                      </m:e>
                      <m:sub>
                        <m:r>
                          <m:rPr>
                            <m:sty m:val="p"/>
                          </m:rPr>
                          <a:rPr lang="en-VN" i="1">
                            <a:latin typeface="Cambria Math" panose="02040503050406030204" pitchFamily="18" charset="0"/>
                          </a:rPr>
                          <m:t>soft</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vi-VN" b="0" i="1" smtClean="0">
                        <a:latin typeface="Cambria Math" panose="02040503050406030204" pitchFamily="18" charset="0"/>
                      </a:rPr>
                      <m:t>= </m:t>
                    </m:r>
                    <m:f>
                      <m:fPr>
                        <m:ctrlPr>
                          <a:rPr lang="vi-VN" b="0" i="1" smtClean="0">
                            <a:latin typeface="Cambria Math" panose="02040503050406030204" pitchFamily="18" charset="0"/>
                          </a:rPr>
                        </m:ctrlPr>
                      </m:fPr>
                      <m:num>
                        <m:r>
                          <m:rPr>
                            <m:sty m:val="p"/>
                          </m:rPr>
                          <a:rPr lang="en-US" b="0" i="0" smtClean="0">
                            <a:latin typeface="Cambria Math" panose="02040503050406030204" pitchFamily="18" charset="0"/>
                          </a:rPr>
                          <m:t>exp</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𝑖</m:t>
                                </m:r>
                              </m:sub>
                            </m:sSub>
                          </m:num>
                          <m:den>
                            <m:r>
                              <a:rPr lang="en-US" b="0" i="1" smtClean="0">
                                <a:latin typeface="Cambria Math" panose="02040503050406030204" pitchFamily="18" charset="0"/>
                              </a:rPr>
                              <m:t>𝑇</m:t>
                            </m:r>
                          </m:den>
                        </m:f>
                        <m:r>
                          <a:rPr lang="en-US" b="0" i="1" smtClean="0">
                            <a:latin typeface="Cambria Math" panose="02040503050406030204" pitchFamily="18" charset="0"/>
                          </a:rPr>
                          <m:t>)</m:t>
                        </m:r>
                      </m:num>
                      <m:den>
                        <m:nary>
                          <m:naryPr>
                            <m:chr m:val="∑"/>
                            <m:subHide m:val="on"/>
                            <m:supHide m:val="on"/>
                            <m:ctrlPr>
                              <a:rPr lang="vi-VN" b="0" i="1" smtClean="0">
                                <a:latin typeface="Cambria Math" panose="02040503050406030204" pitchFamily="18" charset="0"/>
                              </a:rPr>
                            </m:ctrlPr>
                          </m:naryPr>
                          <m:sub/>
                          <m:sup/>
                          <m:e>
                            <m:r>
                              <m:rPr>
                                <m:sty m:val="p"/>
                              </m:rPr>
                              <a:rPr lang="en-US" b="0" i="0" smtClean="0">
                                <a:latin typeface="Cambria Math" panose="02040503050406030204" pitchFamily="18" charset="0"/>
                              </a:rPr>
                              <m:t>exp</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𝑗</m:t>
                                    </m:r>
                                  </m:sub>
                                </m:sSub>
                              </m:num>
                              <m:den>
                                <m:r>
                                  <a:rPr lang="en-US" b="0" i="1" smtClean="0">
                                    <a:latin typeface="Cambria Math" panose="02040503050406030204" pitchFamily="18" charset="0"/>
                                  </a:rPr>
                                  <m:t>𝑇</m:t>
                                </m:r>
                              </m:den>
                            </m:f>
                            <m:r>
                              <a:rPr lang="en-US" b="0" i="1" smtClean="0">
                                <a:latin typeface="Cambria Math" panose="02040503050406030204" pitchFamily="18" charset="0"/>
                              </a:rPr>
                              <m:t>)</m:t>
                            </m:r>
                          </m:e>
                        </m:nary>
                      </m:den>
                    </m:f>
                  </m:oMath>
                </a14:m>
                <a:r>
                  <a:rPr lang="en-VN" dirty="0"/>
                  <a:t> </a:t>
                </a:r>
              </a:p>
            </p:txBody>
          </p:sp>
        </mc:Choice>
        <mc:Fallback xmlns="">
          <p:sp>
            <p:nvSpPr>
              <p:cNvPr id="4" name="TextBox 3">
                <a:extLst>
                  <a:ext uri="{FF2B5EF4-FFF2-40B4-BE49-F238E27FC236}">
                    <a16:creationId xmlns:a16="http://schemas.microsoft.com/office/drawing/2014/main" id="{239ADD54-31D1-89BB-2C9C-0E6550F219CE}"/>
                  </a:ext>
                </a:extLst>
              </p:cNvPr>
              <p:cNvSpPr txBox="1">
                <a:spLocks noRot="1" noChangeAspect="1" noMove="1" noResize="1" noEditPoints="1" noAdjustHandles="1" noChangeArrowheads="1" noChangeShapeType="1" noTextEdit="1"/>
              </p:cNvSpPr>
              <p:nvPr/>
            </p:nvSpPr>
            <p:spPr>
              <a:xfrm>
                <a:off x="332531" y="854299"/>
                <a:ext cx="3756063" cy="733086"/>
              </a:xfrm>
              <a:prstGeom prst="rect">
                <a:avLst/>
              </a:prstGeom>
              <a:blipFill>
                <a:blip r:embed="rId2"/>
                <a:stretch>
                  <a:fillRect l="-1347" b="-5862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8F41ED1-FC51-E12D-82F6-92A52F59732A}"/>
                  </a:ext>
                </a:extLst>
              </p:cNvPr>
              <p:cNvSpPr txBox="1"/>
              <p:nvPr/>
            </p:nvSpPr>
            <p:spPr>
              <a:xfrm>
                <a:off x="332531" y="1788173"/>
                <a:ext cx="8448595" cy="411331"/>
              </a:xfrm>
              <a:prstGeom prst="rect">
                <a:avLst/>
              </a:prstGeom>
              <a:noFill/>
            </p:spPr>
            <p:txBody>
              <a:bodyPr wrap="none" rtlCol="0">
                <a:spAutoFit/>
              </a:bodyPr>
              <a:lstStyle/>
              <a:p>
                <a:r>
                  <a:rPr lang="en-VN"/>
                  <a:t>Distillation Loss: </a:t>
                </a:r>
                <a14:m>
                  <m:oMath xmlns:m="http://schemas.openxmlformats.org/officeDocument/2006/math">
                    <m:sSub>
                      <m:sSubPr>
                        <m:ctrlPr>
                          <a:rPr lang="en-VN" i="1" smtClean="0">
                            <a:latin typeface="Cambria Math" panose="02040503050406030204" pitchFamily="18" charset="0"/>
                          </a:rPr>
                        </m:ctrlPr>
                      </m:sSubPr>
                      <m:e>
                        <m:r>
                          <a:rPr lang="en-VN" i="1" smtClean="0">
                            <a:latin typeface="Cambria Math" panose="02040503050406030204" pitchFamily="18" charset="0"/>
                            <a:ea typeface="Cambria Math" panose="02040503050406030204" pitchFamily="18" charset="0"/>
                          </a:rPr>
                          <m:t>ℒ</m:t>
                        </m:r>
                      </m:e>
                      <m:sub>
                        <m:r>
                          <a:rPr lang="en-US" b="0" i="1" smtClean="0">
                            <a:latin typeface="Cambria Math" panose="02040503050406030204" pitchFamily="18" charset="0"/>
                          </a:rPr>
                          <m:t>𝑜𝑙𝑑</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𝒮</m:t>
                        </m:r>
                      </m:e>
                      <m:sub>
                        <m:r>
                          <a:rPr lang="en-US" b="0" i="1" smtClean="0">
                            <a:latin typeface="Cambria Math" panose="02040503050406030204" pitchFamily="18" charset="0"/>
                          </a:rPr>
                          <m:t>𝑠𝑜𝑓𝑡</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ℱ</m:t>
                            </m:r>
                          </m:e>
                          <m:sub>
                            <m:r>
                              <a:rPr lang="en-US" b="0" i="1" smtClean="0">
                                <a:latin typeface="Cambria Math" panose="02040503050406030204" pitchFamily="18" charset="0"/>
                              </a:rPr>
                              <m:t>𝑡𝑒𝑎𝑐h𝑒𝑟</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Φ</m:t>
                                </m:r>
                              </m:e>
                              <m:sub>
                                <m:r>
                                  <a:rPr lang="en-US" b="0" i="1" smtClean="0">
                                    <a:latin typeface="Cambria Math" panose="02040503050406030204" pitchFamily="18" charset="0"/>
                                  </a:rPr>
                                  <m:t>𝑡𝑒𝑎𝑐h𝑒𝑟</m:t>
                                </m:r>
                              </m:sub>
                            </m:sSub>
                          </m:e>
                        </m:d>
                      </m:e>
                    </m:d>
                    <m:r>
                      <a:rPr lang="en-US" b="0" i="1" smtClean="0">
                        <a:latin typeface="Cambria Math" panose="02040503050406030204" pitchFamily="18" charset="0"/>
                      </a:rPr>
                      <m:t>∗</m:t>
                    </m:r>
                    <m:r>
                      <a:rPr lang="en-US" b="0" i="1" smtClean="0">
                        <a:latin typeface="Cambria Math" panose="02040503050406030204" pitchFamily="18" charset="0"/>
                      </a:rPr>
                      <m:t>𝐿𝑜𝑔</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𝒮</m:t>
                        </m:r>
                      </m:e>
                      <m:sub>
                        <m:r>
                          <a:rPr lang="en-US" i="1">
                            <a:latin typeface="Cambria Math" panose="02040503050406030204" pitchFamily="18" charset="0"/>
                          </a:rPr>
                          <m:t>𝑠𝑜𝑓𝑡</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ℱ</m:t>
                            </m:r>
                          </m:e>
                          <m:sub>
                            <m:r>
                              <a:rPr lang="en-US" b="0" i="1" smtClean="0">
                                <a:latin typeface="Cambria Math" panose="02040503050406030204" pitchFamily="18" charset="0"/>
                                <a:ea typeface="Cambria Math" panose="02040503050406030204" pitchFamily="18" charset="0"/>
                              </a:rPr>
                              <m:t>𝑠𝑡𝑢𝑑𝑒𝑛𝑡</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Φ</m:t>
                                </m:r>
                              </m:e>
                              <m:sub>
                                <m:r>
                                  <a:rPr lang="en-US" b="0" i="1" smtClean="0">
                                    <a:latin typeface="Cambria Math" panose="02040503050406030204" pitchFamily="18" charset="0"/>
                                    <a:ea typeface="Cambria Math" panose="02040503050406030204" pitchFamily="18" charset="0"/>
                                  </a:rPr>
                                  <m:t>𝑠𝑡𝑢𝑑𝑒𝑛𝑡</m:t>
                                </m:r>
                              </m:sub>
                            </m:sSub>
                          </m:e>
                        </m:d>
                      </m:e>
                    </m:d>
                    <m:r>
                      <a:rPr lang="en-US" b="0" i="1" smtClean="0">
                        <a:latin typeface="Cambria Math" panose="02040503050406030204" pitchFamily="18" charset="0"/>
                      </a:rPr>
                      <m:t>)</m:t>
                    </m:r>
                  </m:oMath>
                </a14:m>
                <a:endParaRPr lang="en-VN"/>
              </a:p>
            </p:txBody>
          </p:sp>
        </mc:Choice>
        <mc:Fallback xmlns="">
          <p:sp>
            <p:nvSpPr>
              <p:cNvPr id="14" name="TextBox 13">
                <a:extLst>
                  <a:ext uri="{FF2B5EF4-FFF2-40B4-BE49-F238E27FC236}">
                    <a16:creationId xmlns:a16="http://schemas.microsoft.com/office/drawing/2014/main" id="{58F41ED1-FC51-E12D-82F6-92A52F59732A}"/>
                  </a:ext>
                </a:extLst>
              </p:cNvPr>
              <p:cNvSpPr txBox="1">
                <a:spLocks noRot="1" noChangeAspect="1" noMove="1" noResize="1" noEditPoints="1" noAdjustHandles="1" noChangeArrowheads="1" noChangeShapeType="1" noTextEdit="1"/>
              </p:cNvSpPr>
              <p:nvPr/>
            </p:nvSpPr>
            <p:spPr>
              <a:xfrm>
                <a:off x="332531" y="1788173"/>
                <a:ext cx="8448595" cy="411331"/>
              </a:xfrm>
              <a:prstGeom prst="rect">
                <a:avLst/>
              </a:prstGeom>
              <a:blipFill>
                <a:blip r:embed="rId3"/>
                <a:stretch>
                  <a:fillRect l="-601" r="-150" b="-17647"/>
                </a:stretch>
              </a:blipFill>
            </p:spPr>
            <p:txBody>
              <a:bodyPr/>
              <a:lstStyle/>
              <a:p>
                <a:r>
                  <a:rPr lang="en-VN">
                    <a:noFill/>
                  </a:rPr>
                  <a:t> </a:t>
                </a:r>
              </a:p>
            </p:txBody>
          </p:sp>
        </mc:Fallback>
      </mc:AlternateContent>
    </p:spTree>
    <p:extLst>
      <p:ext uri="{BB962C8B-B14F-4D97-AF65-F5344CB8AC3E}">
        <p14:creationId xmlns:p14="http://schemas.microsoft.com/office/powerpoint/2010/main" val="3190180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42931E-550F-4F16-90C4-998E253D2A94}"/>
              </a:ext>
            </a:extLst>
          </p:cNvPr>
          <p:cNvSpPr>
            <a:spLocks noGrp="1"/>
          </p:cNvSpPr>
          <p:nvPr>
            <p:ph type="sldNum" sz="quarter" idx="12"/>
          </p:nvPr>
        </p:nvSpPr>
        <p:spPr/>
        <p:txBody>
          <a:bodyPr/>
          <a:lstStyle/>
          <a:p>
            <a:fld id="{9EA0BE3B-158A-4EDF-80DC-E394A0D1600F}" type="slidenum">
              <a:rPr lang="en-US" smtClean="0"/>
              <a:pPr/>
              <a:t>17</a:t>
            </a:fld>
            <a:endParaRPr lang="en-US" dirty="0"/>
          </a:p>
        </p:txBody>
      </p:sp>
      <p:sp>
        <p:nvSpPr>
          <p:cNvPr id="3" name="Title 2">
            <a:extLst>
              <a:ext uri="{FF2B5EF4-FFF2-40B4-BE49-F238E27FC236}">
                <a16:creationId xmlns:a16="http://schemas.microsoft.com/office/drawing/2014/main" id="{8D632732-3230-6E94-7ABE-E08BAE076260}"/>
              </a:ext>
            </a:extLst>
          </p:cNvPr>
          <p:cNvSpPr>
            <a:spLocks noGrp="1"/>
          </p:cNvSpPr>
          <p:nvPr>
            <p:ph type="title"/>
          </p:nvPr>
        </p:nvSpPr>
        <p:spPr/>
        <p:txBody>
          <a:bodyPr/>
          <a:lstStyle/>
          <a:p>
            <a:r>
              <a:rPr lang="en-VN"/>
              <a:t>LWF: LEARNING WITHOUT FORGETTING</a:t>
            </a:r>
          </a:p>
        </p:txBody>
      </p:sp>
      <p:sp>
        <p:nvSpPr>
          <p:cNvPr id="5" name="Can 4">
            <a:extLst>
              <a:ext uri="{FF2B5EF4-FFF2-40B4-BE49-F238E27FC236}">
                <a16:creationId xmlns:a16="http://schemas.microsoft.com/office/drawing/2014/main" id="{A7A7523F-6DAB-BA33-DF1F-7A73B1EB59D6}"/>
              </a:ext>
            </a:extLst>
          </p:cNvPr>
          <p:cNvSpPr/>
          <p:nvPr/>
        </p:nvSpPr>
        <p:spPr>
          <a:xfrm>
            <a:off x="226998" y="3326443"/>
            <a:ext cx="1059147" cy="1052660"/>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a:t>Dataset at task t</a:t>
            </a:r>
          </a:p>
        </p:txBody>
      </p:sp>
      <p:sp>
        <p:nvSpPr>
          <p:cNvPr id="6" name="Cube 5">
            <a:extLst>
              <a:ext uri="{FF2B5EF4-FFF2-40B4-BE49-F238E27FC236}">
                <a16:creationId xmlns:a16="http://schemas.microsoft.com/office/drawing/2014/main" id="{0B69C39E-40C7-C172-F531-D5F420CFC54D}"/>
              </a:ext>
            </a:extLst>
          </p:cNvPr>
          <p:cNvSpPr/>
          <p:nvPr/>
        </p:nvSpPr>
        <p:spPr>
          <a:xfrm>
            <a:off x="2310036" y="2693052"/>
            <a:ext cx="1778558" cy="844062"/>
          </a:xfrm>
          <a:prstGeom prst="cub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a:t>Freeze model at task t - 1</a:t>
            </a:r>
          </a:p>
        </p:txBody>
      </p:sp>
      <p:sp>
        <p:nvSpPr>
          <p:cNvPr id="7" name="Cube 6">
            <a:extLst>
              <a:ext uri="{FF2B5EF4-FFF2-40B4-BE49-F238E27FC236}">
                <a16:creationId xmlns:a16="http://schemas.microsoft.com/office/drawing/2014/main" id="{FE8819B0-A44C-5921-2F5D-CE25D41B546B}"/>
              </a:ext>
            </a:extLst>
          </p:cNvPr>
          <p:cNvSpPr/>
          <p:nvPr/>
        </p:nvSpPr>
        <p:spPr>
          <a:xfrm>
            <a:off x="2310036" y="4219269"/>
            <a:ext cx="1778558" cy="844062"/>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Model at task t</a:t>
            </a:r>
          </a:p>
        </p:txBody>
      </p:sp>
      <p:sp>
        <p:nvSpPr>
          <p:cNvPr id="8" name="Rounded Rectangle 7">
            <a:extLst>
              <a:ext uri="{FF2B5EF4-FFF2-40B4-BE49-F238E27FC236}">
                <a16:creationId xmlns:a16="http://schemas.microsoft.com/office/drawing/2014/main" id="{FEFC6D49-DDE6-A9B3-9576-C7AC13CA1EC5}"/>
              </a:ext>
            </a:extLst>
          </p:cNvPr>
          <p:cNvSpPr/>
          <p:nvPr/>
        </p:nvSpPr>
        <p:spPr>
          <a:xfrm>
            <a:off x="3961020" y="2976824"/>
            <a:ext cx="1577591" cy="3416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a:t>Prediction</a:t>
            </a:r>
          </a:p>
        </p:txBody>
      </p:sp>
      <p:sp>
        <p:nvSpPr>
          <p:cNvPr id="9" name="Rounded Rectangle 8">
            <a:extLst>
              <a:ext uri="{FF2B5EF4-FFF2-40B4-BE49-F238E27FC236}">
                <a16:creationId xmlns:a16="http://schemas.microsoft.com/office/drawing/2014/main" id="{3512FC5B-75D5-6687-7983-6967EE6154BE}"/>
              </a:ext>
            </a:extLst>
          </p:cNvPr>
          <p:cNvSpPr/>
          <p:nvPr/>
        </p:nvSpPr>
        <p:spPr>
          <a:xfrm>
            <a:off x="3961020" y="4458992"/>
            <a:ext cx="1577591" cy="3416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a:t>Prediction</a:t>
            </a:r>
          </a:p>
        </p:txBody>
      </p:sp>
      <p:sp>
        <p:nvSpPr>
          <p:cNvPr id="10" name="Terminator 9">
            <a:extLst>
              <a:ext uri="{FF2B5EF4-FFF2-40B4-BE49-F238E27FC236}">
                <a16:creationId xmlns:a16="http://schemas.microsoft.com/office/drawing/2014/main" id="{65D3CD49-21EB-3A82-EEA8-9F70DDF62B68}"/>
              </a:ext>
            </a:extLst>
          </p:cNvPr>
          <p:cNvSpPr/>
          <p:nvPr/>
        </p:nvSpPr>
        <p:spPr>
          <a:xfrm>
            <a:off x="6238646" y="3767531"/>
            <a:ext cx="1929284" cy="451738"/>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a:t>Distillation Loss</a:t>
            </a:r>
          </a:p>
        </p:txBody>
      </p:sp>
      <p:sp>
        <p:nvSpPr>
          <p:cNvPr id="11" name="Terminator 10">
            <a:extLst>
              <a:ext uri="{FF2B5EF4-FFF2-40B4-BE49-F238E27FC236}">
                <a16:creationId xmlns:a16="http://schemas.microsoft.com/office/drawing/2014/main" id="{B8A5233E-F5F2-D27E-2636-9DD6C7B5009A}"/>
              </a:ext>
            </a:extLst>
          </p:cNvPr>
          <p:cNvSpPr/>
          <p:nvPr/>
        </p:nvSpPr>
        <p:spPr>
          <a:xfrm>
            <a:off x="6238646" y="5014298"/>
            <a:ext cx="1929284" cy="451738"/>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a:t>Cross Entropy Loss</a:t>
            </a:r>
          </a:p>
        </p:txBody>
      </p:sp>
      <p:cxnSp>
        <p:nvCxnSpPr>
          <p:cNvPr id="12" name="Straight Arrow Connector 11">
            <a:extLst>
              <a:ext uri="{FF2B5EF4-FFF2-40B4-BE49-F238E27FC236}">
                <a16:creationId xmlns:a16="http://schemas.microsoft.com/office/drawing/2014/main" id="{FAD0F292-D7BF-ABA2-C37B-8DE0E5A1AE66}"/>
              </a:ext>
            </a:extLst>
          </p:cNvPr>
          <p:cNvCxnSpPr>
            <a:endCxn id="6" idx="2"/>
          </p:cNvCxnSpPr>
          <p:nvPr/>
        </p:nvCxnSpPr>
        <p:spPr>
          <a:xfrm flipV="1">
            <a:off x="1775897" y="3220591"/>
            <a:ext cx="534139" cy="1291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2A5DCB5F-C391-4AFC-C193-0A3F10F849B7}"/>
              </a:ext>
            </a:extLst>
          </p:cNvPr>
          <p:cNvCxnSpPr/>
          <p:nvPr/>
        </p:nvCxnSpPr>
        <p:spPr>
          <a:xfrm flipV="1">
            <a:off x="1775896" y="4787726"/>
            <a:ext cx="534139" cy="1291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AD550A39-C07E-124B-BEA9-7C405F9D01EE}"/>
              </a:ext>
            </a:extLst>
          </p:cNvPr>
          <p:cNvCxnSpPr/>
          <p:nvPr/>
        </p:nvCxnSpPr>
        <p:spPr>
          <a:xfrm>
            <a:off x="1775897" y="3220591"/>
            <a:ext cx="0" cy="1580045"/>
          </a:xfrm>
          <a:prstGeom prst="line">
            <a:avLst/>
          </a:prstGeom>
          <a:ln w="38100"/>
        </p:spPr>
        <p:style>
          <a:lnRef idx="3">
            <a:schemeClr val="dk1"/>
          </a:lnRef>
          <a:fillRef idx="0">
            <a:schemeClr val="dk1"/>
          </a:fillRef>
          <a:effectRef idx="2">
            <a:schemeClr val="dk1"/>
          </a:effectRef>
          <a:fontRef idx="minor">
            <a:schemeClr val="tx1"/>
          </a:fontRef>
        </p:style>
      </p:cxnSp>
      <p:cxnSp>
        <p:nvCxnSpPr>
          <p:cNvPr id="17" name="Straight Connector 16">
            <a:extLst>
              <a:ext uri="{FF2B5EF4-FFF2-40B4-BE49-F238E27FC236}">
                <a16:creationId xmlns:a16="http://schemas.microsoft.com/office/drawing/2014/main" id="{20FF3C6C-78A7-78D6-DB23-316E71166A82}"/>
              </a:ext>
            </a:extLst>
          </p:cNvPr>
          <p:cNvCxnSpPr>
            <a:stCxn id="5" idx="4"/>
          </p:cNvCxnSpPr>
          <p:nvPr/>
        </p:nvCxnSpPr>
        <p:spPr>
          <a:xfrm>
            <a:off x="1286145" y="3852773"/>
            <a:ext cx="489751"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18" name="Straight Connector 17">
            <a:extLst>
              <a:ext uri="{FF2B5EF4-FFF2-40B4-BE49-F238E27FC236}">
                <a16:creationId xmlns:a16="http://schemas.microsoft.com/office/drawing/2014/main" id="{76C91DA0-931C-4493-C49B-62E17CA02E9C}"/>
              </a:ext>
            </a:extLst>
          </p:cNvPr>
          <p:cNvCxnSpPr>
            <a:cxnSpLocks/>
          </p:cNvCxnSpPr>
          <p:nvPr/>
        </p:nvCxnSpPr>
        <p:spPr>
          <a:xfrm>
            <a:off x="5538611" y="3147646"/>
            <a:ext cx="1664677" cy="0"/>
          </a:xfrm>
          <a:prstGeom prst="line">
            <a:avLst/>
          </a:prstGeom>
          <a:ln w="38100"/>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id="{1D53E4DE-17BB-BB36-5F88-7A5D802B7E4B}"/>
              </a:ext>
            </a:extLst>
          </p:cNvPr>
          <p:cNvCxnSpPr>
            <a:cxnSpLocks/>
            <a:endCxn id="10" idx="0"/>
          </p:cNvCxnSpPr>
          <p:nvPr/>
        </p:nvCxnSpPr>
        <p:spPr>
          <a:xfrm>
            <a:off x="7200346" y="3147646"/>
            <a:ext cx="2942" cy="619885"/>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64743197-62E7-5DB7-BCD2-2364567281B0}"/>
              </a:ext>
            </a:extLst>
          </p:cNvPr>
          <p:cNvCxnSpPr>
            <a:cxnSpLocks/>
          </p:cNvCxnSpPr>
          <p:nvPr/>
        </p:nvCxnSpPr>
        <p:spPr>
          <a:xfrm>
            <a:off x="4949403" y="3971749"/>
            <a:ext cx="1289243"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C9E9638F-2C57-AFA6-579C-DE3F7BF12663}"/>
              </a:ext>
            </a:extLst>
          </p:cNvPr>
          <p:cNvCxnSpPr>
            <a:cxnSpLocks/>
          </p:cNvCxnSpPr>
          <p:nvPr/>
        </p:nvCxnSpPr>
        <p:spPr>
          <a:xfrm>
            <a:off x="4949403" y="5240167"/>
            <a:ext cx="1289243"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9" name="Straight Connector 28">
            <a:extLst>
              <a:ext uri="{FF2B5EF4-FFF2-40B4-BE49-F238E27FC236}">
                <a16:creationId xmlns:a16="http://schemas.microsoft.com/office/drawing/2014/main" id="{7C6F6FE9-D75B-76F0-E881-648D4ADF3648}"/>
              </a:ext>
            </a:extLst>
          </p:cNvPr>
          <p:cNvCxnSpPr/>
          <p:nvPr/>
        </p:nvCxnSpPr>
        <p:spPr>
          <a:xfrm>
            <a:off x="4949403" y="3971749"/>
            <a:ext cx="0" cy="487243"/>
          </a:xfrm>
          <a:prstGeom prst="line">
            <a:avLst/>
          </a:prstGeom>
          <a:ln w="38100"/>
        </p:spPr>
        <p:style>
          <a:lnRef idx="3">
            <a:schemeClr val="dk1"/>
          </a:lnRef>
          <a:fillRef idx="0">
            <a:schemeClr val="dk1"/>
          </a:fillRef>
          <a:effectRef idx="2">
            <a:schemeClr val="dk1"/>
          </a:effectRef>
          <a:fontRef idx="minor">
            <a:schemeClr val="tx1"/>
          </a:fontRef>
        </p:style>
      </p:cxnSp>
      <p:cxnSp>
        <p:nvCxnSpPr>
          <p:cNvPr id="30" name="Straight Connector 29">
            <a:extLst>
              <a:ext uri="{FF2B5EF4-FFF2-40B4-BE49-F238E27FC236}">
                <a16:creationId xmlns:a16="http://schemas.microsoft.com/office/drawing/2014/main" id="{A61156D3-9946-CD5C-969F-4D2B37D3712B}"/>
              </a:ext>
            </a:extLst>
          </p:cNvPr>
          <p:cNvCxnSpPr>
            <a:cxnSpLocks/>
          </p:cNvCxnSpPr>
          <p:nvPr/>
        </p:nvCxnSpPr>
        <p:spPr>
          <a:xfrm>
            <a:off x="4949403" y="4800636"/>
            <a:ext cx="0" cy="439531"/>
          </a:xfrm>
          <a:prstGeom prst="line">
            <a:avLst/>
          </a:prstGeom>
          <a:ln w="38100"/>
        </p:spPr>
        <p:style>
          <a:lnRef idx="3">
            <a:schemeClr val="dk1"/>
          </a:lnRef>
          <a:fillRef idx="0">
            <a:schemeClr val="dk1"/>
          </a:fillRef>
          <a:effectRef idx="2">
            <a:schemeClr val="dk1"/>
          </a:effectRef>
          <a:fontRef idx="minor">
            <a:schemeClr val="tx1"/>
          </a:fontRef>
        </p:style>
      </p:cxnSp>
      <p:sp>
        <p:nvSpPr>
          <p:cNvPr id="32" name="TextBox 31">
            <a:extLst>
              <a:ext uri="{FF2B5EF4-FFF2-40B4-BE49-F238E27FC236}">
                <a16:creationId xmlns:a16="http://schemas.microsoft.com/office/drawing/2014/main" id="{AD27DF82-4F76-84B7-CC59-C173828806FD}"/>
              </a:ext>
            </a:extLst>
          </p:cNvPr>
          <p:cNvSpPr txBox="1"/>
          <p:nvPr/>
        </p:nvSpPr>
        <p:spPr>
          <a:xfrm>
            <a:off x="6488053" y="5715728"/>
            <a:ext cx="1424586" cy="369332"/>
          </a:xfrm>
          <a:prstGeom prst="rect">
            <a:avLst/>
          </a:prstGeom>
          <a:solidFill>
            <a:srgbClr val="00B050"/>
          </a:solidFill>
        </p:spPr>
        <p:txBody>
          <a:bodyPr wrap="square" rtlCol="0">
            <a:spAutoFit/>
          </a:bodyPr>
          <a:lstStyle/>
          <a:p>
            <a:r>
              <a:rPr lang="en-US" dirty="0"/>
              <a:t>Actual labels</a:t>
            </a:r>
          </a:p>
        </p:txBody>
      </p:sp>
      <p:cxnSp>
        <p:nvCxnSpPr>
          <p:cNvPr id="34" name="Straight Arrow Connector 33">
            <a:extLst>
              <a:ext uri="{FF2B5EF4-FFF2-40B4-BE49-F238E27FC236}">
                <a16:creationId xmlns:a16="http://schemas.microsoft.com/office/drawing/2014/main" id="{00659706-FF5D-616A-FFDF-F6157EE941A2}"/>
              </a:ext>
            </a:extLst>
          </p:cNvPr>
          <p:cNvCxnSpPr>
            <a:cxnSpLocks/>
            <a:stCxn id="32" idx="0"/>
            <a:endCxn id="11" idx="2"/>
          </p:cNvCxnSpPr>
          <p:nvPr/>
        </p:nvCxnSpPr>
        <p:spPr>
          <a:xfrm flipV="1">
            <a:off x="7200346" y="5466036"/>
            <a:ext cx="2942" cy="249692"/>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45" name="Straight Connector 44">
            <a:extLst>
              <a:ext uri="{FF2B5EF4-FFF2-40B4-BE49-F238E27FC236}">
                <a16:creationId xmlns:a16="http://schemas.microsoft.com/office/drawing/2014/main" id="{563C1E03-2082-6BC7-8F7D-EDEE1FE1EC35}"/>
              </a:ext>
            </a:extLst>
          </p:cNvPr>
          <p:cNvCxnSpPr>
            <a:cxnSpLocks/>
          </p:cNvCxnSpPr>
          <p:nvPr/>
        </p:nvCxnSpPr>
        <p:spPr>
          <a:xfrm>
            <a:off x="3199315" y="6321152"/>
            <a:ext cx="5461477" cy="0"/>
          </a:xfrm>
          <a:prstGeom prst="line">
            <a:avLst/>
          </a:prstGeom>
          <a:ln w="38100">
            <a:prstDash val="solid"/>
          </a:ln>
        </p:spPr>
        <p:style>
          <a:lnRef idx="3">
            <a:schemeClr val="dk1"/>
          </a:lnRef>
          <a:fillRef idx="0">
            <a:schemeClr val="dk1"/>
          </a:fillRef>
          <a:effectRef idx="2">
            <a:schemeClr val="dk1"/>
          </a:effectRef>
          <a:fontRef idx="minor">
            <a:schemeClr val="tx1"/>
          </a:fontRef>
        </p:style>
      </p:cxnSp>
      <p:cxnSp>
        <p:nvCxnSpPr>
          <p:cNvPr id="47" name="Straight Arrow Connector 46">
            <a:extLst>
              <a:ext uri="{FF2B5EF4-FFF2-40B4-BE49-F238E27FC236}">
                <a16:creationId xmlns:a16="http://schemas.microsoft.com/office/drawing/2014/main" id="{2372311A-F917-1844-43A5-C8830DC941D2}"/>
              </a:ext>
            </a:extLst>
          </p:cNvPr>
          <p:cNvCxnSpPr>
            <a:cxnSpLocks/>
          </p:cNvCxnSpPr>
          <p:nvPr/>
        </p:nvCxnSpPr>
        <p:spPr>
          <a:xfrm flipV="1">
            <a:off x="3199315" y="5134018"/>
            <a:ext cx="0" cy="1187134"/>
          </a:xfrm>
          <a:prstGeom prst="straightConnector1">
            <a:avLst/>
          </a:prstGeom>
          <a:ln w="38100">
            <a:prstDash val="solid"/>
            <a:tailEnd type="triangle"/>
          </a:ln>
        </p:spPr>
        <p:style>
          <a:lnRef idx="3">
            <a:schemeClr val="dk1"/>
          </a:lnRef>
          <a:fillRef idx="0">
            <a:schemeClr val="dk1"/>
          </a:fillRef>
          <a:effectRef idx="2">
            <a:schemeClr val="dk1"/>
          </a:effectRef>
          <a:fontRef idx="minor">
            <a:schemeClr val="tx1"/>
          </a:fontRef>
        </p:style>
      </p:cxnSp>
      <p:cxnSp>
        <p:nvCxnSpPr>
          <p:cNvPr id="49" name="Straight Connector 48">
            <a:extLst>
              <a:ext uri="{FF2B5EF4-FFF2-40B4-BE49-F238E27FC236}">
                <a16:creationId xmlns:a16="http://schemas.microsoft.com/office/drawing/2014/main" id="{C9C28CEE-AF6C-20F7-A8D6-57510874F6ED}"/>
              </a:ext>
            </a:extLst>
          </p:cNvPr>
          <p:cNvCxnSpPr>
            <a:cxnSpLocks/>
          </p:cNvCxnSpPr>
          <p:nvPr/>
        </p:nvCxnSpPr>
        <p:spPr>
          <a:xfrm>
            <a:off x="8660792" y="4658889"/>
            <a:ext cx="0" cy="1650102"/>
          </a:xfrm>
          <a:prstGeom prst="line">
            <a:avLst/>
          </a:prstGeom>
          <a:ln w="38100">
            <a:prstDash val="solid"/>
          </a:ln>
        </p:spPr>
        <p:style>
          <a:lnRef idx="3">
            <a:schemeClr val="dk1"/>
          </a:lnRef>
          <a:fillRef idx="0">
            <a:schemeClr val="dk1"/>
          </a:fillRef>
          <a:effectRef idx="2">
            <a:schemeClr val="dk1"/>
          </a:effectRef>
          <a:fontRef idx="minor">
            <a:schemeClr val="tx1"/>
          </a:fontRef>
        </p:style>
      </p:cxnSp>
      <p:sp>
        <p:nvSpPr>
          <p:cNvPr id="56" name="Right Brace 55">
            <a:extLst>
              <a:ext uri="{FF2B5EF4-FFF2-40B4-BE49-F238E27FC236}">
                <a16:creationId xmlns:a16="http://schemas.microsoft.com/office/drawing/2014/main" id="{29CB62B6-8452-8A68-3DEB-15F6783A12A7}"/>
              </a:ext>
            </a:extLst>
          </p:cNvPr>
          <p:cNvSpPr/>
          <p:nvPr/>
        </p:nvSpPr>
        <p:spPr>
          <a:xfrm>
            <a:off x="8239650" y="3993400"/>
            <a:ext cx="349422" cy="1246766"/>
          </a:xfrm>
          <a:prstGeom prst="rightBrace">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dirty="0"/>
          </a:p>
        </p:txBody>
      </p:sp>
      <p:sp>
        <p:nvSpPr>
          <p:cNvPr id="58" name="TextBox 57">
            <a:extLst>
              <a:ext uri="{FF2B5EF4-FFF2-40B4-BE49-F238E27FC236}">
                <a16:creationId xmlns:a16="http://schemas.microsoft.com/office/drawing/2014/main" id="{2C07E05A-B6A8-AAF1-26E3-37E4E21F23AD}"/>
              </a:ext>
            </a:extLst>
          </p:cNvPr>
          <p:cNvSpPr txBox="1"/>
          <p:nvPr/>
        </p:nvSpPr>
        <p:spPr>
          <a:xfrm>
            <a:off x="6062703" y="3227046"/>
            <a:ext cx="1289242" cy="369332"/>
          </a:xfrm>
          <a:prstGeom prst="rect">
            <a:avLst/>
          </a:prstGeom>
          <a:noFill/>
        </p:spPr>
        <p:txBody>
          <a:bodyPr wrap="square" rtlCol="0">
            <a:spAutoFit/>
          </a:bodyPr>
          <a:lstStyle/>
          <a:p>
            <a:r>
              <a:rPr lang="en-US" dirty="0"/>
              <a:t>Soft labels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39ADD54-31D1-89BB-2C9C-0E6550F219CE}"/>
                  </a:ext>
                </a:extLst>
              </p:cNvPr>
              <p:cNvSpPr txBox="1"/>
              <p:nvPr/>
            </p:nvSpPr>
            <p:spPr>
              <a:xfrm>
                <a:off x="332531" y="854299"/>
                <a:ext cx="3756063" cy="733086"/>
              </a:xfrm>
              <a:prstGeom prst="rect">
                <a:avLst/>
              </a:prstGeom>
              <a:noFill/>
            </p:spPr>
            <p:txBody>
              <a:bodyPr wrap="square" rtlCol="0">
                <a:spAutoFit/>
              </a:bodyPr>
              <a:lstStyle/>
              <a:p>
                <a:r>
                  <a:rPr lang="en-VN"/>
                  <a:t>Soft label: </a:t>
                </a:r>
                <a14:m>
                  <m:oMath xmlns:m="http://schemas.openxmlformats.org/officeDocument/2006/math">
                    <m:sSub>
                      <m:sSubPr>
                        <m:ctrlPr>
                          <a:rPr lang="en-VN" i="1" smtClean="0">
                            <a:latin typeface="Cambria Math" panose="02040503050406030204" pitchFamily="18" charset="0"/>
                          </a:rPr>
                        </m:ctrlPr>
                      </m:sSubPr>
                      <m:e>
                        <m:r>
                          <a:rPr lang="en-VN" i="1" smtClean="0">
                            <a:latin typeface="Cambria Math" panose="02040503050406030204" pitchFamily="18" charset="0"/>
                            <a:ea typeface="Cambria Math" panose="02040503050406030204" pitchFamily="18" charset="0"/>
                          </a:rPr>
                          <m:t>𝒮</m:t>
                        </m:r>
                      </m:e>
                      <m:sub>
                        <m:r>
                          <m:rPr>
                            <m:sty m:val="p"/>
                          </m:rPr>
                          <a:rPr lang="en-VN" i="1">
                            <a:latin typeface="Cambria Math" panose="02040503050406030204" pitchFamily="18" charset="0"/>
                          </a:rPr>
                          <m:t>soft</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vi-VN" b="0" i="1" smtClean="0">
                        <a:latin typeface="Cambria Math" panose="02040503050406030204" pitchFamily="18" charset="0"/>
                      </a:rPr>
                      <m:t>= </m:t>
                    </m:r>
                    <m:f>
                      <m:fPr>
                        <m:ctrlPr>
                          <a:rPr lang="vi-VN" b="0" i="1" smtClean="0">
                            <a:latin typeface="Cambria Math" panose="02040503050406030204" pitchFamily="18" charset="0"/>
                          </a:rPr>
                        </m:ctrlPr>
                      </m:fPr>
                      <m:num>
                        <m:r>
                          <m:rPr>
                            <m:sty m:val="p"/>
                          </m:rPr>
                          <a:rPr lang="en-US" b="0" i="0" smtClean="0">
                            <a:latin typeface="Cambria Math" panose="02040503050406030204" pitchFamily="18" charset="0"/>
                          </a:rPr>
                          <m:t>exp</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𝑖</m:t>
                                </m:r>
                              </m:sub>
                            </m:sSub>
                          </m:num>
                          <m:den>
                            <m:r>
                              <a:rPr lang="en-US" b="0" i="1" smtClean="0">
                                <a:latin typeface="Cambria Math" panose="02040503050406030204" pitchFamily="18" charset="0"/>
                              </a:rPr>
                              <m:t>𝑇</m:t>
                            </m:r>
                          </m:den>
                        </m:f>
                        <m:r>
                          <a:rPr lang="en-US" b="0" i="1" smtClean="0">
                            <a:latin typeface="Cambria Math" panose="02040503050406030204" pitchFamily="18" charset="0"/>
                          </a:rPr>
                          <m:t>)</m:t>
                        </m:r>
                      </m:num>
                      <m:den>
                        <m:nary>
                          <m:naryPr>
                            <m:chr m:val="∑"/>
                            <m:subHide m:val="on"/>
                            <m:supHide m:val="on"/>
                            <m:ctrlPr>
                              <a:rPr lang="vi-VN" b="0" i="1" smtClean="0">
                                <a:latin typeface="Cambria Math" panose="02040503050406030204" pitchFamily="18" charset="0"/>
                              </a:rPr>
                            </m:ctrlPr>
                          </m:naryPr>
                          <m:sub/>
                          <m:sup/>
                          <m:e>
                            <m:r>
                              <m:rPr>
                                <m:sty m:val="p"/>
                              </m:rPr>
                              <a:rPr lang="en-US" b="0" i="0" smtClean="0">
                                <a:latin typeface="Cambria Math" panose="02040503050406030204" pitchFamily="18" charset="0"/>
                              </a:rPr>
                              <m:t>exp</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𝑗</m:t>
                                    </m:r>
                                  </m:sub>
                                </m:sSub>
                              </m:num>
                              <m:den>
                                <m:r>
                                  <a:rPr lang="en-US" b="0" i="1" smtClean="0">
                                    <a:latin typeface="Cambria Math" panose="02040503050406030204" pitchFamily="18" charset="0"/>
                                  </a:rPr>
                                  <m:t>𝑇</m:t>
                                </m:r>
                              </m:den>
                            </m:f>
                            <m:r>
                              <a:rPr lang="en-US" b="0" i="1" smtClean="0">
                                <a:latin typeface="Cambria Math" panose="02040503050406030204" pitchFamily="18" charset="0"/>
                              </a:rPr>
                              <m:t>)</m:t>
                            </m:r>
                          </m:e>
                        </m:nary>
                      </m:den>
                    </m:f>
                  </m:oMath>
                </a14:m>
                <a:r>
                  <a:rPr lang="en-VN"/>
                  <a:t> </a:t>
                </a:r>
              </a:p>
            </p:txBody>
          </p:sp>
        </mc:Choice>
        <mc:Fallback xmlns="">
          <p:sp>
            <p:nvSpPr>
              <p:cNvPr id="4" name="TextBox 3">
                <a:extLst>
                  <a:ext uri="{FF2B5EF4-FFF2-40B4-BE49-F238E27FC236}">
                    <a16:creationId xmlns:a16="http://schemas.microsoft.com/office/drawing/2014/main" id="{239ADD54-31D1-89BB-2C9C-0E6550F219CE}"/>
                  </a:ext>
                </a:extLst>
              </p:cNvPr>
              <p:cNvSpPr txBox="1">
                <a:spLocks noRot="1" noChangeAspect="1" noMove="1" noResize="1" noEditPoints="1" noAdjustHandles="1" noChangeArrowheads="1" noChangeShapeType="1" noTextEdit="1"/>
              </p:cNvSpPr>
              <p:nvPr/>
            </p:nvSpPr>
            <p:spPr>
              <a:xfrm>
                <a:off x="332531" y="854299"/>
                <a:ext cx="3756063" cy="733086"/>
              </a:xfrm>
              <a:prstGeom prst="rect">
                <a:avLst/>
              </a:prstGeom>
              <a:blipFill>
                <a:blip r:embed="rId2"/>
                <a:stretch>
                  <a:fillRect l="-1347" b="-5862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8F41ED1-FC51-E12D-82F6-92A52F59732A}"/>
                  </a:ext>
                </a:extLst>
              </p:cNvPr>
              <p:cNvSpPr txBox="1"/>
              <p:nvPr/>
            </p:nvSpPr>
            <p:spPr>
              <a:xfrm>
                <a:off x="332531" y="1788173"/>
                <a:ext cx="7104509" cy="411331"/>
              </a:xfrm>
              <a:prstGeom prst="rect">
                <a:avLst/>
              </a:prstGeom>
              <a:noFill/>
            </p:spPr>
            <p:txBody>
              <a:bodyPr wrap="none" rtlCol="0">
                <a:spAutoFit/>
              </a:bodyPr>
              <a:lstStyle/>
              <a:p>
                <a:r>
                  <a:rPr lang="en-VN"/>
                  <a:t>Distillation Loss: </a:t>
                </a:r>
                <a14:m>
                  <m:oMath xmlns:m="http://schemas.openxmlformats.org/officeDocument/2006/math">
                    <m:sSub>
                      <m:sSubPr>
                        <m:ctrlPr>
                          <a:rPr lang="en-VN" i="1" smtClean="0">
                            <a:latin typeface="Cambria Math" panose="02040503050406030204" pitchFamily="18" charset="0"/>
                          </a:rPr>
                        </m:ctrlPr>
                      </m:sSubPr>
                      <m:e>
                        <m:r>
                          <a:rPr lang="en-VN" i="1" smtClean="0">
                            <a:latin typeface="Cambria Math" panose="02040503050406030204" pitchFamily="18" charset="0"/>
                            <a:ea typeface="Cambria Math" panose="02040503050406030204" pitchFamily="18" charset="0"/>
                          </a:rPr>
                          <m:t>ℒ</m:t>
                        </m:r>
                      </m:e>
                      <m:sub>
                        <m:r>
                          <a:rPr lang="en-US" b="0" i="1" smtClean="0">
                            <a:latin typeface="Cambria Math" panose="02040503050406030204" pitchFamily="18" charset="0"/>
                          </a:rPr>
                          <m:t>𝑜𝑙𝑑</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𝒮</m:t>
                        </m:r>
                      </m:e>
                      <m:sub>
                        <m:r>
                          <a:rPr lang="en-US" b="0" i="1" smtClean="0">
                            <a:latin typeface="Cambria Math" panose="02040503050406030204" pitchFamily="18" charset="0"/>
                          </a:rPr>
                          <m:t>𝑠𝑜𝑓𝑡</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ℱ</m:t>
                                </m:r>
                              </m:e>
                              <m:sub>
                                <m:r>
                                  <a:rPr lang="en-US" i="1">
                                    <a:latin typeface="Cambria Math" panose="02040503050406030204" pitchFamily="18" charset="0"/>
                                  </a:rPr>
                                  <m:t>𝑡</m:t>
                                </m:r>
                                <m:r>
                                  <a:rPr lang="en-US" i="1">
                                    <a:latin typeface="Cambria Math" panose="02040503050406030204" pitchFamily="18" charset="0"/>
                                  </a:rPr>
                                  <m:t>−1</m:t>
                                </m:r>
                              </m:sub>
                            </m:sSub>
                          </m:e>
                        </m:acc>
                        <m:r>
                          <a:rPr lang="en-US" b="0" i="1" smtClean="0">
                            <a:latin typeface="Cambria Math" panose="02040503050406030204" pitchFamily="18" charset="0"/>
                          </a:rPr>
                          <m:t>(</m:t>
                        </m:r>
                        <m:acc>
                          <m:accPr>
                            <m:chr m:val="̅"/>
                            <m:ctrlPr>
                              <a:rPr lang="en-US" i="1" smtClean="0">
                                <a:latin typeface="Cambria Math" panose="02040503050406030204" pitchFamily="18" charset="0"/>
                              </a:rPr>
                            </m:ctrlPr>
                          </m:accPr>
                          <m:e>
                            <m:sSub>
                              <m:sSubPr>
                                <m:ctrlPr>
                                  <a:rPr lang="en-US"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Φ</m:t>
                                </m:r>
                              </m:e>
                              <m:sub>
                                <m:r>
                                  <a:rPr lang="en-US" i="1">
                                    <a:latin typeface="Cambria Math" panose="02040503050406030204" pitchFamily="18" charset="0"/>
                                  </a:rPr>
                                  <m:t>𝑡</m:t>
                                </m:r>
                                <m:r>
                                  <a:rPr lang="en-US" i="1">
                                    <a:latin typeface="Cambria Math" panose="02040503050406030204" pitchFamily="18" charset="0"/>
                                  </a:rPr>
                                  <m:t>−1</m:t>
                                </m:r>
                              </m:sub>
                            </m:sSub>
                          </m:e>
                        </m:acc>
                        <m:r>
                          <a:rPr lang="en-US" b="0" i="1" smtClean="0">
                            <a:latin typeface="Cambria Math" panose="02040503050406030204" pitchFamily="18" charset="0"/>
                          </a:rPr>
                          <m:t>)</m:t>
                        </m:r>
                      </m:e>
                    </m:d>
                    <m:r>
                      <a:rPr lang="en-US" b="0" i="1" smtClean="0">
                        <a:latin typeface="Cambria Math" panose="02040503050406030204" pitchFamily="18" charset="0"/>
                      </a:rPr>
                      <m:t>∗</m:t>
                    </m:r>
                    <m:r>
                      <a:rPr lang="en-US" b="0" i="1" smtClean="0">
                        <a:latin typeface="Cambria Math" panose="02040503050406030204" pitchFamily="18" charset="0"/>
                      </a:rPr>
                      <m:t>𝐿𝑜𝑔</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𝒮</m:t>
                        </m:r>
                      </m:e>
                      <m:sub>
                        <m:r>
                          <a:rPr lang="en-US" i="1">
                            <a:latin typeface="Cambria Math" panose="02040503050406030204" pitchFamily="18" charset="0"/>
                          </a:rPr>
                          <m:t>𝑠𝑜𝑓𝑡</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ℱ</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Φ</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e>
                        </m:d>
                      </m:e>
                    </m:d>
                    <m:r>
                      <a:rPr lang="en-US" b="0" i="1" smtClean="0">
                        <a:latin typeface="Cambria Math" panose="02040503050406030204" pitchFamily="18" charset="0"/>
                      </a:rPr>
                      <m:t>)</m:t>
                    </m:r>
                  </m:oMath>
                </a14:m>
                <a:endParaRPr lang="en-VN"/>
              </a:p>
            </p:txBody>
          </p:sp>
        </mc:Choice>
        <mc:Fallback xmlns="">
          <p:sp>
            <p:nvSpPr>
              <p:cNvPr id="14" name="TextBox 13">
                <a:extLst>
                  <a:ext uri="{FF2B5EF4-FFF2-40B4-BE49-F238E27FC236}">
                    <a16:creationId xmlns:a16="http://schemas.microsoft.com/office/drawing/2014/main" id="{58F41ED1-FC51-E12D-82F6-92A52F59732A}"/>
                  </a:ext>
                </a:extLst>
              </p:cNvPr>
              <p:cNvSpPr txBox="1">
                <a:spLocks noRot="1" noChangeAspect="1" noMove="1" noResize="1" noEditPoints="1" noAdjustHandles="1" noChangeArrowheads="1" noChangeShapeType="1" noTextEdit="1"/>
              </p:cNvSpPr>
              <p:nvPr/>
            </p:nvSpPr>
            <p:spPr>
              <a:xfrm>
                <a:off x="332531" y="1788173"/>
                <a:ext cx="7104509" cy="411331"/>
              </a:xfrm>
              <a:prstGeom prst="rect">
                <a:avLst/>
              </a:prstGeom>
              <a:blipFill>
                <a:blip r:embed="rId3"/>
                <a:stretch>
                  <a:fillRect l="-714" b="-17647"/>
                </a:stretch>
              </a:blipFill>
            </p:spPr>
            <p:txBody>
              <a:bodyPr/>
              <a:lstStyle/>
              <a:p>
                <a:r>
                  <a:rPr lang="en-VN">
                    <a:noFill/>
                  </a:rPr>
                  <a:t> </a:t>
                </a:r>
              </a:p>
            </p:txBody>
          </p:sp>
        </mc:Fallback>
      </mc:AlternateContent>
    </p:spTree>
    <p:extLst>
      <p:ext uri="{BB962C8B-B14F-4D97-AF65-F5344CB8AC3E}">
        <p14:creationId xmlns:p14="http://schemas.microsoft.com/office/powerpoint/2010/main" val="692365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9BCC48-229C-10B5-0127-8EDC1F6780CF}"/>
              </a:ext>
            </a:extLst>
          </p:cNvPr>
          <p:cNvSpPr>
            <a:spLocks noGrp="1"/>
          </p:cNvSpPr>
          <p:nvPr>
            <p:ph type="sldNum" sz="quarter" idx="12"/>
          </p:nvPr>
        </p:nvSpPr>
        <p:spPr/>
        <p:txBody>
          <a:bodyPr/>
          <a:lstStyle/>
          <a:p>
            <a:fld id="{9EA0BE3B-158A-4EDF-80DC-E394A0D1600F}" type="slidenum">
              <a:rPr lang="en-US" smtClean="0"/>
              <a:pPr/>
              <a:t>18</a:t>
            </a:fld>
            <a:endParaRPr lang="en-US" dirty="0"/>
          </a:p>
        </p:txBody>
      </p:sp>
      <p:sp>
        <p:nvSpPr>
          <p:cNvPr id="3" name="Title 2">
            <a:extLst>
              <a:ext uri="{FF2B5EF4-FFF2-40B4-BE49-F238E27FC236}">
                <a16:creationId xmlns:a16="http://schemas.microsoft.com/office/drawing/2014/main" id="{6EAF67A0-44DE-1C1E-B604-E06C18FECE76}"/>
              </a:ext>
            </a:extLst>
          </p:cNvPr>
          <p:cNvSpPr>
            <a:spLocks noGrp="1"/>
          </p:cNvSpPr>
          <p:nvPr>
            <p:ph type="title"/>
          </p:nvPr>
        </p:nvSpPr>
        <p:spPr/>
        <p:txBody>
          <a:bodyPr/>
          <a:lstStyle/>
          <a:p>
            <a:r>
              <a:rPr lang="en-VN" dirty="0"/>
              <a:t>LWF Architecture</a:t>
            </a:r>
          </a:p>
        </p:txBody>
      </p:sp>
      <p:pic>
        <p:nvPicPr>
          <p:cNvPr id="20" name="Picture 19" descr="A diagram of a training process&#10;&#10;Description automatically generated">
            <a:extLst>
              <a:ext uri="{FF2B5EF4-FFF2-40B4-BE49-F238E27FC236}">
                <a16:creationId xmlns:a16="http://schemas.microsoft.com/office/drawing/2014/main" id="{9AD7E053-04F7-E303-B13D-042CB3FB28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0974" y="925237"/>
            <a:ext cx="4636409" cy="5351536"/>
          </a:xfrm>
          <a:prstGeom prst="rect">
            <a:avLst/>
          </a:prstGeom>
        </p:spPr>
      </p:pic>
    </p:spTree>
    <p:extLst>
      <p:ext uri="{BB962C8B-B14F-4D97-AF65-F5344CB8AC3E}">
        <p14:creationId xmlns:p14="http://schemas.microsoft.com/office/powerpoint/2010/main" val="3593045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8535C8-C47D-7E3E-123B-4825339190B4}"/>
              </a:ext>
            </a:extLst>
          </p:cNvPr>
          <p:cNvSpPr>
            <a:spLocks noGrp="1"/>
          </p:cNvSpPr>
          <p:nvPr>
            <p:ph type="sldNum" sz="quarter" idx="12"/>
          </p:nvPr>
        </p:nvSpPr>
        <p:spPr/>
        <p:txBody>
          <a:bodyPr/>
          <a:lstStyle/>
          <a:p>
            <a:fld id="{9EA0BE3B-158A-4EDF-80DC-E394A0D1600F}" type="slidenum">
              <a:rPr lang="en-US" smtClean="0"/>
              <a:pPr/>
              <a:t>19</a:t>
            </a:fld>
            <a:endParaRPr lang="en-US" dirty="0"/>
          </a:p>
        </p:txBody>
      </p:sp>
      <p:sp>
        <p:nvSpPr>
          <p:cNvPr id="3" name="Title 2">
            <a:extLst>
              <a:ext uri="{FF2B5EF4-FFF2-40B4-BE49-F238E27FC236}">
                <a16:creationId xmlns:a16="http://schemas.microsoft.com/office/drawing/2014/main" id="{F3552378-3820-6A2E-0554-F74A9B2938FF}"/>
              </a:ext>
            </a:extLst>
          </p:cNvPr>
          <p:cNvSpPr>
            <a:spLocks noGrp="1"/>
          </p:cNvSpPr>
          <p:nvPr>
            <p:ph type="title"/>
          </p:nvPr>
        </p:nvSpPr>
        <p:spPr/>
        <p:txBody>
          <a:bodyPr/>
          <a:lstStyle/>
          <a:p>
            <a:r>
              <a:rPr lang="en-VN" sz="1800"/>
              <a:t>ICARL: Incremental Classification and Representation Learning</a:t>
            </a:r>
          </a:p>
        </p:txBody>
      </p:sp>
      <p:sp>
        <p:nvSpPr>
          <p:cNvPr id="4" name="Content Placeholder 3">
            <a:extLst>
              <a:ext uri="{FF2B5EF4-FFF2-40B4-BE49-F238E27FC236}">
                <a16:creationId xmlns:a16="http://schemas.microsoft.com/office/drawing/2014/main" id="{CCD7D7E5-770A-F721-CF08-999D5FBFC55B}"/>
              </a:ext>
            </a:extLst>
          </p:cNvPr>
          <p:cNvSpPr>
            <a:spLocks noGrp="1"/>
          </p:cNvSpPr>
          <p:nvPr>
            <p:ph sz="quarter" idx="13"/>
          </p:nvPr>
        </p:nvSpPr>
        <p:spPr/>
        <p:txBody>
          <a:bodyPr/>
          <a:lstStyle/>
          <a:p>
            <a:pPr marL="0" indent="0">
              <a:buNone/>
            </a:pPr>
            <a:r>
              <a:rPr lang="en-VN"/>
              <a:t>ICARL expands the work of LWF by proposing a combination of three key element: </a:t>
            </a:r>
          </a:p>
          <a:p>
            <a:pPr>
              <a:buFontTx/>
              <a:buChar char="-"/>
            </a:pPr>
            <a:r>
              <a:rPr lang="en-VN"/>
              <a:t>Exemplar using.</a:t>
            </a:r>
          </a:p>
          <a:p>
            <a:pPr>
              <a:buFontTx/>
              <a:buChar char="-"/>
            </a:pPr>
            <a:r>
              <a:rPr lang="en-VN"/>
              <a:t>Nearest-Mean-of-Exemplar (NME) classifier</a:t>
            </a:r>
          </a:p>
          <a:p>
            <a:pPr>
              <a:buFontTx/>
              <a:buChar char="-"/>
            </a:pPr>
            <a:r>
              <a:rPr lang="en-VN"/>
              <a:t>Learning using Knowledge Distillation Loss (same as LWF).</a:t>
            </a:r>
          </a:p>
        </p:txBody>
      </p:sp>
    </p:spTree>
    <p:extLst>
      <p:ext uri="{BB962C8B-B14F-4D97-AF65-F5344CB8AC3E}">
        <p14:creationId xmlns:p14="http://schemas.microsoft.com/office/powerpoint/2010/main" val="7746959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779E02-BD83-AA4C-8433-57F8B846D859}"/>
              </a:ext>
            </a:extLst>
          </p:cNvPr>
          <p:cNvSpPr>
            <a:spLocks noGrp="1"/>
          </p:cNvSpPr>
          <p:nvPr>
            <p:ph type="sldNum" sz="quarter" idx="12"/>
          </p:nvPr>
        </p:nvSpPr>
        <p:spPr/>
        <p:txBody>
          <a:bodyPr/>
          <a:lstStyle/>
          <a:p>
            <a:fld id="{9EA0BE3B-158A-4EDF-80DC-E394A0D1600F}" type="slidenum">
              <a:rPr lang="en-US" smtClean="0"/>
              <a:pPr/>
              <a:t>20</a:t>
            </a:fld>
            <a:endParaRPr lang="en-US" dirty="0"/>
          </a:p>
        </p:txBody>
      </p:sp>
      <p:sp>
        <p:nvSpPr>
          <p:cNvPr id="3" name="Title 2">
            <a:extLst>
              <a:ext uri="{FF2B5EF4-FFF2-40B4-BE49-F238E27FC236}">
                <a16:creationId xmlns:a16="http://schemas.microsoft.com/office/drawing/2014/main" id="{506A13EA-6C37-35A4-4EE7-D95177CD1F38}"/>
              </a:ext>
            </a:extLst>
          </p:cNvPr>
          <p:cNvSpPr>
            <a:spLocks noGrp="1"/>
          </p:cNvSpPr>
          <p:nvPr>
            <p:ph type="title"/>
          </p:nvPr>
        </p:nvSpPr>
        <p:spPr/>
        <p:txBody>
          <a:bodyPr/>
          <a:lstStyle/>
          <a:p>
            <a:r>
              <a:rPr lang="en-VN"/>
              <a:t>Exemplar Using</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7E912AFA-CB8E-D31D-D445-16BD85C1FF24}"/>
                  </a:ext>
                </a:extLst>
              </p:cNvPr>
              <p:cNvSpPr txBox="1"/>
              <p:nvPr/>
            </p:nvSpPr>
            <p:spPr>
              <a:xfrm>
                <a:off x="334794" y="1879042"/>
                <a:ext cx="8792022" cy="646331"/>
              </a:xfrm>
              <a:prstGeom prst="rect">
                <a:avLst/>
              </a:prstGeom>
              <a:noFill/>
            </p:spPr>
            <p:txBody>
              <a:bodyPr wrap="none" rtlCol="0">
                <a:spAutoFit/>
              </a:bodyPr>
              <a:lstStyle/>
              <a:p>
                <a:r>
                  <a:rPr lang="en-VN" b="1" dirty="0">
                    <a:latin typeface="Lato" panose="020F0502020204030203" pitchFamily="34" charset="0"/>
                    <a:ea typeface="Lato" panose="020F0502020204030203" pitchFamily="34" charset="0"/>
                    <a:cs typeface="Lato" panose="020F0502020204030203" pitchFamily="34" charset="0"/>
                  </a:rPr>
                  <a:t>Exemplar Management</a:t>
                </a:r>
                <a:r>
                  <a:rPr lang="en-VN" dirty="0">
                    <a:latin typeface="Lato" panose="020F0502020204030203" pitchFamily="34" charset="0"/>
                    <a:ea typeface="Lato" panose="020F0502020204030203" pitchFamily="34" charset="0"/>
                    <a:cs typeface="Lato" panose="020F0502020204030203" pitchFamily="34" charset="0"/>
                  </a:rPr>
                  <a:t>:  ICARL proposes storing fixed </a:t>
                </a:r>
                <a14:m>
                  <m:oMath xmlns:m="http://schemas.openxmlformats.org/officeDocument/2006/math">
                    <m:r>
                      <a:rPr lang="en-US" b="0" i="1" smtClean="0">
                        <a:latin typeface="Cambria Math" panose="02040503050406030204" pitchFamily="18" charset="0"/>
                      </a:rPr>
                      <m:t>𝑀</m:t>
                    </m:r>
                  </m:oMath>
                </a14:m>
                <a:r>
                  <a:rPr lang="en-VN" dirty="0">
                    <a:latin typeface="Lato" panose="020F0502020204030203" pitchFamily="34" charset="0"/>
                    <a:ea typeface="Lato" panose="020F0502020204030203" pitchFamily="34" charset="0"/>
                    <a:cs typeface="Lato" panose="020F0502020204030203" pitchFamily="34" charset="0"/>
                  </a:rPr>
                  <a:t> number of total exemplars. </a:t>
                </a:r>
                <a:br>
                  <a:rPr lang="en-VN" dirty="0">
                    <a:latin typeface="Lato" panose="020F0502020204030203" pitchFamily="34" charset="0"/>
                    <a:ea typeface="Lato" panose="020F0502020204030203" pitchFamily="34" charset="0"/>
                    <a:cs typeface="Lato" panose="020F0502020204030203" pitchFamily="34" charset="0"/>
                  </a:rPr>
                </a:br>
                <a:endParaRPr lang="en-VN" dirty="0">
                  <a:latin typeface="Lato" panose="020F0502020204030203" pitchFamily="34" charset="0"/>
                  <a:ea typeface="Lato" panose="020F0502020204030203" pitchFamily="34" charset="0"/>
                  <a:cs typeface="Lato" panose="020F0502020204030203" pitchFamily="34" charset="0"/>
                </a:endParaRPr>
              </a:p>
            </p:txBody>
          </p:sp>
        </mc:Choice>
        <mc:Fallback>
          <p:sp>
            <p:nvSpPr>
              <p:cNvPr id="6" name="TextBox 5">
                <a:extLst>
                  <a:ext uri="{FF2B5EF4-FFF2-40B4-BE49-F238E27FC236}">
                    <a16:creationId xmlns:a16="http://schemas.microsoft.com/office/drawing/2014/main" id="{7E912AFA-CB8E-D31D-D445-16BD85C1FF24}"/>
                  </a:ext>
                </a:extLst>
              </p:cNvPr>
              <p:cNvSpPr txBox="1">
                <a:spLocks noRot="1" noChangeAspect="1" noMove="1" noResize="1" noEditPoints="1" noAdjustHandles="1" noChangeArrowheads="1" noChangeShapeType="1" noTextEdit="1"/>
              </p:cNvSpPr>
              <p:nvPr/>
            </p:nvSpPr>
            <p:spPr>
              <a:xfrm>
                <a:off x="334794" y="1879042"/>
                <a:ext cx="8792022" cy="646331"/>
              </a:xfrm>
              <a:prstGeom prst="rect">
                <a:avLst/>
              </a:prstGeom>
              <a:blipFill>
                <a:blip r:embed="rId3"/>
                <a:stretch>
                  <a:fillRect l="-577" t="-3846"/>
                </a:stretch>
              </a:blipFill>
            </p:spPr>
            <p:txBody>
              <a:bodyPr/>
              <a:lstStyle/>
              <a:p>
                <a:r>
                  <a:rPr lang="en-VN">
                    <a:noFill/>
                  </a:rPr>
                  <a:t> </a:t>
                </a:r>
              </a:p>
            </p:txBody>
          </p:sp>
        </mc:Fallback>
      </mc:AlternateContent>
      <p:grpSp>
        <p:nvGrpSpPr>
          <p:cNvPr id="7" name="Group 6">
            <a:extLst>
              <a:ext uri="{FF2B5EF4-FFF2-40B4-BE49-F238E27FC236}">
                <a16:creationId xmlns:a16="http://schemas.microsoft.com/office/drawing/2014/main" id="{80D34186-5DF3-DCC2-1AF9-6EB115C08C53}"/>
              </a:ext>
            </a:extLst>
          </p:cNvPr>
          <p:cNvGrpSpPr/>
          <p:nvPr/>
        </p:nvGrpSpPr>
        <p:grpSpPr>
          <a:xfrm>
            <a:off x="772810" y="3030248"/>
            <a:ext cx="8279082" cy="3131759"/>
            <a:chOff x="843148" y="201881"/>
            <a:chExt cx="11747919" cy="7629959"/>
          </a:xfrm>
        </p:grpSpPr>
        <p:sp>
          <p:nvSpPr>
            <p:cNvPr id="8" name="Down Arrow 7">
              <a:extLst>
                <a:ext uri="{FF2B5EF4-FFF2-40B4-BE49-F238E27FC236}">
                  <a16:creationId xmlns:a16="http://schemas.microsoft.com/office/drawing/2014/main" id="{0CD2AC6A-CDBF-4DAD-B567-635EFAC5A6EB}"/>
                </a:ext>
              </a:extLst>
            </p:cNvPr>
            <p:cNvSpPr/>
            <p:nvPr/>
          </p:nvSpPr>
          <p:spPr>
            <a:xfrm>
              <a:off x="843148" y="201881"/>
              <a:ext cx="1947554" cy="616329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a:latin typeface="Lato" panose="020F0502020204030203" pitchFamily="34" charset="0"/>
                  <a:ea typeface="Lato" panose="020F0502020204030203" pitchFamily="34" charset="0"/>
                  <a:cs typeface="Lato" panose="020F0502020204030203" pitchFamily="34" charset="0"/>
                </a:rPr>
                <a:t>Training Task</a:t>
              </a:r>
            </a:p>
          </p:txBody>
        </p:sp>
        <p:grpSp>
          <p:nvGrpSpPr>
            <p:cNvPr id="9" name="Group 8">
              <a:extLst>
                <a:ext uri="{FF2B5EF4-FFF2-40B4-BE49-F238E27FC236}">
                  <a16:creationId xmlns:a16="http://schemas.microsoft.com/office/drawing/2014/main" id="{C06BD642-6E1C-A2E8-4620-52C65AC307A4}"/>
                </a:ext>
              </a:extLst>
            </p:cNvPr>
            <p:cNvGrpSpPr/>
            <p:nvPr/>
          </p:nvGrpSpPr>
          <p:grpSpPr>
            <a:xfrm>
              <a:off x="3443416" y="552041"/>
              <a:ext cx="2652584" cy="7279799"/>
              <a:chOff x="3443416" y="552041"/>
              <a:chExt cx="2652584" cy="7279799"/>
            </a:xfrm>
          </p:grpSpPr>
          <p:grpSp>
            <p:nvGrpSpPr>
              <p:cNvPr id="19" name="Group 18">
                <a:extLst>
                  <a:ext uri="{FF2B5EF4-FFF2-40B4-BE49-F238E27FC236}">
                    <a16:creationId xmlns:a16="http://schemas.microsoft.com/office/drawing/2014/main" id="{555BC6E7-FB2B-C39A-6C7C-3C78B4F7DF1F}"/>
                  </a:ext>
                </a:extLst>
              </p:cNvPr>
              <p:cNvGrpSpPr/>
              <p:nvPr/>
            </p:nvGrpSpPr>
            <p:grpSpPr>
              <a:xfrm>
                <a:off x="3443416" y="552041"/>
                <a:ext cx="2652584" cy="5445211"/>
                <a:chOff x="3443416" y="552041"/>
                <a:chExt cx="2652584" cy="5445211"/>
              </a:xfrm>
            </p:grpSpPr>
            <p:sp>
              <p:nvSpPr>
                <p:cNvPr id="21" name="Rectangle 20">
                  <a:extLst>
                    <a:ext uri="{FF2B5EF4-FFF2-40B4-BE49-F238E27FC236}">
                      <a16:creationId xmlns:a16="http://schemas.microsoft.com/office/drawing/2014/main" id="{CA01AED5-D9E8-B3AF-E1F5-D4BA92A51EE8}"/>
                    </a:ext>
                  </a:extLst>
                </p:cNvPr>
                <p:cNvSpPr/>
                <p:nvPr/>
              </p:nvSpPr>
              <p:spPr>
                <a:xfrm>
                  <a:off x="3443416" y="552041"/>
                  <a:ext cx="790832" cy="17052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latin typeface="Lato" panose="020F0502020204030203" pitchFamily="34" charset="0"/>
                    <a:ea typeface="Lato" panose="020F0502020204030203" pitchFamily="34" charset="0"/>
                    <a:cs typeface="Lato" panose="020F0502020204030203" pitchFamily="34" charset="0"/>
                  </a:endParaRPr>
                </a:p>
              </p:txBody>
            </p:sp>
            <p:sp>
              <p:nvSpPr>
                <p:cNvPr id="22" name="Rectangle 21">
                  <a:extLst>
                    <a:ext uri="{FF2B5EF4-FFF2-40B4-BE49-F238E27FC236}">
                      <a16:creationId xmlns:a16="http://schemas.microsoft.com/office/drawing/2014/main" id="{3981C94F-DBAF-EFAF-699D-648D5F5312F2}"/>
                    </a:ext>
                  </a:extLst>
                </p:cNvPr>
                <p:cNvSpPr/>
                <p:nvPr/>
              </p:nvSpPr>
              <p:spPr>
                <a:xfrm>
                  <a:off x="4374292" y="4292019"/>
                  <a:ext cx="790832" cy="170523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latin typeface="Lato" panose="020F0502020204030203" pitchFamily="34" charset="0"/>
                    <a:ea typeface="Lato" panose="020F0502020204030203" pitchFamily="34" charset="0"/>
                    <a:cs typeface="Lato" panose="020F0502020204030203" pitchFamily="34" charset="0"/>
                  </a:endParaRPr>
                </a:p>
              </p:txBody>
            </p:sp>
            <p:sp>
              <p:nvSpPr>
                <p:cNvPr id="23" name="Rectangle 22">
                  <a:extLst>
                    <a:ext uri="{FF2B5EF4-FFF2-40B4-BE49-F238E27FC236}">
                      <a16:creationId xmlns:a16="http://schemas.microsoft.com/office/drawing/2014/main" id="{1C2C62CD-CB1C-B684-B2A2-E0B6F477BFB5}"/>
                    </a:ext>
                  </a:extLst>
                </p:cNvPr>
                <p:cNvSpPr/>
                <p:nvPr/>
              </p:nvSpPr>
              <p:spPr>
                <a:xfrm>
                  <a:off x="5305168" y="4292019"/>
                  <a:ext cx="790832" cy="1705233"/>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latin typeface="Lato" panose="020F0502020204030203" pitchFamily="34" charset="0"/>
                    <a:ea typeface="Lato" panose="020F0502020204030203" pitchFamily="34" charset="0"/>
                    <a:cs typeface="Lato" panose="020F0502020204030203" pitchFamily="34" charset="0"/>
                  </a:endParaRPr>
                </a:p>
              </p:txBody>
            </p:sp>
            <p:sp>
              <p:nvSpPr>
                <p:cNvPr id="24" name="Rectangle 23">
                  <a:extLst>
                    <a:ext uri="{FF2B5EF4-FFF2-40B4-BE49-F238E27FC236}">
                      <a16:creationId xmlns:a16="http://schemas.microsoft.com/office/drawing/2014/main" id="{4210B9F3-C41A-FFA4-967C-CACF81F20BB0}"/>
                    </a:ext>
                  </a:extLst>
                </p:cNvPr>
                <p:cNvSpPr/>
                <p:nvPr/>
              </p:nvSpPr>
              <p:spPr>
                <a:xfrm>
                  <a:off x="3443416" y="4292019"/>
                  <a:ext cx="790832" cy="17052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latin typeface="Lato" panose="020F0502020204030203" pitchFamily="34" charset="0"/>
                    <a:ea typeface="Lato" panose="020F0502020204030203" pitchFamily="34" charset="0"/>
                    <a:cs typeface="Lato" panose="020F0502020204030203" pitchFamily="34" charset="0"/>
                  </a:endParaRPr>
                </a:p>
              </p:txBody>
            </p:sp>
            <p:sp>
              <p:nvSpPr>
                <p:cNvPr id="25" name="Rectangle 24">
                  <a:extLst>
                    <a:ext uri="{FF2B5EF4-FFF2-40B4-BE49-F238E27FC236}">
                      <a16:creationId xmlns:a16="http://schemas.microsoft.com/office/drawing/2014/main" id="{796ACE8B-67B8-D634-345E-76B8D75DEE09}"/>
                    </a:ext>
                  </a:extLst>
                </p:cNvPr>
                <p:cNvSpPr/>
                <p:nvPr/>
              </p:nvSpPr>
              <p:spPr>
                <a:xfrm>
                  <a:off x="3443416" y="2422030"/>
                  <a:ext cx="790832" cy="17052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latin typeface="Lato" panose="020F0502020204030203" pitchFamily="34" charset="0"/>
                    <a:ea typeface="Lato" panose="020F0502020204030203" pitchFamily="34" charset="0"/>
                    <a:cs typeface="Lato" panose="020F0502020204030203" pitchFamily="34" charset="0"/>
                  </a:endParaRPr>
                </a:p>
              </p:txBody>
            </p:sp>
            <p:sp>
              <p:nvSpPr>
                <p:cNvPr id="26" name="Rectangle 25">
                  <a:extLst>
                    <a:ext uri="{FF2B5EF4-FFF2-40B4-BE49-F238E27FC236}">
                      <a16:creationId xmlns:a16="http://schemas.microsoft.com/office/drawing/2014/main" id="{3690FEA9-F00C-CEF8-6CEF-CAE486D73AD0}"/>
                    </a:ext>
                  </a:extLst>
                </p:cNvPr>
                <p:cNvSpPr/>
                <p:nvPr/>
              </p:nvSpPr>
              <p:spPr>
                <a:xfrm>
                  <a:off x="4374292" y="2422029"/>
                  <a:ext cx="790832" cy="170523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latin typeface="Lato" panose="020F0502020204030203" pitchFamily="34" charset="0"/>
                    <a:ea typeface="Lato" panose="020F0502020204030203" pitchFamily="34" charset="0"/>
                    <a:cs typeface="Lato" panose="020F0502020204030203" pitchFamily="34" charset="0"/>
                  </a:endParaRPr>
                </a:p>
              </p:txBody>
            </p:sp>
          </p:grpSp>
          <p:sp>
            <p:nvSpPr>
              <p:cNvPr id="20" name="TextBox 19">
                <a:extLst>
                  <a:ext uri="{FF2B5EF4-FFF2-40B4-BE49-F238E27FC236}">
                    <a16:creationId xmlns:a16="http://schemas.microsoft.com/office/drawing/2014/main" id="{BBECD9C0-9833-F4E1-C073-394B9CDED92D}"/>
                  </a:ext>
                </a:extLst>
              </p:cNvPr>
              <p:cNvSpPr txBox="1"/>
              <p:nvPr/>
            </p:nvSpPr>
            <p:spPr>
              <a:xfrm>
                <a:off x="3503221" y="6257173"/>
                <a:ext cx="2533403" cy="1574667"/>
              </a:xfrm>
              <a:prstGeom prst="rect">
                <a:avLst/>
              </a:prstGeom>
              <a:noFill/>
            </p:spPr>
            <p:txBody>
              <a:bodyPr wrap="square" rtlCol="0">
                <a:spAutoFit/>
              </a:bodyPr>
              <a:lstStyle/>
              <a:p>
                <a:r>
                  <a:rPr lang="en-VN">
                    <a:latin typeface="Lato" panose="020F0502020204030203" pitchFamily="34" charset="0"/>
                    <a:ea typeface="Lato" panose="020F0502020204030203" pitchFamily="34" charset="0"/>
                    <a:cs typeface="Lato" panose="020F0502020204030203" pitchFamily="34" charset="0"/>
                  </a:rPr>
                  <a:t>Fix Exemplar Per Class</a:t>
                </a:r>
              </a:p>
            </p:txBody>
          </p:sp>
        </p:grpSp>
        <p:grpSp>
          <p:nvGrpSpPr>
            <p:cNvPr id="10" name="Group 9">
              <a:extLst>
                <a:ext uri="{FF2B5EF4-FFF2-40B4-BE49-F238E27FC236}">
                  <a16:creationId xmlns:a16="http://schemas.microsoft.com/office/drawing/2014/main" id="{772F3060-7C0B-6738-5EAB-F02E071DDE92}"/>
                </a:ext>
              </a:extLst>
            </p:cNvPr>
            <p:cNvGrpSpPr/>
            <p:nvPr/>
          </p:nvGrpSpPr>
          <p:grpSpPr>
            <a:xfrm>
              <a:off x="6601479" y="552039"/>
              <a:ext cx="5989588" cy="6604943"/>
              <a:chOff x="6601479" y="552039"/>
              <a:chExt cx="5989588" cy="6604943"/>
            </a:xfrm>
          </p:grpSpPr>
          <p:grpSp>
            <p:nvGrpSpPr>
              <p:cNvPr id="11" name="Group 10">
                <a:extLst>
                  <a:ext uri="{FF2B5EF4-FFF2-40B4-BE49-F238E27FC236}">
                    <a16:creationId xmlns:a16="http://schemas.microsoft.com/office/drawing/2014/main" id="{C7029798-5253-C298-284D-35E78F21F247}"/>
                  </a:ext>
                </a:extLst>
              </p:cNvPr>
              <p:cNvGrpSpPr/>
              <p:nvPr/>
            </p:nvGrpSpPr>
            <p:grpSpPr>
              <a:xfrm>
                <a:off x="7212819" y="552039"/>
                <a:ext cx="3583460" cy="5445212"/>
                <a:chOff x="7212819" y="552039"/>
                <a:chExt cx="3583460" cy="5445212"/>
              </a:xfrm>
            </p:grpSpPr>
            <p:sp>
              <p:nvSpPr>
                <p:cNvPr id="13" name="Rectangle 12">
                  <a:extLst>
                    <a:ext uri="{FF2B5EF4-FFF2-40B4-BE49-F238E27FC236}">
                      <a16:creationId xmlns:a16="http://schemas.microsoft.com/office/drawing/2014/main" id="{782966E8-DB16-8837-8933-E6B84D44816B}"/>
                    </a:ext>
                  </a:extLst>
                </p:cNvPr>
                <p:cNvSpPr/>
                <p:nvPr/>
              </p:nvSpPr>
              <p:spPr>
                <a:xfrm>
                  <a:off x="7212819" y="552039"/>
                  <a:ext cx="3583460" cy="17052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latin typeface="Lato" panose="020F0502020204030203" pitchFamily="34" charset="0"/>
                    <a:ea typeface="Lato" panose="020F0502020204030203" pitchFamily="34" charset="0"/>
                    <a:cs typeface="Lato" panose="020F0502020204030203" pitchFamily="34" charset="0"/>
                  </a:endParaRPr>
                </a:p>
              </p:txBody>
            </p:sp>
            <p:sp>
              <p:nvSpPr>
                <p:cNvPr id="14" name="Rectangle 13">
                  <a:extLst>
                    <a:ext uri="{FF2B5EF4-FFF2-40B4-BE49-F238E27FC236}">
                      <a16:creationId xmlns:a16="http://schemas.microsoft.com/office/drawing/2014/main" id="{7FCEBDB4-EF0B-8783-C1FA-DC802E8AF105}"/>
                    </a:ext>
                  </a:extLst>
                </p:cNvPr>
                <p:cNvSpPr/>
                <p:nvPr/>
              </p:nvSpPr>
              <p:spPr>
                <a:xfrm>
                  <a:off x="7212819" y="4292018"/>
                  <a:ext cx="1099284" cy="17052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latin typeface="Lato" panose="020F0502020204030203" pitchFamily="34" charset="0"/>
                    <a:ea typeface="Lato" panose="020F0502020204030203" pitchFamily="34" charset="0"/>
                    <a:cs typeface="Lato" panose="020F0502020204030203" pitchFamily="34" charset="0"/>
                  </a:endParaRPr>
                </a:p>
              </p:txBody>
            </p:sp>
            <p:sp>
              <p:nvSpPr>
                <p:cNvPr id="15" name="Rectangle 14">
                  <a:extLst>
                    <a:ext uri="{FF2B5EF4-FFF2-40B4-BE49-F238E27FC236}">
                      <a16:creationId xmlns:a16="http://schemas.microsoft.com/office/drawing/2014/main" id="{31A2B02E-CF21-6088-6C6E-DC01D8A395DC}"/>
                    </a:ext>
                  </a:extLst>
                </p:cNvPr>
                <p:cNvSpPr/>
                <p:nvPr/>
              </p:nvSpPr>
              <p:spPr>
                <a:xfrm>
                  <a:off x="7212819" y="2422029"/>
                  <a:ext cx="1721708" cy="17052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latin typeface="Lato" panose="020F0502020204030203" pitchFamily="34" charset="0"/>
                    <a:ea typeface="Lato" panose="020F0502020204030203" pitchFamily="34" charset="0"/>
                    <a:cs typeface="Lato" panose="020F0502020204030203" pitchFamily="34" charset="0"/>
                  </a:endParaRPr>
                </a:p>
              </p:txBody>
            </p:sp>
            <p:sp>
              <p:nvSpPr>
                <p:cNvPr id="16" name="Rectangle 15">
                  <a:extLst>
                    <a:ext uri="{FF2B5EF4-FFF2-40B4-BE49-F238E27FC236}">
                      <a16:creationId xmlns:a16="http://schemas.microsoft.com/office/drawing/2014/main" id="{9AD744FA-13D5-573C-7D74-C03435EF6BCB}"/>
                    </a:ext>
                  </a:extLst>
                </p:cNvPr>
                <p:cNvSpPr/>
                <p:nvPr/>
              </p:nvSpPr>
              <p:spPr>
                <a:xfrm>
                  <a:off x="9074571" y="2422029"/>
                  <a:ext cx="1721708" cy="170523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latin typeface="Lato" panose="020F0502020204030203" pitchFamily="34" charset="0"/>
                    <a:ea typeface="Lato" panose="020F0502020204030203" pitchFamily="34" charset="0"/>
                    <a:cs typeface="Lato" panose="020F0502020204030203" pitchFamily="34" charset="0"/>
                  </a:endParaRPr>
                </a:p>
              </p:txBody>
            </p:sp>
            <p:sp>
              <p:nvSpPr>
                <p:cNvPr id="17" name="Rectangle 16">
                  <a:extLst>
                    <a:ext uri="{FF2B5EF4-FFF2-40B4-BE49-F238E27FC236}">
                      <a16:creationId xmlns:a16="http://schemas.microsoft.com/office/drawing/2014/main" id="{B8BD8845-B296-0A9D-D322-464D62DA85AD}"/>
                    </a:ext>
                  </a:extLst>
                </p:cNvPr>
                <p:cNvSpPr/>
                <p:nvPr/>
              </p:nvSpPr>
              <p:spPr>
                <a:xfrm>
                  <a:off x="8454907" y="4292018"/>
                  <a:ext cx="1099284" cy="170523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latin typeface="Lato" panose="020F0502020204030203" pitchFamily="34" charset="0"/>
                    <a:ea typeface="Lato" panose="020F0502020204030203" pitchFamily="34" charset="0"/>
                    <a:cs typeface="Lato" panose="020F0502020204030203" pitchFamily="34" charset="0"/>
                  </a:endParaRPr>
                </a:p>
              </p:txBody>
            </p:sp>
            <p:sp>
              <p:nvSpPr>
                <p:cNvPr id="18" name="Rectangle 17">
                  <a:extLst>
                    <a:ext uri="{FF2B5EF4-FFF2-40B4-BE49-F238E27FC236}">
                      <a16:creationId xmlns:a16="http://schemas.microsoft.com/office/drawing/2014/main" id="{E44B2F25-4B3F-10D9-61C0-2530F9FD66C8}"/>
                    </a:ext>
                  </a:extLst>
                </p:cNvPr>
                <p:cNvSpPr/>
                <p:nvPr/>
              </p:nvSpPr>
              <p:spPr>
                <a:xfrm>
                  <a:off x="9696995" y="4292018"/>
                  <a:ext cx="1099284" cy="1705233"/>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latin typeface="Lato" panose="020F0502020204030203" pitchFamily="34" charset="0"/>
                    <a:ea typeface="Lato" panose="020F0502020204030203" pitchFamily="34" charset="0"/>
                    <a:cs typeface="Lato" panose="020F0502020204030203" pitchFamily="34" charset="0"/>
                  </a:endParaRPr>
                </a:p>
              </p:txBody>
            </p:sp>
          </p:grpSp>
          <p:sp>
            <p:nvSpPr>
              <p:cNvPr id="12" name="TextBox 11">
                <a:extLst>
                  <a:ext uri="{FF2B5EF4-FFF2-40B4-BE49-F238E27FC236}">
                    <a16:creationId xmlns:a16="http://schemas.microsoft.com/office/drawing/2014/main" id="{1787E864-6065-4A39-A534-7E7545EA3F55}"/>
                  </a:ext>
                </a:extLst>
              </p:cNvPr>
              <p:cNvSpPr txBox="1"/>
              <p:nvPr/>
            </p:nvSpPr>
            <p:spPr>
              <a:xfrm>
                <a:off x="6601479" y="6257172"/>
                <a:ext cx="5989588" cy="899810"/>
              </a:xfrm>
              <a:prstGeom prst="rect">
                <a:avLst/>
              </a:prstGeom>
              <a:noFill/>
            </p:spPr>
            <p:txBody>
              <a:bodyPr wrap="none" rtlCol="0">
                <a:spAutoFit/>
              </a:bodyPr>
              <a:lstStyle/>
              <a:p>
                <a:r>
                  <a:rPr lang="en-VN" dirty="0">
                    <a:latin typeface="Lato" panose="020F0502020204030203" pitchFamily="34" charset="0"/>
                    <a:ea typeface="Lato" panose="020F0502020204030203" pitchFamily="34" charset="0"/>
                    <a:cs typeface="Lato" panose="020F0502020204030203" pitchFamily="34" charset="0"/>
                  </a:rPr>
                  <a:t>ICARL Fixed Number of total Exemplars</a:t>
                </a:r>
              </a:p>
            </p:txBody>
          </p:sp>
        </p:grpSp>
      </p:grpSp>
      <p:sp>
        <p:nvSpPr>
          <p:cNvPr id="27" name="Rounded Rectangle 26">
            <a:extLst>
              <a:ext uri="{FF2B5EF4-FFF2-40B4-BE49-F238E27FC236}">
                <a16:creationId xmlns:a16="http://schemas.microsoft.com/office/drawing/2014/main" id="{B296D71F-1DC6-7D25-9152-D9147F4AE074}"/>
              </a:ext>
            </a:extLst>
          </p:cNvPr>
          <p:cNvSpPr/>
          <p:nvPr/>
        </p:nvSpPr>
        <p:spPr>
          <a:xfrm>
            <a:off x="756875" y="921402"/>
            <a:ext cx="7351839" cy="767548"/>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VN" sz="2200" dirty="0">
              <a:latin typeface="Lato" panose="020F0502020204030203" pitchFamily="34" charset="0"/>
              <a:ea typeface="Lato" panose="020F0502020204030203" pitchFamily="34" charset="0"/>
              <a:cs typeface="Lato" panose="020F0502020204030203" pitchFamily="34" charset="0"/>
            </a:endParaRPr>
          </a:p>
          <a:p>
            <a:pPr algn="ctr"/>
            <a:r>
              <a:rPr lang="en-VN" sz="2200" dirty="0">
                <a:latin typeface="Lato" panose="020F0502020204030203" pitchFamily="34" charset="0"/>
                <a:ea typeface="Lato" panose="020F0502020204030203" pitchFamily="34" charset="0"/>
                <a:cs typeface="Lato" panose="020F0502020204030203" pitchFamily="34" charset="0"/>
              </a:rPr>
              <a:t>ICARL suggests fixing total number of exemplar and employ herding for exemplar selection </a:t>
            </a:r>
          </a:p>
          <a:p>
            <a:pPr algn="ctr"/>
            <a:endParaRPr lang="en-VN" sz="22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44992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779E02-BD83-AA4C-8433-57F8B846D859}"/>
              </a:ext>
            </a:extLst>
          </p:cNvPr>
          <p:cNvSpPr>
            <a:spLocks noGrp="1"/>
          </p:cNvSpPr>
          <p:nvPr>
            <p:ph type="sldNum" sz="quarter" idx="12"/>
          </p:nvPr>
        </p:nvSpPr>
        <p:spPr/>
        <p:txBody>
          <a:bodyPr/>
          <a:lstStyle/>
          <a:p>
            <a:fld id="{9EA0BE3B-158A-4EDF-80DC-E394A0D1600F}" type="slidenum">
              <a:rPr lang="en-US" smtClean="0"/>
              <a:pPr/>
              <a:t>21</a:t>
            </a:fld>
            <a:endParaRPr lang="en-US" dirty="0"/>
          </a:p>
        </p:txBody>
      </p:sp>
      <p:sp>
        <p:nvSpPr>
          <p:cNvPr id="3" name="Title 2">
            <a:extLst>
              <a:ext uri="{FF2B5EF4-FFF2-40B4-BE49-F238E27FC236}">
                <a16:creationId xmlns:a16="http://schemas.microsoft.com/office/drawing/2014/main" id="{506A13EA-6C37-35A4-4EE7-D95177CD1F38}"/>
              </a:ext>
            </a:extLst>
          </p:cNvPr>
          <p:cNvSpPr>
            <a:spLocks noGrp="1"/>
          </p:cNvSpPr>
          <p:nvPr>
            <p:ph type="title"/>
          </p:nvPr>
        </p:nvSpPr>
        <p:spPr/>
        <p:txBody>
          <a:bodyPr/>
          <a:lstStyle/>
          <a:p>
            <a:r>
              <a:rPr lang="en-VN"/>
              <a:t>Exemplar Using</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E912AFA-CB8E-D31D-D445-16BD85C1FF24}"/>
                  </a:ext>
                </a:extLst>
              </p:cNvPr>
              <p:cNvSpPr txBox="1"/>
              <p:nvPr/>
            </p:nvSpPr>
            <p:spPr>
              <a:xfrm>
                <a:off x="375890" y="2096953"/>
                <a:ext cx="8743034" cy="923330"/>
              </a:xfrm>
              <a:prstGeom prst="rect">
                <a:avLst/>
              </a:prstGeom>
              <a:noFill/>
            </p:spPr>
            <p:txBody>
              <a:bodyPr wrap="none" rtlCol="0">
                <a:spAutoFit/>
              </a:bodyPr>
              <a:lstStyle/>
              <a:p>
                <a:r>
                  <a:rPr lang="en-VN" b="1" dirty="0">
                    <a:latin typeface="Lato" panose="020F0502020204030203" pitchFamily="34" charset="0"/>
                    <a:ea typeface="Lato" panose="020F0502020204030203" pitchFamily="34" charset="0"/>
                    <a:cs typeface="Lato" panose="020F0502020204030203" pitchFamily="34" charset="0"/>
                  </a:rPr>
                  <a:t>Herding Exemplar Selection</a:t>
                </a:r>
                <a:r>
                  <a:rPr lang="en-US" dirty="0">
                    <a:latin typeface="Lato" panose="020F0502020204030203" pitchFamily="34" charset="0"/>
                    <a:ea typeface="Lato" panose="020F0502020204030203" pitchFamily="34" charset="0"/>
                    <a:cs typeface="Lato" panose="020F0502020204030203" pitchFamily="34" charset="0"/>
                  </a:rPr>
                  <a:t>:</a:t>
                </a:r>
                <a:r>
                  <a:rPr lang="en-US" sz="1800" dirty="0">
                    <a:effectLst/>
                    <a:latin typeface="Lato" panose="020F0502020204030203" pitchFamily="34" charset="0"/>
                    <a:ea typeface="Lato" panose="020F0502020204030203" pitchFamily="34" charset="0"/>
                    <a:cs typeface="Lato" panose="020F0502020204030203" pitchFamily="34" charset="0"/>
                  </a:rPr>
                  <a:t> Given the instance set </a:t>
                </a:r>
                <a14:m>
                  <m:oMath xmlns:m="http://schemas.openxmlformats.org/officeDocument/2006/math">
                    <m:r>
                      <a:rPr lang="en-US" sz="1800" b="0" i="1" smtClean="0">
                        <a:effectLst/>
                        <a:latin typeface="Cambria Math" panose="02040503050406030204" pitchFamily="18" charset="0"/>
                      </a:rPr>
                      <m:t>𝑋</m:t>
                    </m:r>
                    <m:r>
                      <a:rPr lang="en-US" sz="1800" b="0" i="1" smtClean="0">
                        <a:effectLst/>
                        <a:latin typeface="Cambria Math" panose="02040503050406030204" pitchFamily="18" charset="0"/>
                      </a:rPr>
                      <m:t>=</m:t>
                    </m:r>
                    <m:d>
                      <m:dPr>
                        <m:begChr m:val="["/>
                        <m:endChr m:val="]"/>
                        <m:ctrlPr>
                          <a:rPr lang="en-US" sz="1800" b="0" i="1" smtClean="0">
                            <a:effectLst/>
                            <a:latin typeface="Cambria Math" panose="02040503050406030204" pitchFamily="18" charset="0"/>
                          </a:rPr>
                        </m:ctrlPr>
                      </m:dPr>
                      <m:e>
                        <m:sSub>
                          <m:sSubPr>
                            <m:ctrlPr>
                              <a:rPr lang="en-US" sz="1800" b="0" i="1" smtClean="0">
                                <a:effectLst/>
                                <a:latin typeface="Cambria Math" panose="02040503050406030204" pitchFamily="18" charset="0"/>
                              </a:rPr>
                            </m:ctrlPr>
                          </m:sSubPr>
                          <m:e>
                            <m:r>
                              <a:rPr lang="en-US" sz="1800" b="0" i="1" smtClean="0">
                                <a:effectLst/>
                                <a:latin typeface="Cambria Math" panose="02040503050406030204" pitchFamily="18" charset="0"/>
                              </a:rPr>
                              <m:t>𝑥</m:t>
                            </m:r>
                          </m:e>
                          <m:sub>
                            <m:r>
                              <a:rPr lang="en-US" sz="1800" b="0" i="1" smtClean="0">
                                <a:effectLst/>
                                <a:latin typeface="Cambria Math" panose="02040503050406030204" pitchFamily="18" charset="0"/>
                              </a:rPr>
                              <m:t>1</m:t>
                            </m:r>
                          </m:sub>
                        </m:sSub>
                        <m:r>
                          <a:rPr lang="en-US" sz="1800" b="0" i="1" smtClean="0">
                            <a:effectLst/>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e>
                    </m:d>
                  </m:oMath>
                </a14:m>
                <a:r>
                  <a:rPr lang="en-US" sz="1800" dirty="0">
                    <a:effectLst/>
                    <a:latin typeface="Lato" panose="020F0502020204030203" pitchFamily="34" charset="0"/>
                    <a:ea typeface="Lato" panose="020F0502020204030203" pitchFamily="34" charset="0"/>
                    <a:cs typeface="Lato" panose="020F0502020204030203" pitchFamily="34" charset="0"/>
                  </a:rPr>
                  <a:t> from class  </a:t>
                </a:r>
                <a14:m>
                  <m:oMath xmlns:m="http://schemas.openxmlformats.org/officeDocument/2006/math">
                    <m:r>
                      <a:rPr lang="en-US" sz="1800" b="0" i="1" smtClean="0">
                        <a:effectLst/>
                        <a:latin typeface="Cambria Math" panose="02040503050406030204" pitchFamily="18" charset="0"/>
                      </a:rPr>
                      <m:t>𝑦</m:t>
                    </m:r>
                    <m:r>
                      <a:rPr lang="en-US" sz="1800" b="0" i="0" smtClean="0">
                        <a:effectLst/>
                        <a:latin typeface="Cambria Math" panose="02040503050406030204" pitchFamily="18" charset="0"/>
                      </a:rPr>
                      <m:t>, </m:t>
                    </m:r>
                  </m:oMath>
                </a14:m>
                <a:r>
                  <a:rPr lang="en-US" sz="1800" dirty="0">
                    <a:effectLst/>
                    <a:latin typeface="Lato" panose="020F0502020204030203" pitchFamily="34" charset="0"/>
                    <a:ea typeface="Lato" panose="020F0502020204030203" pitchFamily="34" charset="0"/>
                    <a:cs typeface="Lato" panose="020F0502020204030203" pitchFamily="34" charset="0"/>
                  </a:rPr>
                  <a:t> </a:t>
                </a:r>
                <a:br>
                  <a:rPr lang="en-US" sz="1800" dirty="0">
                    <a:effectLst/>
                    <a:latin typeface="Lato" panose="020F0502020204030203" pitchFamily="34" charset="0"/>
                    <a:ea typeface="Lato" panose="020F0502020204030203" pitchFamily="34" charset="0"/>
                    <a:cs typeface="Lato" panose="020F0502020204030203" pitchFamily="34" charset="0"/>
                  </a:rPr>
                </a:br>
                <a:r>
                  <a:rPr lang="en-US" sz="1800" dirty="0">
                    <a:effectLst/>
                    <a:latin typeface="Lato" panose="020F0502020204030203" pitchFamily="34" charset="0"/>
                    <a:ea typeface="Lato" panose="020F0502020204030203" pitchFamily="34" charset="0"/>
                    <a:cs typeface="Lato" panose="020F0502020204030203" pitchFamily="34" charset="0"/>
                  </a:rPr>
                  <a:t>herding first calculates</a:t>
                </a:r>
                <a:r>
                  <a:rPr lang="en-US" dirty="0">
                    <a:latin typeface="Lato" panose="020F0502020204030203" pitchFamily="34" charset="0"/>
                    <a:ea typeface="Lato" panose="020F0502020204030203" pitchFamily="34" charset="0"/>
                    <a:cs typeface="Lato" panose="020F0502020204030203" pitchFamily="34" charset="0"/>
                  </a:rPr>
                  <a:t> </a:t>
                </a:r>
                <a:r>
                  <a:rPr lang="en-US" sz="1800" dirty="0">
                    <a:effectLst/>
                    <a:latin typeface="Lato" panose="020F0502020204030203" pitchFamily="34" charset="0"/>
                    <a:ea typeface="Lato" panose="020F0502020204030203" pitchFamily="34" charset="0"/>
                    <a:cs typeface="Lato" panose="020F0502020204030203" pitchFamily="34" charset="0"/>
                  </a:rPr>
                  <a:t>the class center with current embedding. </a:t>
                </a:r>
                <a:endParaRPr lang="en-US" dirty="0">
                  <a:latin typeface="Lato" panose="020F0502020204030203" pitchFamily="34" charset="0"/>
                  <a:ea typeface="Lato" panose="020F0502020204030203" pitchFamily="34" charset="0"/>
                  <a:cs typeface="Lato" panose="020F0502020204030203" pitchFamily="34" charset="0"/>
                </a:endParaRPr>
              </a:p>
              <a:p>
                <a:endParaRPr lang="en-US" dirty="0">
                  <a:latin typeface="Lato" panose="020F0502020204030203" pitchFamily="34" charset="0"/>
                  <a:ea typeface="Lato" panose="020F0502020204030203" pitchFamily="34" charset="0"/>
                  <a:cs typeface="Lato" panose="020F0502020204030203" pitchFamily="34" charset="0"/>
                </a:endParaRPr>
              </a:p>
            </p:txBody>
          </p:sp>
        </mc:Choice>
        <mc:Fallback xmlns="">
          <p:sp>
            <p:nvSpPr>
              <p:cNvPr id="6" name="TextBox 5">
                <a:extLst>
                  <a:ext uri="{FF2B5EF4-FFF2-40B4-BE49-F238E27FC236}">
                    <a16:creationId xmlns:a16="http://schemas.microsoft.com/office/drawing/2014/main" id="{7E912AFA-CB8E-D31D-D445-16BD85C1FF24}"/>
                  </a:ext>
                </a:extLst>
              </p:cNvPr>
              <p:cNvSpPr txBox="1">
                <a:spLocks noRot="1" noChangeAspect="1" noMove="1" noResize="1" noEditPoints="1" noAdjustHandles="1" noChangeArrowheads="1" noChangeShapeType="1" noTextEdit="1"/>
              </p:cNvSpPr>
              <p:nvPr/>
            </p:nvSpPr>
            <p:spPr>
              <a:xfrm>
                <a:off x="375890" y="2096953"/>
                <a:ext cx="8743034" cy="923330"/>
              </a:xfrm>
              <a:prstGeom prst="rect">
                <a:avLst/>
              </a:prstGeom>
              <a:blipFill>
                <a:blip r:embed="rId3"/>
                <a:stretch>
                  <a:fillRect l="-580" t="-274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1FBCFF7-E423-FE2E-89F7-E295645633EF}"/>
                  </a:ext>
                </a:extLst>
              </p:cNvPr>
              <p:cNvSpPr txBox="1"/>
              <p:nvPr/>
            </p:nvSpPr>
            <p:spPr>
              <a:xfrm>
                <a:off x="3273764" y="3070897"/>
                <a:ext cx="1847685" cy="6721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VN" i="1" smtClean="0">
                              <a:latin typeface="Cambria Math" panose="02040503050406030204" pitchFamily="18" charset="0"/>
                            </a:rPr>
                          </m:ctrlPr>
                        </m:sSubPr>
                        <m:e>
                          <m:r>
                            <a:rPr lang="en-VN"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𝑦</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e>
                          </m:d>
                        </m:den>
                      </m:f>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𝑋</m:t>
                          </m:r>
                        </m:sub>
                        <m:sup/>
                        <m:e>
                          <m:r>
                            <m:rPr>
                              <m:sty m:val="p"/>
                            </m:rPr>
                            <a:rPr lang="el-GR" b="0" i="1" smtClean="0">
                              <a:latin typeface="Cambria Math" panose="02040503050406030204" pitchFamily="18" charset="0"/>
                              <a:ea typeface="Cambria Math" panose="02040503050406030204" pitchFamily="18" charset="0"/>
                            </a:rPr>
                            <m:t>Φ</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e>
                      </m:nary>
                    </m:oMath>
                  </m:oMathPara>
                </a14:m>
                <a:endParaRPr lang="en-VN"/>
              </a:p>
            </p:txBody>
          </p:sp>
        </mc:Choice>
        <mc:Fallback xmlns="">
          <p:sp>
            <p:nvSpPr>
              <p:cNvPr id="4" name="TextBox 3">
                <a:extLst>
                  <a:ext uri="{FF2B5EF4-FFF2-40B4-BE49-F238E27FC236}">
                    <a16:creationId xmlns:a16="http://schemas.microsoft.com/office/drawing/2014/main" id="{D1FBCFF7-E423-FE2E-89F7-E295645633EF}"/>
                  </a:ext>
                </a:extLst>
              </p:cNvPr>
              <p:cNvSpPr txBox="1">
                <a:spLocks noRot="1" noChangeAspect="1" noMove="1" noResize="1" noEditPoints="1" noAdjustHandles="1" noChangeArrowheads="1" noChangeShapeType="1" noTextEdit="1"/>
              </p:cNvSpPr>
              <p:nvPr/>
            </p:nvSpPr>
            <p:spPr>
              <a:xfrm>
                <a:off x="3273764" y="3070897"/>
                <a:ext cx="1847685" cy="672172"/>
              </a:xfrm>
              <a:prstGeom prst="rect">
                <a:avLst/>
              </a:prstGeom>
              <a:blipFill>
                <a:blip r:embed="rId4"/>
                <a:stretch>
                  <a:fillRect l="-2041" t="-144444" r="-3401" b="-20000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3778A3E-CAD0-F2B7-A7E7-653F06B20DAC}"/>
                  </a:ext>
                </a:extLst>
              </p:cNvPr>
              <p:cNvSpPr txBox="1"/>
              <p:nvPr/>
            </p:nvSpPr>
            <p:spPr>
              <a:xfrm>
                <a:off x="375890" y="4058860"/>
                <a:ext cx="8392220" cy="927883"/>
              </a:xfrm>
              <a:prstGeom prst="rect">
                <a:avLst/>
              </a:prstGeom>
              <a:noFill/>
            </p:spPr>
            <p:txBody>
              <a:bodyPr wrap="square">
                <a:spAutoFit/>
              </a:bodyPr>
              <a:lstStyle/>
              <a:p>
                <a:r>
                  <a:rPr lang="en-US" sz="1800" dirty="0">
                    <a:effectLst/>
                    <a:latin typeface="VnNimbusRomanNo9L"/>
                  </a:rPr>
                  <a:t>Afterward, it calculates and rank the distance of each instance to the class center in ascending order. The exemplars are then selected based on ranking, e.g., the top </a:t>
                </a:r>
                <a14:m>
                  <m:oMath xmlns:m="http://schemas.openxmlformats.org/officeDocument/2006/math">
                    <m:d>
                      <m:dPr>
                        <m:begChr m:val="["/>
                        <m:endChr m:val="]"/>
                        <m:ctrlPr>
                          <a:rPr lang="en-US" sz="1800" b="0" i="1" smtClean="0">
                            <a:effectLst/>
                            <a:latin typeface="Cambria Math" panose="02040503050406030204" pitchFamily="18" charset="0"/>
                          </a:rPr>
                        </m:ctrlPr>
                      </m:dPr>
                      <m:e>
                        <m:r>
                          <a:rPr lang="en-US" sz="1800" b="0" i="1" smtClean="0">
                            <a:effectLst/>
                            <a:latin typeface="Cambria Math" panose="02040503050406030204" pitchFamily="18" charset="0"/>
                          </a:rPr>
                          <m:t> </m:t>
                        </m:r>
                        <m:f>
                          <m:fPr>
                            <m:type m:val="skw"/>
                            <m:ctrlPr>
                              <a:rPr lang="en-US" sz="1800" b="0" i="1" smtClean="0">
                                <a:effectLst/>
                                <a:latin typeface="Cambria Math" panose="02040503050406030204" pitchFamily="18" charset="0"/>
                              </a:rPr>
                            </m:ctrlPr>
                          </m:fPr>
                          <m:num>
                            <m:r>
                              <a:rPr lang="en-US" sz="1800" b="0" i="1" smtClean="0">
                                <a:effectLst/>
                                <a:latin typeface="Cambria Math" panose="02040503050406030204" pitchFamily="18" charset="0"/>
                              </a:rPr>
                              <m:t>𝑀</m:t>
                            </m:r>
                          </m:num>
                          <m:den>
                            <m:sSub>
                              <m:sSubPr>
                                <m:ctrlPr>
                                  <a:rPr lang="en-US" sz="1800" b="0" i="1" smtClean="0">
                                    <a:effectLst/>
                                    <a:latin typeface="Cambria Math" panose="02040503050406030204" pitchFamily="18" charset="0"/>
                                  </a:rPr>
                                </m:ctrlPr>
                              </m:sSubPr>
                              <m:e>
                                <m:r>
                                  <a:rPr lang="en-US" sz="1800" b="0" i="1" smtClean="0">
                                    <a:effectLst/>
                                    <a:latin typeface="Cambria Math" panose="02040503050406030204" pitchFamily="18" charset="0"/>
                                  </a:rPr>
                                  <m:t>𝑦</m:t>
                                </m:r>
                              </m:e>
                              <m:sub>
                                <m:r>
                                  <a:rPr lang="en-US" sz="1800" b="0" i="1" smtClean="0">
                                    <a:effectLst/>
                                    <a:latin typeface="Cambria Math" panose="02040503050406030204" pitchFamily="18" charset="0"/>
                                  </a:rPr>
                                  <m:t>𝑏</m:t>
                                </m:r>
                              </m:sub>
                            </m:sSub>
                          </m:den>
                        </m:f>
                      </m:e>
                    </m:d>
                    <m:r>
                      <a:rPr lang="en-US" sz="1800" b="0" i="1" smtClean="0">
                        <a:effectLst/>
                        <a:latin typeface="Cambria Math" panose="02040503050406030204" pitchFamily="18" charset="0"/>
                      </a:rPr>
                      <m:t> </m:t>
                    </m:r>
                  </m:oMath>
                </a14:m>
                <a:r>
                  <a:rPr lang="en-US" sz="1800" dirty="0">
                    <a:effectLst/>
                    <a:latin typeface="VnNimbusRomanNo9L"/>
                  </a:rPr>
                  <a:t>instances with the least distance. </a:t>
                </a:r>
                <a:endParaRPr lang="en-US" dirty="0"/>
              </a:p>
            </p:txBody>
          </p:sp>
        </mc:Choice>
        <mc:Fallback xmlns="">
          <p:sp>
            <p:nvSpPr>
              <p:cNvPr id="28" name="TextBox 27">
                <a:extLst>
                  <a:ext uri="{FF2B5EF4-FFF2-40B4-BE49-F238E27FC236}">
                    <a16:creationId xmlns:a16="http://schemas.microsoft.com/office/drawing/2014/main" id="{53778A3E-CAD0-F2B7-A7E7-653F06B20DAC}"/>
                  </a:ext>
                </a:extLst>
              </p:cNvPr>
              <p:cNvSpPr txBox="1">
                <a:spLocks noRot="1" noChangeAspect="1" noMove="1" noResize="1" noEditPoints="1" noAdjustHandles="1" noChangeArrowheads="1" noChangeShapeType="1" noTextEdit="1"/>
              </p:cNvSpPr>
              <p:nvPr/>
            </p:nvSpPr>
            <p:spPr>
              <a:xfrm>
                <a:off x="375890" y="4058860"/>
                <a:ext cx="8392220" cy="927883"/>
              </a:xfrm>
              <a:prstGeom prst="rect">
                <a:avLst/>
              </a:prstGeom>
              <a:blipFill>
                <a:blip r:embed="rId5"/>
                <a:stretch>
                  <a:fillRect l="-604" t="-2703" b="-67568"/>
                </a:stretch>
              </a:blipFill>
            </p:spPr>
            <p:txBody>
              <a:bodyPr/>
              <a:lstStyle/>
              <a:p>
                <a:r>
                  <a:rPr lang="en-VN">
                    <a:noFill/>
                  </a:rPr>
                  <a:t> </a:t>
                </a:r>
              </a:p>
            </p:txBody>
          </p:sp>
        </mc:Fallback>
      </mc:AlternateContent>
      <p:sp>
        <p:nvSpPr>
          <p:cNvPr id="8" name="Rounded Rectangle 7">
            <a:extLst>
              <a:ext uri="{FF2B5EF4-FFF2-40B4-BE49-F238E27FC236}">
                <a16:creationId xmlns:a16="http://schemas.microsoft.com/office/drawing/2014/main" id="{9FFD9DDC-8997-3331-D9AC-DB7F9B2F16FF}"/>
              </a:ext>
            </a:extLst>
          </p:cNvPr>
          <p:cNvSpPr/>
          <p:nvPr/>
        </p:nvSpPr>
        <p:spPr>
          <a:xfrm>
            <a:off x="756875" y="921402"/>
            <a:ext cx="7351839" cy="767548"/>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VN" sz="2200" dirty="0">
              <a:latin typeface="Lato" panose="020F0502020204030203" pitchFamily="34" charset="0"/>
              <a:ea typeface="Lato" panose="020F0502020204030203" pitchFamily="34" charset="0"/>
              <a:cs typeface="Lato" panose="020F0502020204030203" pitchFamily="34" charset="0"/>
            </a:endParaRPr>
          </a:p>
          <a:p>
            <a:pPr algn="ctr"/>
            <a:r>
              <a:rPr lang="en-VN" sz="2200" dirty="0">
                <a:latin typeface="Lato" panose="020F0502020204030203" pitchFamily="34" charset="0"/>
                <a:ea typeface="Lato" panose="020F0502020204030203" pitchFamily="34" charset="0"/>
                <a:cs typeface="Lato" panose="020F0502020204030203" pitchFamily="34" charset="0"/>
              </a:rPr>
              <a:t>ICARL suggests fixing total number of exemplar and employ herding for exemplar selection </a:t>
            </a:r>
          </a:p>
          <a:p>
            <a:pPr algn="ctr"/>
            <a:endParaRPr lang="en-VN" sz="22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336459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18AEFB-C74B-31EF-8379-C5EDFBB1F5E8}"/>
              </a:ext>
            </a:extLst>
          </p:cNvPr>
          <p:cNvSpPr>
            <a:spLocks noGrp="1"/>
          </p:cNvSpPr>
          <p:nvPr>
            <p:ph type="sldNum" sz="quarter" idx="12"/>
          </p:nvPr>
        </p:nvSpPr>
        <p:spPr/>
        <p:txBody>
          <a:bodyPr/>
          <a:lstStyle/>
          <a:p>
            <a:fld id="{9EA0BE3B-158A-4EDF-80DC-E394A0D1600F}" type="slidenum">
              <a:rPr lang="en-US" smtClean="0"/>
              <a:pPr/>
              <a:t>22</a:t>
            </a:fld>
            <a:endParaRPr lang="en-US" dirty="0"/>
          </a:p>
        </p:txBody>
      </p:sp>
      <p:sp>
        <p:nvSpPr>
          <p:cNvPr id="3" name="Title 2">
            <a:extLst>
              <a:ext uri="{FF2B5EF4-FFF2-40B4-BE49-F238E27FC236}">
                <a16:creationId xmlns:a16="http://schemas.microsoft.com/office/drawing/2014/main" id="{ECC16F67-981E-8E46-C984-F495478FA4D1}"/>
              </a:ext>
            </a:extLst>
          </p:cNvPr>
          <p:cNvSpPr>
            <a:spLocks noGrp="1"/>
          </p:cNvSpPr>
          <p:nvPr>
            <p:ph type="title"/>
          </p:nvPr>
        </p:nvSpPr>
        <p:spPr/>
        <p:txBody>
          <a:bodyPr/>
          <a:lstStyle/>
          <a:p>
            <a:r>
              <a:rPr lang="en-VN"/>
              <a:t>Nearest-Mean-of-Exemplar Classifier</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C49AA82F-1DDA-8EAD-DF45-A49F774FA1D0}"/>
                  </a:ext>
                </a:extLst>
              </p:cNvPr>
              <p:cNvSpPr>
                <a:spLocks noGrp="1"/>
              </p:cNvSpPr>
              <p:nvPr>
                <p:ph sz="quarter" idx="13"/>
              </p:nvPr>
            </p:nvSpPr>
            <p:spPr/>
            <p:txBody>
              <a:bodyPr/>
              <a:lstStyle/>
              <a:p>
                <a:pPr marL="0" indent="0">
                  <a:buNone/>
                </a:pPr>
                <a:r>
                  <a:rPr lang="en-US" sz="2000" dirty="0">
                    <a:effectLst/>
                    <a:latin typeface="VnNimbusRomanNo9L"/>
                  </a:rPr>
                  <a:t>Traditionally, ML models predict class labels by choosing the class with the highest probability.</a:t>
                </a:r>
              </a:p>
              <a:p>
                <a:pPr marL="0" indent="0">
                  <a:buNone/>
                </a:pPr>
                <a14:m>
                  <m:oMathPara xmlns:m="http://schemas.openxmlformats.org/officeDocument/2006/math">
                    <m:oMathParaPr>
                      <m:jc m:val="centerGroup"/>
                    </m:oMathParaPr>
                    <m:oMath xmlns:m="http://schemas.openxmlformats.org/officeDocument/2006/math">
                      <m:r>
                        <m:rPr>
                          <m:sty m:val="p"/>
                        </m:rPr>
                        <a:rPr lang="en-US" sz="2000" i="1">
                          <a:latin typeface="Cambria Math" panose="02040503050406030204" pitchFamily="18" charset="0"/>
                        </a:rPr>
                        <m:t>y</m:t>
                      </m:r>
                      <m:r>
                        <a:rPr lang="vi-VN" sz="2000" b="0" i="1" smtClean="0">
                          <a:latin typeface="Cambria Math" panose="02040503050406030204" pitchFamily="18" charset="0"/>
                        </a:rPr>
                        <m:t>= </m:t>
                      </m:r>
                      <m:r>
                        <m:rPr>
                          <m:sty m:val="p"/>
                        </m:rPr>
                        <a:rPr lang="vi-VN" sz="2000" i="1">
                          <a:latin typeface="Cambria Math" panose="02040503050406030204" pitchFamily="18" charset="0"/>
                        </a:rPr>
                        <m:t>argmax</m:t>
                      </m:r>
                      <m:r>
                        <a:rPr lang="vi-VN" sz="2000" b="0" i="1" smtClean="0">
                          <a:latin typeface="Cambria Math" panose="02040503050406030204" pitchFamily="18" charset="0"/>
                        </a:rPr>
                        <m:t>(</m:t>
                      </m:r>
                      <m:r>
                        <a:rPr lang="vi-VN" sz="2000" b="0" i="1" smtClean="0">
                          <a:latin typeface="Cambria Math" panose="02040503050406030204" pitchFamily="18" charset="0"/>
                          <a:ea typeface="Cambria Math" panose="02040503050406030204" pitchFamily="18" charset="0"/>
                        </a:rPr>
                        <m:t>ℱ</m:t>
                      </m:r>
                      <m:r>
                        <a:rPr lang="vi-VN" sz="2000" b="0" i="1" smtClean="0">
                          <a:latin typeface="Cambria Math" panose="02040503050406030204" pitchFamily="18" charset="0"/>
                          <a:ea typeface="Cambria Math" panose="02040503050406030204" pitchFamily="18" charset="0"/>
                        </a:rPr>
                        <m:t>(</m:t>
                      </m:r>
                      <m:r>
                        <m:rPr>
                          <m:sty m:val="p"/>
                        </m:rPr>
                        <a:rPr lang="el-GR" sz="2000" b="0" i="1" smtClean="0">
                          <a:latin typeface="Cambria Math" panose="02040503050406030204" pitchFamily="18" charset="0"/>
                          <a:ea typeface="Cambria Math" panose="02040503050406030204" pitchFamily="18" charset="0"/>
                        </a:rPr>
                        <m:t>Φ</m:t>
                      </m:r>
                      <m:r>
                        <a:rPr lang="vi-VN"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𝑥</m:t>
                      </m:r>
                      <m:r>
                        <a:rPr lang="vi-VN" sz="2000" b="0" i="1" smtClean="0">
                          <a:latin typeface="Cambria Math" panose="02040503050406030204" pitchFamily="18" charset="0"/>
                          <a:ea typeface="Cambria Math" panose="02040503050406030204" pitchFamily="18" charset="0"/>
                        </a:rPr>
                        <m:t>)</m:t>
                      </m:r>
                      <m:r>
                        <a:rPr lang="vi-VN" sz="2000" b="0" i="1" smtClean="0">
                          <a:latin typeface="Cambria Math" panose="02040503050406030204" pitchFamily="18" charset="0"/>
                        </a:rPr>
                        <m:t>)</m:t>
                      </m:r>
                    </m:oMath>
                  </m:oMathPara>
                </a14:m>
                <a:br>
                  <a:rPr lang="en-US" sz="2000" dirty="0">
                    <a:effectLst/>
                    <a:latin typeface="VnNimbusRomanNo9L"/>
                  </a:rPr>
                </a:br>
                <a:endParaRPr lang="en-VN" sz="2000" dirty="0">
                  <a:effectLst/>
                  <a:latin typeface="VnNimbusRomanNo9L"/>
                </a:endParaRPr>
              </a:p>
              <a:p>
                <a:pPr marL="0" indent="0">
                  <a:buNone/>
                </a:pPr>
                <a:endParaRPr lang="en-US" sz="2000" dirty="0">
                  <a:latin typeface="VnNimbusRomanNo9L"/>
                </a:endParaRPr>
              </a:p>
              <a:p>
                <a:pPr marL="0" indent="0">
                  <a:buNone/>
                </a:pPr>
                <a:r>
                  <a:rPr lang="en-US" sz="2000" dirty="0">
                    <a:latin typeface="VnNimbusRomanNo9L"/>
                  </a:rPr>
                  <a:t>ICARL suggests using NME classifier instead to mitigate catastrophic forgetting.</a:t>
                </a:r>
                <a:br>
                  <a:rPr lang="en-US" sz="2000" dirty="0">
                    <a:latin typeface="VnNimbusRomanNo9L"/>
                  </a:rPr>
                </a:br>
                <a:r>
                  <a:rPr lang="en-US" sz="2000" dirty="0">
                    <a:effectLst/>
                    <a:latin typeface="VnNimbusRomanNo9L"/>
                  </a:rPr>
                  <a:t>NME first computes a class mean vector for each class encountered so far. </a:t>
                </a:r>
                <a:endParaRPr lang="en-US" sz="2000" dirty="0"/>
              </a:p>
              <a:p>
                <a:pPr marL="0" indent="0">
                  <a:buNone/>
                </a:pPr>
                <a:endParaRPr lang="en-US" sz="2000" dirty="0">
                  <a:effectLst/>
                  <a:latin typeface="VnNimbusRomanNo9L"/>
                </a:endParaRPr>
              </a:p>
              <a:p>
                <a:pPr marL="0" indent="0">
                  <a:buNone/>
                </a:pPr>
                <a:endParaRPr lang="en-US" sz="2000" dirty="0">
                  <a:latin typeface="VnNimbusRomanNo9L"/>
                </a:endParaRPr>
              </a:p>
              <a:p>
                <a:pPr marL="0" indent="0">
                  <a:buNone/>
                </a:pPr>
                <a:endParaRPr lang="en-US" sz="2000" dirty="0">
                  <a:effectLst/>
                  <a:latin typeface="VnNimbusRomanNo9L"/>
                </a:endParaRPr>
              </a:p>
              <a:p>
                <a:pPr marL="0" indent="0">
                  <a:buNone/>
                </a:pPr>
                <a:r>
                  <a:rPr lang="en-US" sz="2000" dirty="0">
                    <a:effectLst/>
                    <a:latin typeface="VnNimbusRomanNo9L"/>
                  </a:rPr>
                  <a:t>NME computes its feature vector and assigns the class label whose mean vector is closest to the new instance’s feature vector:</a:t>
                </a:r>
                <a:br>
                  <a:rPr lang="en-US" sz="2000" dirty="0">
                    <a:effectLst/>
                    <a:latin typeface="VnNimbusRomanNo9L"/>
                  </a:rPr>
                </a:br>
                <a:endParaRPr lang="en-US" sz="2000" dirty="0">
                  <a:effectLst/>
                  <a:latin typeface="VnNimbusRomanNo9L"/>
                </a:endParaRPr>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𝑦</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r>
                            <a:rPr lang="en-US" sz="2000" i="1">
                              <a:latin typeface="Cambria Math" panose="02040503050406030204" pitchFamily="18" charset="0"/>
                            </a:rPr>
                            <m:t>𝑟𝑔𝑚𝑖𝑛</m:t>
                          </m:r>
                        </m:e>
                        <m:sub>
                          <m:r>
                            <a:rPr lang="en-US" sz="2000" b="0" i="1" smtClean="0">
                              <a:latin typeface="Cambria Math" panose="02040503050406030204" pitchFamily="18" charset="0"/>
                            </a:rPr>
                            <m:t>𝑦</m:t>
                          </m:r>
                          <m:r>
                            <a:rPr lang="en-US" sz="2000" b="0" i="1" smtClean="0">
                              <a:latin typeface="Cambria Math" panose="02040503050406030204" pitchFamily="18" charset="0"/>
                            </a:rPr>
                            <m:t>=1, 2,3, …, </m:t>
                          </m:r>
                          <m:r>
                            <a:rPr lang="en-US" sz="2000" b="0" i="1" smtClean="0">
                              <a:latin typeface="Cambria Math" panose="02040503050406030204" pitchFamily="18" charset="0"/>
                            </a:rPr>
                            <m:t>𝑡</m:t>
                          </m:r>
                        </m:sub>
                      </m:sSub>
                      <m:d>
                        <m:dPr>
                          <m:begChr m:val="‖"/>
                          <m:endChr m:val="‖"/>
                          <m:ctrlPr>
                            <a:rPr lang="en-US" sz="2000" b="0" i="1" smtClean="0">
                              <a:latin typeface="Cambria Math" panose="02040503050406030204" pitchFamily="18" charset="0"/>
                            </a:rPr>
                          </m:ctrlPr>
                        </m:dPr>
                        <m:e>
                          <m:r>
                            <m:rPr>
                              <m:sty m:val="p"/>
                            </m:rPr>
                            <a:rPr lang="el-GR" sz="2000" i="1">
                              <a:latin typeface="Cambria Math" panose="02040503050406030204" pitchFamily="18" charset="0"/>
                              <a:ea typeface="Cambria Math" panose="02040503050406030204" pitchFamily="18" charset="0"/>
                            </a:rPr>
                            <m:t>Φ</m:t>
                          </m:r>
                          <m:d>
                            <m:dPr>
                              <m:ctrlPr>
                                <a:rPr lang="vi-VN"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𝑥</m:t>
                              </m:r>
                            </m:e>
                          </m:d>
                          <m:r>
                            <a:rPr lang="en-US" sz="2000" b="0" i="1" smtClean="0">
                              <a:latin typeface="Cambria Math" panose="02040503050406030204" pitchFamily="18" charset="0"/>
                              <a:ea typeface="Cambria Math" panose="02040503050406030204" pitchFamily="18" charset="0"/>
                            </a:rPr>
                            <m:t>−</m:t>
                          </m:r>
                          <m:sSub>
                            <m:sSubPr>
                              <m:ctrlPr>
                                <a:rPr lang="en-VN" sz="2000" i="1">
                                  <a:latin typeface="Cambria Math" panose="02040503050406030204" pitchFamily="18" charset="0"/>
                                </a:rPr>
                              </m:ctrlPr>
                            </m:sSubPr>
                            <m:e>
                              <m:r>
                                <a:rPr lang="en-VN"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rPr>
                                <m:t>𝑦</m:t>
                              </m:r>
                            </m:sub>
                          </m:sSub>
                        </m:e>
                      </m:d>
                    </m:oMath>
                  </m:oMathPara>
                </a14:m>
                <a:endParaRPr lang="en-US" sz="2000" dirty="0"/>
              </a:p>
              <a:p>
                <a:pPr marL="0" indent="0">
                  <a:buNone/>
                </a:pPr>
                <a:endParaRPr lang="en-US" sz="2000" dirty="0"/>
              </a:p>
              <a:p>
                <a:pPr marL="0" indent="0">
                  <a:buNone/>
                </a:pPr>
                <a:endParaRPr lang="en-US" sz="2000" dirty="0">
                  <a:effectLst/>
                  <a:latin typeface="VnNimbusRomanNo9L"/>
                </a:endParaRPr>
              </a:p>
            </p:txBody>
          </p:sp>
        </mc:Choice>
        <mc:Fallback>
          <p:sp>
            <p:nvSpPr>
              <p:cNvPr id="4" name="Content Placeholder 3">
                <a:extLst>
                  <a:ext uri="{FF2B5EF4-FFF2-40B4-BE49-F238E27FC236}">
                    <a16:creationId xmlns:a16="http://schemas.microsoft.com/office/drawing/2014/main" id="{C49AA82F-1DDA-8EAD-DF45-A49F774FA1D0}"/>
                  </a:ext>
                </a:extLst>
              </p:cNvPr>
              <p:cNvSpPr>
                <a:spLocks noGrp="1" noRot="1" noChangeAspect="1" noMove="1" noResize="1" noEditPoints="1" noAdjustHandles="1" noChangeArrowheads="1" noChangeShapeType="1" noTextEdit="1"/>
              </p:cNvSpPr>
              <p:nvPr>
                <p:ph sz="quarter" idx="13"/>
              </p:nvPr>
            </p:nvSpPr>
            <p:spPr>
              <a:blipFill>
                <a:blip r:embed="rId3"/>
                <a:stretch>
                  <a:fillRect l="-731" t="-1435" r="-102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4FF28AC-425A-A6B8-E1A5-C3176D7E2AED}"/>
                  </a:ext>
                </a:extLst>
              </p:cNvPr>
              <p:cNvSpPr txBox="1"/>
              <p:nvPr/>
            </p:nvSpPr>
            <p:spPr>
              <a:xfrm>
                <a:off x="3307552" y="3061880"/>
                <a:ext cx="1992019" cy="7342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VN" i="1" smtClean="0">
                              <a:latin typeface="Cambria Math" panose="02040503050406030204" pitchFamily="18" charset="0"/>
                            </a:rPr>
                          </m:ctrlPr>
                        </m:sSubPr>
                        <m:e>
                          <m:r>
                            <a:rPr lang="en-VN"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𝑦</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d>
                            <m:dPr>
                              <m:begChr m:val="|"/>
                              <m:endChr m:val="|"/>
                              <m:ctrlPr>
                                <a:rPr lang="en-US" b="0" i="1" smtClean="0">
                                  <a:latin typeface="Cambria Math" panose="02040503050406030204" pitchFamily="18" charset="0"/>
                                </a:rPr>
                              </m:ctrlPr>
                            </m:dPr>
                            <m:e>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𝜖</m:t>
                                  </m:r>
                                </m:e>
                                <m:sub>
                                  <m:r>
                                    <a:rPr lang="en-US" b="0" i="1" smtClean="0">
                                      <a:latin typeface="Cambria Math" panose="02040503050406030204" pitchFamily="18" charset="0"/>
                                      <a:ea typeface="Cambria Math" panose="02040503050406030204" pitchFamily="18" charset="0"/>
                                    </a:rPr>
                                    <m:t>𝑦</m:t>
                                  </m:r>
                                </m:sub>
                              </m:sSub>
                            </m:e>
                          </m:d>
                        </m:den>
                      </m:f>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𝑥</m:t>
                          </m:r>
                          <m:r>
                            <a:rPr lang="en-US" b="0" i="1" smtClean="0">
                              <a:latin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𝜖</m:t>
                              </m:r>
                            </m:e>
                            <m:sub>
                              <m:r>
                                <a:rPr lang="en-US" b="0" i="1" smtClean="0">
                                  <a:latin typeface="Cambria Math" panose="02040503050406030204" pitchFamily="18" charset="0"/>
                                  <a:ea typeface="Cambria Math" panose="02040503050406030204" pitchFamily="18" charset="0"/>
                                </a:rPr>
                                <m:t>𝑦</m:t>
                              </m:r>
                            </m:sub>
                          </m:sSub>
                        </m:sub>
                        <m:sup/>
                        <m:e>
                          <m:r>
                            <m:rPr>
                              <m:sty m:val="p"/>
                            </m:rPr>
                            <a:rPr lang="el-GR" b="0" i="1" smtClean="0">
                              <a:latin typeface="Cambria Math" panose="02040503050406030204" pitchFamily="18" charset="0"/>
                              <a:ea typeface="Cambria Math" panose="02040503050406030204" pitchFamily="18" charset="0"/>
                            </a:rPr>
                            <m:t>Φ</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e>
                      </m:nary>
                    </m:oMath>
                  </m:oMathPara>
                </a14:m>
                <a:endParaRPr lang="en-VN" dirty="0"/>
              </a:p>
            </p:txBody>
          </p:sp>
        </mc:Choice>
        <mc:Fallback xmlns="">
          <p:sp>
            <p:nvSpPr>
              <p:cNvPr id="6" name="TextBox 5">
                <a:extLst>
                  <a:ext uri="{FF2B5EF4-FFF2-40B4-BE49-F238E27FC236}">
                    <a16:creationId xmlns:a16="http://schemas.microsoft.com/office/drawing/2014/main" id="{04FF28AC-425A-A6B8-E1A5-C3176D7E2AED}"/>
                  </a:ext>
                </a:extLst>
              </p:cNvPr>
              <p:cNvSpPr txBox="1">
                <a:spLocks noRot="1" noChangeAspect="1" noMove="1" noResize="1" noEditPoints="1" noAdjustHandles="1" noChangeArrowheads="1" noChangeShapeType="1" noTextEdit="1"/>
              </p:cNvSpPr>
              <p:nvPr/>
            </p:nvSpPr>
            <p:spPr>
              <a:xfrm>
                <a:off x="3307552" y="3061880"/>
                <a:ext cx="1992019" cy="734240"/>
              </a:xfrm>
              <a:prstGeom prst="rect">
                <a:avLst/>
              </a:prstGeom>
              <a:blipFill>
                <a:blip r:embed="rId4"/>
                <a:stretch>
                  <a:fillRect l="-2532" t="-130000" r="-3797" b="-170000"/>
                </a:stretch>
              </a:blipFill>
            </p:spPr>
            <p:txBody>
              <a:bodyPr/>
              <a:lstStyle/>
              <a:p>
                <a:r>
                  <a:rPr lang="en-VN">
                    <a:noFill/>
                  </a:rPr>
                  <a:t> </a:t>
                </a:r>
              </a:p>
            </p:txBody>
          </p:sp>
        </mc:Fallback>
      </mc:AlternateContent>
    </p:spTree>
    <p:extLst>
      <p:ext uri="{BB962C8B-B14F-4D97-AF65-F5344CB8AC3E}">
        <p14:creationId xmlns:p14="http://schemas.microsoft.com/office/powerpoint/2010/main" val="14080706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9BCC48-229C-10B5-0127-8EDC1F6780CF}"/>
              </a:ext>
            </a:extLst>
          </p:cNvPr>
          <p:cNvSpPr>
            <a:spLocks noGrp="1"/>
          </p:cNvSpPr>
          <p:nvPr>
            <p:ph type="sldNum" sz="quarter" idx="12"/>
          </p:nvPr>
        </p:nvSpPr>
        <p:spPr/>
        <p:txBody>
          <a:bodyPr/>
          <a:lstStyle/>
          <a:p>
            <a:fld id="{9EA0BE3B-158A-4EDF-80DC-E394A0D1600F}" type="slidenum">
              <a:rPr lang="en-US" smtClean="0"/>
              <a:pPr/>
              <a:t>23</a:t>
            </a:fld>
            <a:endParaRPr lang="en-US" dirty="0"/>
          </a:p>
        </p:txBody>
      </p:sp>
      <p:sp>
        <p:nvSpPr>
          <p:cNvPr id="3" name="Title 2">
            <a:extLst>
              <a:ext uri="{FF2B5EF4-FFF2-40B4-BE49-F238E27FC236}">
                <a16:creationId xmlns:a16="http://schemas.microsoft.com/office/drawing/2014/main" id="{6EAF67A0-44DE-1C1E-B604-E06C18FECE76}"/>
              </a:ext>
            </a:extLst>
          </p:cNvPr>
          <p:cNvSpPr>
            <a:spLocks noGrp="1"/>
          </p:cNvSpPr>
          <p:nvPr>
            <p:ph type="title"/>
          </p:nvPr>
        </p:nvSpPr>
        <p:spPr/>
        <p:txBody>
          <a:bodyPr/>
          <a:lstStyle/>
          <a:p>
            <a:r>
              <a:rPr lang="en-VN" dirty="0"/>
              <a:t>ICARL Architecture</a:t>
            </a:r>
          </a:p>
        </p:txBody>
      </p:sp>
      <p:pic>
        <p:nvPicPr>
          <p:cNvPr id="22" name="Picture 21" descr="A diagram of a process&#10;&#10;Description automatically generated">
            <a:extLst>
              <a:ext uri="{FF2B5EF4-FFF2-40B4-BE49-F238E27FC236}">
                <a16:creationId xmlns:a16="http://schemas.microsoft.com/office/drawing/2014/main" id="{6FCCBF84-27C1-3849-6A6C-AD9C90AD8C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0161" y="825705"/>
            <a:ext cx="4730662" cy="5451068"/>
          </a:xfrm>
          <a:prstGeom prst="rect">
            <a:avLst/>
          </a:prstGeom>
        </p:spPr>
      </p:pic>
    </p:spTree>
    <p:extLst>
      <p:ext uri="{BB962C8B-B14F-4D97-AF65-F5344CB8AC3E}">
        <p14:creationId xmlns:p14="http://schemas.microsoft.com/office/powerpoint/2010/main" val="11352936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0F68C4-5412-425F-8BBD-BBA40B839696}"/>
              </a:ext>
            </a:extLst>
          </p:cNvPr>
          <p:cNvSpPr>
            <a:spLocks noGrp="1"/>
          </p:cNvSpPr>
          <p:nvPr>
            <p:ph type="sldNum" sz="quarter" idx="12"/>
          </p:nvPr>
        </p:nvSpPr>
        <p:spPr/>
        <p:txBody>
          <a:bodyPr/>
          <a:lstStyle/>
          <a:p>
            <a:fld id="{9EA0BE3B-158A-4EDF-80DC-E394A0D1600F}" type="slidenum">
              <a:rPr lang="en-US" smtClean="0"/>
              <a:pPr/>
              <a:t>24</a:t>
            </a:fld>
            <a:endParaRPr lang="en-US" dirty="0"/>
          </a:p>
        </p:txBody>
      </p:sp>
      <p:sp>
        <p:nvSpPr>
          <p:cNvPr id="3" name="Title 2">
            <a:extLst>
              <a:ext uri="{FF2B5EF4-FFF2-40B4-BE49-F238E27FC236}">
                <a16:creationId xmlns:a16="http://schemas.microsoft.com/office/drawing/2014/main" id="{3BC96867-F70D-A96F-5EC7-B12DFF26027E}"/>
              </a:ext>
            </a:extLst>
          </p:cNvPr>
          <p:cNvSpPr>
            <a:spLocks noGrp="1"/>
          </p:cNvSpPr>
          <p:nvPr>
            <p:ph type="title"/>
          </p:nvPr>
        </p:nvSpPr>
        <p:spPr/>
        <p:txBody>
          <a:bodyPr/>
          <a:lstStyle/>
          <a:p>
            <a:r>
              <a:rPr lang="en-VN"/>
              <a:t>DER: Dynamic Expandable Representation</a:t>
            </a:r>
          </a:p>
        </p:txBody>
      </p:sp>
      <p:pic>
        <p:nvPicPr>
          <p:cNvPr id="50" name="Content Placeholder 49">
            <a:extLst>
              <a:ext uri="{FF2B5EF4-FFF2-40B4-BE49-F238E27FC236}">
                <a16:creationId xmlns:a16="http://schemas.microsoft.com/office/drawing/2014/main" id="{D2611958-C7A6-CF69-AAC8-72F5E525CE31}"/>
              </a:ext>
            </a:extLst>
          </p:cNvPr>
          <p:cNvPicPr>
            <a:picLocks noGrp="1" noChangeAspect="1"/>
          </p:cNvPicPr>
          <p:nvPr>
            <p:ph sz="quarter" idx="13"/>
          </p:nvPr>
        </p:nvPicPr>
        <p:blipFill>
          <a:blip r:embed="rId3"/>
          <a:stretch>
            <a:fillRect/>
          </a:stretch>
        </p:blipFill>
        <p:spPr>
          <a:xfrm>
            <a:off x="1145562" y="2913036"/>
            <a:ext cx="7150588" cy="2891156"/>
          </a:xfr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3DCD2B0-F2D8-AA46-D85F-9F7597E38B4F}"/>
                  </a:ext>
                </a:extLst>
              </p:cNvPr>
              <p:cNvSpPr txBox="1"/>
              <p:nvPr/>
            </p:nvSpPr>
            <p:spPr>
              <a:xfrm>
                <a:off x="3083945" y="2222388"/>
                <a:ext cx="25933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Φ</m:t>
                          </m:r>
                        </m:e>
                        <m:sub>
                          <m:r>
                            <a:rPr lang="en-US" b="0" i="1" smtClean="0">
                              <a:latin typeface="Cambria Math" panose="02040503050406030204" pitchFamily="18" charset="0"/>
                              <a:ea typeface="Cambria Math" panose="02040503050406030204" pitchFamily="18" charset="0"/>
                            </a:rPr>
                            <m:t>𝑡</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 </m:t>
                          </m:r>
                          <m:acc>
                            <m:accPr>
                              <m:chr m:val="̅"/>
                              <m:ctrlPr>
                                <a:rPr lang="en-US" b="0" i="1" smtClean="0">
                                  <a:latin typeface="Cambria Math" panose="02040503050406030204" pitchFamily="18" charset="0"/>
                                  <a:ea typeface="Cambria Math" panose="02040503050406030204" pitchFamily="18" charset="0"/>
                                </a:rPr>
                              </m:ctrlPr>
                            </m:accPr>
                            <m:e>
                              <m:sSub>
                                <m:sSubPr>
                                  <m:ctrlPr>
                                    <a:rPr lang="en-US" b="0" i="1" smtClean="0">
                                      <a:latin typeface="Cambria Math" panose="02040503050406030204" pitchFamily="18" charset="0"/>
                                      <a:ea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Φ</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e>
                          </m:acc>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ℬ</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e>
                      </m:d>
                      <m:r>
                        <a:rPr lang="en-US" b="0" i="1" smtClean="0">
                          <a:latin typeface="Cambria Math" panose="02040503050406030204" pitchFamily="18" charset="0"/>
                          <a:ea typeface="Cambria Math" panose="02040503050406030204" pitchFamily="18" charset="0"/>
                        </a:rPr>
                        <m:t> </m:t>
                      </m:r>
                    </m:oMath>
                  </m:oMathPara>
                </a14:m>
                <a:endParaRPr lang="en-VN" dirty="0"/>
              </a:p>
            </p:txBody>
          </p:sp>
        </mc:Choice>
        <mc:Fallback xmlns="">
          <p:sp>
            <p:nvSpPr>
              <p:cNvPr id="4" name="TextBox 3">
                <a:extLst>
                  <a:ext uri="{FF2B5EF4-FFF2-40B4-BE49-F238E27FC236}">
                    <a16:creationId xmlns:a16="http://schemas.microsoft.com/office/drawing/2014/main" id="{83DCD2B0-F2D8-AA46-D85F-9F7597E38B4F}"/>
                  </a:ext>
                </a:extLst>
              </p:cNvPr>
              <p:cNvSpPr txBox="1">
                <a:spLocks noRot="1" noChangeAspect="1" noMove="1" noResize="1" noEditPoints="1" noAdjustHandles="1" noChangeArrowheads="1" noChangeShapeType="1" noTextEdit="1"/>
              </p:cNvSpPr>
              <p:nvPr/>
            </p:nvSpPr>
            <p:spPr>
              <a:xfrm>
                <a:off x="3083945" y="2222388"/>
                <a:ext cx="2593338" cy="276999"/>
              </a:xfrm>
              <a:prstGeom prst="rect">
                <a:avLst/>
              </a:prstGeom>
              <a:blipFill>
                <a:blip r:embed="rId4"/>
                <a:stretch>
                  <a:fillRect l="-1463" t="-9091" r="-3415" b="-40909"/>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F0245C9-45E4-07D9-F839-1414F5C8DEA2}"/>
                  </a:ext>
                </a:extLst>
              </p:cNvPr>
              <p:cNvSpPr txBox="1"/>
              <p:nvPr/>
            </p:nvSpPr>
            <p:spPr>
              <a:xfrm>
                <a:off x="235077" y="873383"/>
                <a:ext cx="9026189" cy="1323439"/>
              </a:xfrm>
              <a:prstGeom prst="rect">
                <a:avLst/>
              </a:prstGeom>
              <a:noFill/>
            </p:spPr>
            <p:txBody>
              <a:bodyPr wrap="none" rtlCol="0">
                <a:spAutoFit/>
              </a:bodyPr>
              <a:lstStyle/>
              <a:p>
                <a:pPr marL="0" indent="0">
                  <a:buNone/>
                </a:pPr>
                <a:r>
                  <a:rPr lang="en-VN" sz="2000" dirty="0"/>
                  <a:t>DER expands a new backbone when facing new task.</a:t>
                </a:r>
                <a:endParaRPr lang="en-US" sz="2000" dirty="0">
                  <a:effectLst/>
                  <a:latin typeface="VnNimbusRomanNo9L"/>
                </a:endParaRPr>
              </a:p>
              <a:p>
                <a:r>
                  <a:rPr lang="en-US" sz="2000" dirty="0">
                    <a:effectLst/>
                    <a:latin typeface="VnNimbusRomanNo9L"/>
                  </a:rPr>
                  <a:t>At step </a:t>
                </a:r>
                <a:r>
                  <a:rPr lang="en-US" sz="2000" dirty="0">
                    <a:effectLst/>
                    <a:latin typeface="CMMI12"/>
                  </a:rPr>
                  <a:t>t</a:t>
                </a:r>
                <a:r>
                  <a:rPr lang="en-US" sz="2000" dirty="0">
                    <a:effectLst/>
                    <a:latin typeface="VnNimbusRomanNo9L"/>
                  </a:rPr>
                  <a:t>, the model’s feature extractor </a:t>
                </a:r>
                <a14:m>
                  <m:oMath xmlns:m="http://schemas.openxmlformats.org/officeDocument/2006/math">
                    <m:sSub>
                      <m:sSubPr>
                        <m:ctrlPr>
                          <a:rPr lang="el-GR" sz="2000" i="1" smtClean="0">
                            <a:latin typeface="Cambria Math" panose="02040503050406030204" pitchFamily="18" charset="0"/>
                            <a:ea typeface="Cambria Math" panose="02040503050406030204" pitchFamily="18" charset="0"/>
                          </a:rPr>
                        </m:ctrlPr>
                      </m:sSubPr>
                      <m:e>
                        <m:r>
                          <m:rPr>
                            <m:sty m:val="p"/>
                          </m:rPr>
                          <a:rPr lang="el-GR" sz="2000" i="1">
                            <a:latin typeface="Cambria Math" panose="02040503050406030204" pitchFamily="18" charset="0"/>
                            <a:ea typeface="Cambria Math" panose="02040503050406030204" pitchFamily="18" charset="0"/>
                          </a:rPr>
                          <m:t>Φ</m:t>
                        </m:r>
                      </m:e>
                      <m:sub>
                        <m:r>
                          <a:rPr lang="en-US" sz="2000" b="0" i="1" smtClean="0">
                            <a:latin typeface="Cambria Math" panose="02040503050406030204" pitchFamily="18" charset="0"/>
                            <a:ea typeface="Cambria Math" panose="02040503050406030204" pitchFamily="18" charset="0"/>
                          </a:rPr>
                          <m:t>𝑡</m:t>
                        </m:r>
                      </m:sub>
                    </m:sSub>
                  </m:oMath>
                </a14:m>
                <a:r>
                  <a:rPr lang="en-US" sz="2000" dirty="0">
                    <a:effectLst/>
                    <a:latin typeface="CMMI9"/>
                  </a:rPr>
                  <a:t> </a:t>
                </a:r>
                <a:r>
                  <a:rPr lang="en-US" sz="2000" dirty="0">
                    <a:effectLst/>
                    <a:latin typeface="VnNimbusRomanNo9L"/>
                  </a:rPr>
                  <a:t>is build by expanding the feature extractor</a:t>
                </a:r>
                <a:br>
                  <a:rPr lang="en-US" sz="2000" dirty="0">
                    <a:effectLst/>
                    <a:latin typeface="VnNimbusRomanNo9L"/>
                  </a:rPr>
                </a:br>
                <a14:m>
                  <m:oMath xmlns:m="http://schemas.openxmlformats.org/officeDocument/2006/math">
                    <m:acc>
                      <m:accPr>
                        <m:chr m:val="̅"/>
                        <m:ctrlPr>
                          <a:rPr lang="en-US" sz="2000" i="1">
                            <a:latin typeface="Cambria Math" panose="02040503050406030204" pitchFamily="18" charset="0"/>
                            <a:ea typeface="Cambria Math" panose="02040503050406030204" pitchFamily="18" charset="0"/>
                          </a:rPr>
                        </m:ctrlPr>
                      </m:accPr>
                      <m:e>
                        <m:sSub>
                          <m:sSubPr>
                            <m:ctrlPr>
                              <a:rPr lang="en-US" sz="2000" i="1">
                                <a:latin typeface="Cambria Math" panose="02040503050406030204" pitchFamily="18" charset="0"/>
                                <a:ea typeface="Cambria Math" panose="02040503050406030204" pitchFamily="18" charset="0"/>
                              </a:rPr>
                            </m:ctrlPr>
                          </m:sSubPr>
                          <m:e>
                            <m:r>
                              <m:rPr>
                                <m:sty m:val="p"/>
                              </m:rPr>
                              <a:rPr lang="el-GR" sz="2000" i="1">
                                <a:latin typeface="Cambria Math" panose="02040503050406030204" pitchFamily="18" charset="0"/>
                                <a:ea typeface="Cambria Math" panose="02040503050406030204" pitchFamily="18" charset="0"/>
                              </a:rPr>
                              <m:t>Φ</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e>
                    </m:acc>
                    <m:r>
                      <a:rPr lang="en-US" sz="2000" i="1">
                        <a:latin typeface="Cambria Math" panose="02040503050406030204" pitchFamily="18" charset="0"/>
                        <a:ea typeface="Cambria Math" panose="02040503050406030204" pitchFamily="18" charset="0"/>
                      </a:rPr>
                      <m:t> </m:t>
                    </m:r>
                  </m:oMath>
                </a14:m>
                <a:r>
                  <a:rPr lang="en-US" sz="2000" dirty="0">
                    <a:effectLst/>
                    <a:latin typeface="VnNimbusRomanNo9L"/>
                  </a:rPr>
                  <a:t>with a newly created backbone </a:t>
                </a:r>
                <a14:m>
                  <m:oMath xmlns:m="http://schemas.openxmlformats.org/officeDocument/2006/math">
                    <m:r>
                      <a:rPr lang="en-US" sz="2000" i="1">
                        <a:latin typeface="Cambria Math" panose="02040503050406030204" pitchFamily="18" charset="0"/>
                        <a:ea typeface="Cambria Math" panose="02040503050406030204" pitchFamily="18" charset="0"/>
                      </a:rPr>
                      <m:t>ℬ</m:t>
                    </m:r>
                  </m:oMath>
                </a14:m>
                <a:r>
                  <a:rPr lang="en-US" sz="2000">
                    <a:effectLst/>
                    <a:latin typeface="VnNimbusRomanNo9L"/>
                  </a:rPr>
                  <a:t>. </a:t>
                </a:r>
                <a:endParaRPr lang="en-US" sz="2000" dirty="0"/>
              </a:p>
              <a:p>
                <a:endParaRPr lang="en-VN" sz="2000" dirty="0"/>
              </a:p>
            </p:txBody>
          </p:sp>
        </mc:Choice>
        <mc:Fallback>
          <p:sp>
            <p:nvSpPr>
              <p:cNvPr id="5" name="TextBox 4">
                <a:extLst>
                  <a:ext uri="{FF2B5EF4-FFF2-40B4-BE49-F238E27FC236}">
                    <a16:creationId xmlns:a16="http://schemas.microsoft.com/office/drawing/2014/main" id="{FF0245C9-45E4-07D9-F839-1414F5C8DEA2}"/>
                  </a:ext>
                </a:extLst>
              </p:cNvPr>
              <p:cNvSpPr txBox="1">
                <a:spLocks noRot="1" noChangeAspect="1" noMove="1" noResize="1" noEditPoints="1" noAdjustHandles="1" noChangeArrowheads="1" noChangeShapeType="1" noTextEdit="1"/>
              </p:cNvSpPr>
              <p:nvPr/>
            </p:nvSpPr>
            <p:spPr>
              <a:xfrm>
                <a:off x="235077" y="873383"/>
                <a:ext cx="9026189" cy="1323439"/>
              </a:xfrm>
              <a:prstGeom prst="rect">
                <a:avLst/>
              </a:prstGeom>
              <a:blipFill>
                <a:blip r:embed="rId5"/>
                <a:stretch>
                  <a:fillRect l="-702" t="-1905"/>
                </a:stretch>
              </a:blipFill>
            </p:spPr>
            <p:txBody>
              <a:bodyPr/>
              <a:lstStyle/>
              <a:p>
                <a:r>
                  <a:rPr lang="en-VN">
                    <a:noFill/>
                  </a:rPr>
                  <a:t> </a:t>
                </a:r>
              </a:p>
            </p:txBody>
          </p:sp>
        </mc:Fallback>
      </mc:AlternateContent>
    </p:spTree>
    <p:extLst>
      <p:ext uri="{BB962C8B-B14F-4D97-AF65-F5344CB8AC3E}">
        <p14:creationId xmlns:p14="http://schemas.microsoft.com/office/powerpoint/2010/main" val="1622206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9BCC48-229C-10B5-0127-8EDC1F6780CF}"/>
              </a:ext>
            </a:extLst>
          </p:cNvPr>
          <p:cNvSpPr>
            <a:spLocks noGrp="1"/>
          </p:cNvSpPr>
          <p:nvPr>
            <p:ph type="sldNum" sz="quarter" idx="12"/>
          </p:nvPr>
        </p:nvSpPr>
        <p:spPr/>
        <p:txBody>
          <a:bodyPr/>
          <a:lstStyle/>
          <a:p>
            <a:fld id="{9EA0BE3B-158A-4EDF-80DC-E394A0D1600F}" type="slidenum">
              <a:rPr lang="en-US" smtClean="0"/>
              <a:pPr/>
              <a:t>25</a:t>
            </a:fld>
            <a:endParaRPr lang="en-US" dirty="0"/>
          </a:p>
        </p:txBody>
      </p:sp>
      <p:sp>
        <p:nvSpPr>
          <p:cNvPr id="3" name="Title 2">
            <a:extLst>
              <a:ext uri="{FF2B5EF4-FFF2-40B4-BE49-F238E27FC236}">
                <a16:creationId xmlns:a16="http://schemas.microsoft.com/office/drawing/2014/main" id="{6EAF67A0-44DE-1C1E-B604-E06C18FECE76}"/>
              </a:ext>
            </a:extLst>
          </p:cNvPr>
          <p:cNvSpPr>
            <a:spLocks noGrp="1"/>
          </p:cNvSpPr>
          <p:nvPr>
            <p:ph type="title"/>
          </p:nvPr>
        </p:nvSpPr>
        <p:spPr/>
        <p:txBody>
          <a:bodyPr/>
          <a:lstStyle/>
          <a:p>
            <a:r>
              <a:rPr lang="en-VN" dirty="0"/>
              <a:t>DER Architecture</a:t>
            </a:r>
          </a:p>
        </p:txBody>
      </p:sp>
      <p:pic>
        <p:nvPicPr>
          <p:cNvPr id="14" name="Picture 13" descr="A diagram of a process&#10;&#10;Description automatically generated">
            <a:extLst>
              <a:ext uri="{FF2B5EF4-FFF2-40B4-BE49-F238E27FC236}">
                <a16:creationId xmlns:a16="http://schemas.microsoft.com/office/drawing/2014/main" id="{846B1BC2-3B77-270B-FFF8-74DA4CA060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2527" y="998234"/>
            <a:ext cx="4430019" cy="5313666"/>
          </a:xfrm>
          <a:prstGeom prst="rect">
            <a:avLst/>
          </a:prstGeom>
        </p:spPr>
      </p:pic>
    </p:spTree>
    <p:extLst>
      <p:ext uri="{BB962C8B-B14F-4D97-AF65-F5344CB8AC3E}">
        <p14:creationId xmlns:p14="http://schemas.microsoft.com/office/powerpoint/2010/main" val="27660400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C00E65-8B2C-3949-D2BF-9F05EEFAC076}"/>
              </a:ext>
            </a:extLst>
          </p:cNvPr>
          <p:cNvSpPr>
            <a:spLocks noGrp="1"/>
          </p:cNvSpPr>
          <p:nvPr>
            <p:ph type="sldNum" sz="quarter" idx="12"/>
          </p:nvPr>
        </p:nvSpPr>
        <p:spPr/>
        <p:txBody>
          <a:bodyPr/>
          <a:lstStyle/>
          <a:p>
            <a:fld id="{9EA0BE3B-158A-4EDF-80DC-E394A0D1600F}" type="slidenum">
              <a:rPr lang="en-US" smtClean="0"/>
              <a:pPr/>
              <a:t>26</a:t>
            </a:fld>
            <a:endParaRPr lang="en-US" dirty="0"/>
          </a:p>
        </p:txBody>
      </p:sp>
      <p:sp>
        <p:nvSpPr>
          <p:cNvPr id="3" name="Title 2">
            <a:extLst>
              <a:ext uri="{FF2B5EF4-FFF2-40B4-BE49-F238E27FC236}">
                <a16:creationId xmlns:a16="http://schemas.microsoft.com/office/drawing/2014/main" id="{AB9C11D2-2F6B-1DA3-661E-21EF646CA331}"/>
              </a:ext>
            </a:extLst>
          </p:cNvPr>
          <p:cNvSpPr>
            <a:spLocks noGrp="1"/>
          </p:cNvSpPr>
          <p:nvPr>
            <p:ph type="title"/>
          </p:nvPr>
        </p:nvSpPr>
        <p:spPr/>
        <p:txBody>
          <a:bodyPr/>
          <a:lstStyle/>
          <a:p>
            <a:r>
              <a:rPr lang="en-VN"/>
              <a:t>MEMO: Memory Efficient Expandable Model</a:t>
            </a:r>
          </a:p>
        </p:txBody>
      </p:sp>
      <p:sp>
        <p:nvSpPr>
          <p:cNvPr id="4" name="Content Placeholder 3">
            <a:extLst>
              <a:ext uri="{FF2B5EF4-FFF2-40B4-BE49-F238E27FC236}">
                <a16:creationId xmlns:a16="http://schemas.microsoft.com/office/drawing/2014/main" id="{D3307D3D-BAD0-7496-06EC-62B225E5C409}"/>
              </a:ext>
            </a:extLst>
          </p:cNvPr>
          <p:cNvSpPr>
            <a:spLocks noGrp="1"/>
          </p:cNvSpPr>
          <p:nvPr>
            <p:ph sz="quarter" idx="13"/>
          </p:nvPr>
        </p:nvSpPr>
        <p:spPr/>
        <p:txBody>
          <a:bodyPr/>
          <a:lstStyle/>
          <a:p>
            <a:pPr marL="0" indent="0">
              <a:buNone/>
            </a:pPr>
            <a:r>
              <a:rPr lang="en-US" sz="2000" dirty="0">
                <a:latin typeface="VnNimbusRomanNo9L"/>
              </a:rPr>
              <a:t>Compared to DER, MEMO backbone was </a:t>
            </a:r>
            <a:r>
              <a:rPr lang="en-US" sz="2000" dirty="0">
                <a:effectLst/>
                <a:latin typeface="VnNimbusRomanNo9L"/>
              </a:rPr>
              <a:t>decomposing into specialized and generalized layers. MEMO only expand specialized layers.</a:t>
            </a:r>
            <a:endParaRPr lang="en-VN" sz="2000" dirty="0"/>
          </a:p>
        </p:txBody>
      </p:sp>
      <p:pic>
        <p:nvPicPr>
          <p:cNvPr id="6" name="Picture 5">
            <a:extLst>
              <a:ext uri="{FF2B5EF4-FFF2-40B4-BE49-F238E27FC236}">
                <a16:creationId xmlns:a16="http://schemas.microsoft.com/office/drawing/2014/main" id="{38DA1AB1-961C-A7E2-D411-1F1D2C40C15D}"/>
              </a:ext>
            </a:extLst>
          </p:cNvPr>
          <p:cNvPicPr>
            <a:picLocks noChangeAspect="1"/>
          </p:cNvPicPr>
          <p:nvPr/>
        </p:nvPicPr>
        <p:blipFill>
          <a:blip r:embed="rId3"/>
          <a:stretch>
            <a:fillRect/>
          </a:stretch>
        </p:blipFill>
        <p:spPr>
          <a:xfrm>
            <a:off x="820913" y="2159473"/>
            <a:ext cx="7772400" cy="3333575"/>
          </a:xfrm>
          <a:prstGeom prst="rect">
            <a:avLst/>
          </a:prstGeom>
        </p:spPr>
      </p:pic>
    </p:spTree>
    <p:extLst>
      <p:ext uri="{BB962C8B-B14F-4D97-AF65-F5344CB8AC3E}">
        <p14:creationId xmlns:p14="http://schemas.microsoft.com/office/powerpoint/2010/main" val="4569696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08E1B1-D9CD-415A-BCE5-B57F39B2F31D}"/>
              </a:ext>
            </a:extLst>
          </p:cNvPr>
          <p:cNvSpPr>
            <a:spLocks noGrp="1"/>
          </p:cNvSpPr>
          <p:nvPr>
            <p:ph sz="quarter" idx="13"/>
          </p:nvPr>
        </p:nvSpPr>
        <p:spPr>
          <a:xfrm>
            <a:off x="3418779" y="3094226"/>
            <a:ext cx="5543550" cy="2632680"/>
          </a:xfrm>
        </p:spPr>
        <p:txBody>
          <a:bodyPr/>
          <a:lstStyle/>
          <a:p>
            <a:pPr marL="0" indent="0">
              <a:buNone/>
            </a:pPr>
            <a:r>
              <a:rPr lang="en-US" sz="2700" b="1" dirty="0">
                <a:latin typeface="Lato Bold"/>
              </a:rPr>
              <a:t>	4. NUMERICAL RESULTS</a:t>
            </a:r>
          </a:p>
        </p:txBody>
      </p:sp>
      <p:sp>
        <p:nvSpPr>
          <p:cNvPr id="4" name="Slide Number Placeholder 3">
            <a:extLst>
              <a:ext uri="{FF2B5EF4-FFF2-40B4-BE49-F238E27FC236}">
                <a16:creationId xmlns:a16="http://schemas.microsoft.com/office/drawing/2014/main" id="{BD91CA00-8B5A-4B5F-AE21-CF0691D64D53}"/>
              </a:ext>
            </a:extLst>
          </p:cNvPr>
          <p:cNvSpPr>
            <a:spLocks noGrp="1"/>
          </p:cNvSpPr>
          <p:nvPr>
            <p:ph type="sldNum" sz="quarter" idx="12"/>
          </p:nvPr>
        </p:nvSpPr>
        <p:spPr/>
        <p:txBody>
          <a:bodyPr/>
          <a:lstStyle/>
          <a:p>
            <a:fld id="{9EA0BE3B-158A-4EDF-80DC-E394A0D1600F}" type="slidenum">
              <a:rPr lang="en-US" smtClean="0"/>
              <a:pPr/>
              <a:t>27</a:t>
            </a:fld>
            <a:endParaRPr lang="en-US" dirty="0"/>
          </a:p>
        </p:txBody>
      </p:sp>
    </p:spTree>
    <p:extLst>
      <p:ext uri="{BB962C8B-B14F-4D97-AF65-F5344CB8AC3E}">
        <p14:creationId xmlns:p14="http://schemas.microsoft.com/office/powerpoint/2010/main" val="21424710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987B1D-D469-EE19-94F8-4CB20E9FC37D}"/>
              </a:ext>
            </a:extLst>
          </p:cNvPr>
          <p:cNvSpPr>
            <a:spLocks noGrp="1"/>
          </p:cNvSpPr>
          <p:nvPr>
            <p:ph type="sldNum" sz="quarter" idx="12"/>
          </p:nvPr>
        </p:nvSpPr>
        <p:spPr/>
        <p:txBody>
          <a:bodyPr/>
          <a:lstStyle/>
          <a:p>
            <a:fld id="{9EA0BE3B-158A-4EDF-80DC-E394A0D1600F}" type="slidenum">
              <a:rPr lang="en-US" smtClean="0"/>
              <a:pPr/>
              <a:t>28</a:t>
            </a:fld>
            <a:endParaRPr lang="en-US" dirty="0"/>
          </a:p>
        </p:txBody>
      </p:sp>
      <p:sp>
        <p:nvSpPr>
          <p:cNvPr id="3" name="Title 2">
            <a:extLst>
              <a:ext uri="{FF2B5EF4-FFF2-40B4-BE49-F238E27FC236}">
                <a16:creationId xmlns:a16="http://schemas.microsoft.com/office/drawing/2014/main" id="{92BA27F1-08A4-B250-8039-1E21BA0F59D9}"/>
              </a:ext>
            </a:extLst>
          </p:cNvPr>
          <p:cNvSpPr>
            <a:spLocks noGrp="1"/>
          </p:cNvSpPr>
          <p:nvPr>
            <p:ph type="title"/>
          </p:nvPr>
        </p:nvSpPr>
        <p:spPr/>
        <p:txBody>
          <a:bodyPr/>
          <a:lstStyle/>
          <a:p>
            <a:r>
              <a:rPr lang="en-VN"/>
              <a:t>Numerical results</a:t>
            </a:r>
          </a:p>
        </p:txBody>
      </p:sp>
      <p:sp>
        <p:nvSpPr>
          <p:cNvPr id="4" name="Content Placeholder 3">
            <a:extLst>
              <a:ext uri="{FF2B5EF4-FFF2-40B4-BE49-F238E27FC236}">
                <a16:creationId xmlns:a16="http://schemas.microsoft.com/office/drawing/2014/main" id="{F6AFF11A-EF76-9575-3F25-6E5B83A49FB4}"/>
              </a:ext>
            </a:extLst>
          </p:cNvPr>
          <p:cNvSpPr>
            <a:spLocks noGrp="1"/>
          </p:cNvSpPr>
          <p:nvPr>
            <p:ph sz="quarter" idx="13"/>
          </p:nvPr>
        </p:nvSpPr>
        <p:spPr/>
        <p:txBody>
          <a:bodyPr/>
          <a:lstStyle/>
          <a:p>
            <a:pPr marL="0" indent="0">
              <a:buNone/>
            </a:pPr>
            <a:r>
              <a:rPr lang="en-VN"/>
              <a:t>The methods are tested on 5 datasets: KDD99, CIC-IDS-2017, UNSW-NB15, ToN-IoT-Network and a synthetic dataset.</a:t>
            </a:r>
          </a:p>
          <a:p>
            <a:pPr marL="0" indent="0">
              <a:buNone/>
            </a:pPr>
            <a:endParaRPr lang="en-VN"/>
          </a:p>
          <a:p>
            <a:pPr marL="0" indent="0">
              <a:buNone/>
            </a:pPr>
            <a:r>
              <a:rPr lang="en-VN"/>
              <a:t>The methods are evaluated using Last Accuracy and Average Accuracy.</a:t>
            </a:r>
          </a:p>
          <a:p>
            <a:pPr marL="457200" lvl="1" indent="0">
              <a:buNone/>
            </a:pPr>
            <a:r>
              <a:rPr lang="en-VN"/>
              <a:t>- Last Accuracy: </a:t>
            </a:r>
            <a:r>
              <a:rPr lang="en-US" dirty="0"/>
              <a:t>evaluates the model’s accuracy on the most recent task it encountered during training. </a:t>
            </a:r>
          </a:p>
          <a:p>
            <a:pPr marL="457200" lvl="1" indent="0">
              <a:buNone/>
            </a:pPr>
            <a:r>
              <a:rPr lang="en-VN"/>
              <a:t>- Average Accuracy: The accuracy of the model on all tasks.</a:t>
            </a:r>
          </a:p>
          <a:p>
            <a:pPr marL="457200" lvl="1" indent="0">
              <a:buNone/>
            </a:pPr>
            <a:endParaRPr lang="en-VN"/>
          </a:p>
          <a:p>
            <a:pPr marL="457200" lvl="1" indent="0">
              <a:buNone/>
            </a:pPr>
            <a:endParaRPr lang="en-VN"/>
          </a:p>
        </p:txBody>
      </p:sp>
    </p:spTree>
    <p:extLst>
      <p:ext uri="{BB962C8B-B14F-4D97-AF65-F5344CB8AC3E}">
        <p14:creationId xmlns:p14="http://schemas.microsoft.com/office/powerpoint/2010/main" val="1186390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3DE602-3E85-99AE-4D59-0B4A40606EBE}"/>
              </a:ext>
            </a:extLst>
          </p:cNvPr>
          <p:cNvSpPr>
            <a:spLocks noGrp="1"/>
          </p:cNvSpPr>
          <p:nvPr>
            <p:ph type="sldNum" sz="quarter" idx="12"/>
          </p:nvPr>
        </p:nvSpPr>
        <p:spPr/>
        <p:txBody>
          <a:bodyPr/>
          <a:lstStyle/>
          <a:p>
            <a:fld id="{9EA0BE3B-158A-4EDF-80DC-E394A0D1600F}" type="slidenum">
              <a:rPr lang="en-US" smtClean="0"/>
              <a:pPr/>
              <a:t>29</a:t>
            </a:fld>
            <a:endParaRPr lang="en-US" dirty="0"/>
          </a:p>
        </p:txBody>
      </p:sp>
      <p:sp>
        <p:nvSpPr>
          <p:cNvPr id="3" name="Title 2">
            <a:extLst>
              <a:ext uri="{FF2B5EF4-FFF2-40B4-BE49-F238E27FC236}">
                <a16:creationId xmlns:a16="http://schemas.microsoft.com/office/drawing/2014/main" id="{3A97806C-63A2-09E4-73B4-B73102998067}"/>
              </a:ext>
            </a:extLst>
          </p:cNvPr>
          <p:cNvSpPr>
            <a:spLocks noGrp="1"/>
          </p:cNvSpPr>
          <p:nvPr>
            <p:ph type="title"/>
          </p:nvPr>
        </p:nvSpPr>
        <p:spPr/>
        <p:txBody>
          <a:bodyPr/>
          <a:lstStyle/>
          <a:p>
            <a:r>
              <a:rPr lang="en-VN"/>
              <a:t>Data Preprocessing</a:t>
            </a:r>
          </a:p>
        </p:txBody>
      </p:sp>
      <p:sp>
        <p:nvSpPr>
          <p:cNvPr id="4" name="Content Placeholder 3">
            <a:extLst>
              <a:ext uri="{FF2B5EF4-FFF2-40B4-BE49-F238E27FC236}">
                <a16:creationId xmlns:a16="http://schemas.microsoft.com/office/drawing/2014/main" id="{2BD81CFC-3951-3E72-A5C0-417BBE43364F}"/>
              </a:ext>
            </a:extLst>
          </p:cNvPr>
          <p:cNvSpPr>
            <a:spLocks noGrp="1"/>
          </p:cNvSpPr>
          <p:nvPr>
            <p:ph sz="quarter" idx="13"/>
          </p:nvPr>
        </p:nvSpPr>
        <p:spPr/>
        <p:txBody>
          <a:bodyPr/>
          <a:lstStyle/>
          <a:p>
            <a:r>
              <a:rPr lang="en-VN"/>
              <a:t>Feature encoding</a:t>
            </a:r>
          </a:p>
          <a:p>
            <a:pPr lvl="1"/>
            <a:r>
              <a:rPr lang="en-VN"/>
              <a:t>One-Hot Encoding</a:t>
            </a:r>
          </a:p>
          <a:p>
            <a:pPr lvl="1"/>
            <a:r>
              <a:rPr lang="en-VN"/>
              <a:t>Min-Max Encoding</a:t>
            </a:r>
          </a:p>
          <a:p>
            <a:r>
              <a:rPr lang="en-VN"/>
              <a:t>Feature Processing</a:t>
            </a:r>
          </a:p>
          <a:p>
            <a:pPr lvl="1"/>
            <a:r>
              <a:rPr lang="en-VN"/>
              <a:t>Duplicate removal</a:t>
            </a:r>
          </a:p>
          <a:p>
            <a:pPr lvl="1"/>
            <a:r>
              <a:rPr lang="en-VN"/>
              <a:t>Missing data removal</a:t>
            </a:r>
          </a:p>
          <a:p>
            <a:pPr lvl="1"/>
            <a:r>
              <a:rPr lang="en-VN"/>
              <a:t>Removing features with unique value and id feature.</a:t>
            </a:r>
          </a:p>
          <a:p>
            <a:r>
              <a:rPr lang="en-VN"/>
              <a:t>Dataset Processing:</a:t>
            </a:r>
          </a:p>
          <a:p>
            <a:pPr lvl="1"/>
            <a:r>
              <a:rPr lang="en-VN"/>
              <a:t>Removing classes have less than 100 instances in CIC-IDS-2017 dataset and 200 instances in KDD99 dataset.</a:t>
            </a:r>
          </a:p>
        </p:txBody>
      </p:sp>
    </p:spTree>
    <p:extLst>
      <p:ext uri="{BB962C8B-B14F-4D97-AF65-F5344CB8AC3E}">
        <p14:creationId xmlns:p14="http://schemas.microsoft.com/office/powerpoint/2010/main" val="9011971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3DE602-3E85-99AE-4D59-0B4A40606EBE}"/>
              </a:ext>
            </a:extLst>
          </p:cNvPr>
          <p:cNvSpPr>
            <a:spLocks noGrp="1"/>
          </p:cNvSpPr>
          <p:nvPr>
            <p:ph type="sldNum" sz="quarter" idx="12"/>
          </p:nvPr>
        </p:nvSpPr>
        <p:spPr/>
        <p:txBody>
          <a:bodyPr/>
          <a:lstStyle/>
          <a:p>
            <a:fld id="{9EA0BE3B-158A-4EDF-80DC-E394A0D1600F}" type="slidenum">
              <a:rPr lang="en-US" smtClean="0"/>
              <a:pPr/>
              <a:t>30</a:t>
            </a:fld>
            <a:endParaRPr lang="en-US" dirty="0"/>
          </a:p>
        </p:txBody>
      </p:sp>
      <p:sp>
        <p:nvSpPr>
          <p:cNvPr id="3" name="Title 2">
            <a:extLst>
              <a:ext uri="{FF2B5EF4-FFF2-40B4-BE49-F238E27FC236}">
                <a16:creationId xmlns:a16="http://schemas.microsoft.com/office/drawing/2014/main" id="{3A97806C-63A2-09E4-73B4-B73102998067}"/>
              </a:ext>
            </a:extLst>
          </p:cNvPr>
          <p:cNvSpPr>
            <a:spLocks noGrp="1"/>
          </p:cNvSpPr>
          <p:nvPr>
            <p:ph type="title"/>
          </p:nvPr>
        </p:nvSpPr>
        <p:spPr/>
        <p:txBody>
          <a:bodyPr/>
          <a:lstStyle/>
          <a:p>
            <a:r>
              <a:rPr lang="en-VN"/>
              <a:t>Implementation </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BD81CFC-3951-3E72-A5C0-417BBE43364F}"/>
                  </a:ext>
                </a:extLst>
              </p:cNvPr>
              <p:cNvSpPr>
                <a:spLocks noGrp="1"/>
              </p:cNvSpPr>
              <p:nvPr>
                <p:ph sz="quarter" idx="13"/>
              </p:nvPr>
            </p:nvSpPr>
            <p:spPr/>
            <p:txBody>
              <a:bodyPr/>
              <a:lstStyle/>
              <a:p>
                <a:r>
                  <a:rPr lang="en-VN"/>
                  <a:t>Parameter Settings:</a:t>
                </a:r>
              </a:p>
              <a:p>
                <a:pPr lvl="1"/>
                <a:r>
                  <a:rPr lang="en-VN"/>
                  <a:t>Epochs: 100</a:t>
                </a:r>
              </a:p>
              <a:p>
                <a:pPr lvl="1"/>
                <a:r>
                  <a:rPr lang="en-VN"/>
                  <a:t>Optimizer: Stochastic Gradient Descent</a:t>
                </a:r>
              </a:p>
              <a:p>
                <a:pPr lvl="1"/>
                <a:r>
                  <a:rPr lang="en-VN"/>
                  <a:t>Learning rate: 0.1</a:t>
                </a:r>
              </a:p>
              <a:p>
                <a:pPr lvl="1"/>
                <a:r>
                  <a:rPr lang="en-VN"/>
                  <a:t>Scheduler: MultistepLR. MultistepLR decays the learning rate by </a:t>
                </a:r>
                <a14:m>
                  <m:oMath xmlns:m="http://schemas.openxmlformats.org/officeDocument/2006/math">
                    <m:r>
                      <a:rPr lang="en-VN" i="1" smtClean="0">
                        <a:latin typeface="Cambria Math" panose="02040503050406030204" pitchFamily="18" charset="0"/>
                        <a:ea typeface="Cambria Math" panose="02040503050406030204" pitchFamily="18" charset="0"/>
                      </a:rPr>
                      <m:t>𝛾</m:t>
                    </m:r>
                  </m:oMath>
                </a14:m>
                <a:r>
                  <a:rPr lang="en-VN"/>
                  <a:t> once the number of epoch reaches one of the milestones. Milesstones: [25, 50, 75]. </a:t>
                </a:r>
                <a14:m>
                  <m:oMath xmlns:m="http://schemas.openxmlformats.org/officeDocument/2006/math">
                    <m:r>
                      <a:rPr lang="en-VN" i="1">
                        <a:latin typeface="Cambria Math" panose="02040503050406030204" pitchFamily="18" charset="0"/>
                        <a:ea typeface="Cambria Math" panose="02040503050406030204" pitchFamily="18" charset="0"/>
                      </a:rPr>
                      <m:t>𝛾</m:t>
                    </m:r>
                  </m:oMath>
                </a14:m>
                <a:r>
                  <a:rPr lang="en-VN"/>
                  <a:t>: 0.1</a:t>
                </a:r>
              </a:p>
              <a:p>
                <a:pPr lvl="1"/>
                <a:r>
                  <a:rPr lang="en-VN"/>
                  <a:t>Batchsize: 32</a:t>
                </a:r>
              </a:p>
              <a:p>
                <a:pPr lvl="1"/>
                <a:r>
                  <a:rPr lang="en-VN"/>
                  <a:t>Base/Initial classes train: 2</a:t>
                </a:r>
              </a:p>
              <a:p>
                <a:pPr lvl="1"/>
                <a:r>
                  <a:rPr lang="en-VN"/>
                  <a:t>Increment classes per task: 2</a:t>
                </a:r>
              </a:p>
              <a:p>
                <a:pPr lvl="1"/>
                <a:r>
                  <a:rPr lang="en-VN"/>
                  <a:t>Training order: From class with most instances to least instances</a:t>
                </a:r>
              </a:p>
            </p:txBody>
          </p:sp>
        </mc:Choice>
        <mc:Fallback xmlns="">
          <p:sp>
            <p:nvSpPr>
              <p:cNvPr id="4" name="Content Placeholder 3">
                <a:extLst>
                  <a:ext uri="{FF2B5EF4-FFF2-40B4-BE49-F238E27FC236}">
                    <a16:creationId xmlns:a16="http://schemas.microsoft.com/office/drawing/2014/main" id="{2BD81CFC-3951-3E72-A5C0-417BBE43364F}"/>
                  </a:ext>
                </a:extLst>
              </p:cNvPr>
              <p:cNvSpPr>
                <a:spLocks noGrp="1" noRot="1" noChangeAspect="1" noMove="1" noResize="1" noEditPoints="1" noAdjustHandles="1" noChangeArrowheads="1" noChangeShapeType="1" noTextEdit="1"/>
              </p:cNvSpPr>
              <p:nvPr>
                <p:ph sz="quarter" idx="13"/>
              </p:nvPr>
            </p:nvSpPr>
            <p:spPr>
              <a:blipFill>
                <a:blip r:embed="rId2"/>
                <a:stretch>
                  <a:fillRect l="-1170" t="-2153"/>
                </a:stretch>
              </a:blipFill>
            </p:spPr>
            <p:txBody>
              <a:bodyPr/>
              <a:lstStyle/>
              <a:p>
                <a:r>
                  <a:rPr lang="en-VN">
                    <a:noFill/>
                  </a:rPr>
                  <a:t> </a:t>
                </a:r>
              </a:p>
            </p:txBody>
          </p:sp>
        </mc:Fallback>
      </mc:AlternateContent>
    </p:spTree>
    <p:extLst>
      <p:ext uri="{BB962C8B-B14F-4D97-AF65-F5344CB8AC3E}">
        <p14:creationId xmlns:p14="http://schemas.microsoft.com/office/powerpoint/2010/main" val="2516145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C4F45D-054F-660C-8D01-DFCD49AA3224}"/>
              </a:ext>
            </a:extLst>
          </p:cNvPr>
          <p:cNvSpPr>
            <a:spLocks noGrp="1"/>
          </p:cNvSpPr>
          <p:nvPr>
            <p:ph type="sldNum" sz="quarter" idx="12"/>
          </p:nvPr>
        </p:nvSpPr>
        <p:spPr/>
        <p:txBody>
          <a:bodyPr/>
          <a:lstStyle/>
          <a:p>
            <a:fld id="{9EA0BE3B-158A-4EDF-80DC-E394A0D1600F}" type="slidenum">
              <a:rPr lang="en-US" smtClean="0"/>
              <a:pPr/>
              <a:t>31</a:t>
            </a:fld>
            <a:endParaRPr lang="en-US" dirty="0"/>
          </a:p>
        </p:txBody>
      </p:sp>
      <p:sp>
        <p:nvSpPr>
          <p:cNvPr id="3" name="Title 2">
            <a:extLst>
              <a:ext uri="{FF2B5EF4-FFF2-40B4-BE49-F238E27FC236}">
                <a16:creationId xmlns:a16="http://schemas.microsoft.com/office/drawing/2014/main" id="{43CB7D38-C8EA-33C2-B14F-61D5E6DE076A}"/>
              </a:ext>
            </a:extLst>
          </p:cNvPr>
          <p:cNvSpPr>
            <a:spLocks noGrp="1"/>
          </p:cNvSpPr>
          <p:nvPr>
            <p:ph type="title"/>
          </p:nvPr>
        </p:nvSpPr>
        <p:spPr/>
        <p:txBody>
          <a:bodyPr/>
          <a:lstStyle/>
          <a:p>
            <a:r>
              <a:rPr lang="en-VN"/>
              <a:t>Numerical Results</a:t>
            </a:r>
          </a:p>
        </p:txBody>
      </p:sp>
      <p:graphicFrame>
        <p:nvGraphicFramePr>
          <p:cNvPr id="6" name="Table 5">
            <a:extLst>
              <a:ext uri="{FF2B5EF4-FFF2-40B4-BE49-F238E27FC236}">
                <a16:creationId xmlns:a16="http://schemas.microsoft.com/office/drawing/2014/main" id="{F86A083A-EBCF-6819-14D6-B9CFB984A7DC}"/>
              </a:ext>
            </a:extLst>
          </p:cNvPr>
          <p:cNvGraphicFramePr>
            <a:graphicFrameLocks noGrp="1"/>
          </p:cNvGraphicFramePr>
          <p:nvPr>
            <p:extLst>
              <p:ext uri="{D42A27DB-BD31-4B8C-83A1-F6EECF244321}">
                <p14:modId xmlns:p14="http://schemas.microsoft.com/office/powerpoint/2010/main" val="2606850967"/>
              </p:ext>
            </p:extLst>
          </p:nvPr>
        </p:nvGraphicFramePr>
        <p:xfrm>
          <a:off x="1735969" y="1412478"/>
          <a:ext cx="6005466" cy="3113649"/>
        </p:xfrm>
        <a:graphic>
          <a:graphicData uri="http://schemas.openxmlformats.org/drawingml/2006/table">
            <a:tbl>
              <a:tblPr firstRow="1" bandRow="1">
                <a:tableStyleId>{5C22544A-7EE6-4342-B048-85BDC9FD1C3A}</a:tableStyleId>
              </a:tblPr>
              <a:tblGrid>
                <a:gridCol w="1000911">
                  <a:extLst>
                    <a:ext uri="{9D8B030D-6E8A-4147-A177-3AD203B41FA5}">
                      <a16:colId xmlns:a16="http://schemas.microsoft.com/office/drawing/2014/main" val="3288996717"/>
                    </a:ext>
                  </a:extLst>
                </a:gridCol>
                <a:gridCol w="1000911">
                  <a:extLst>
                    <a:ext uri="{9D8B030D-6E8A-4147-A177-3AD203B41FA5}">
                      <a16:colId xmlns:a16="http://schemas.microsoft.com/office/drawing/2014/main" val="1297728343"/>
                    </a:ext>
                  </a:extLst>
                </a:gridCol>
                <a:gridCol w="1000911">
                  <a:extLst>
                    <a:ext uri="{9D8B030D-6E8A-4147-A177-3AD203B41FA5}">
                      <a16:colId xmlns:a16="http://schemas.microsoft.com/office/drawing/2014/main" val="1091309125"/>
                    </a:ext>
                  </a:extLst>
                </a:gridCol>
                <a:gridCol w="1000911">
                  <a:extLst>
                    <a:ext uri="{9D8B030D-6E8A-4147-A177-3AD203B41FA5}">
                      <a16:colId xmlns:a16="http://schemas.microsoft.com/office/drawing/2014/main" val="1544193375"/>
                    </a:ext>
                  </a:extLst>
                </a:gridCol>
                <a:gridCol w="1000911">
                  <a:extLst>
                    <a:ext uri="{9D8B030D-6E8A-4147-A177-3AD203B41FA5}">
                      <a16:colId xmlns:a16="http://schemas.microsoft.com/office/drawing/2014/main" val="2449337172"/>
                    </a:ext>
                  </a:extLst>
                </a:gridCol>
                <a:gridCol w="1000911">
                  <a:extLst>
                    <a:ext uri="{9D8B030D-6E8A-4147-A177-3AD203B41FA5}">
                      <a16:colId xmlns:a16="http://schemas.microsoft.com/office/drawing/2014/main" val="643355938"/>
                    </a:ext>
                  </a:extLst>
                </a:gridCol>
              </a:tblGrid>
              <a:tr h="0">
                <a:tc>
                  <a:txBody>
                    <a:bodyPr/>
                    <a:lstStyle/>
                    <a:p>
                      <a:pPr algn="l" fontAlgn="b"/>
                      <a:r>
                        <a:rPr lang="en-VN" sz="2000" b="0" i="0" u="none" strike="noStrike" dirty="0">
                          <a:solidFill>
                            <a:srgbClr val="000000"/>
                          </a:solidFill>
                          <a:effectLst/>
                          <a:latin typeface="Aptos Narrow" panose="020B0004020202020204" pitchFamily="34" charset="0"/>
                        </a:rPr>
                        <a:t> </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2000" b="0" i="0" u="none" strike="noStrike" dirty="0">
                          <a:solidFill>
                            <a:srgbClr val="000000"/>
                          </a:solidFill>
                          <a:effectLst/>
                          <a:latin typeface="Aptos Narrow" panose="020B0004020202020204" pitchFamily="34" charset="0"/>
                        </a:rPr>
                        <a:t>Finetune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2000" b="0" i="0" u="none" strike="noStrike">
                          <a:solidFill>
                            <a:srgbClr val="000000"/>
                          </a:solidFill>
                          <a:effectLst/>
                          <a:latin typeface="Aptos Narrow" panose="020B0004020202020204" pitchFamily="34" charset="0"/>
                        </a:rPr>
                        <a:t>LWF</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2000" b="0" i="0" u="none" strike="noStrike" dirty="0">
                          <a:solidFill>
                            <a:srgbClr val="000000"/>
                          </a:solidFill>
                          <a:effectLst/>
                          <a:latin typeface="Aptos Narrow" panose="020B0004020202020204" pitchFamily="34" charset="0"/>
                        </a:rPr>
                        <a:t>ICARL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2000" b="0" i="0" u="none" strike="noStrike" dirty="0">
                          <a:solidFill>
                            <a:srgbClr val="000000"/>
                          </a:solidFill>
                          <a:effectLst/>
                          <a:latin typeface="Aptos Narrow" panose="020B0004020202020204" pitchFamily="34" charset="0"/>
                        </a:rPr>
                        <a:t>DER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2000" b="0" i="0" u="none" strike="noStrike" dirty="0">
                          <a:solidFill>
                            <a:srgbClr val="000000"/>
                          </a:solidFill>
                          <a:effectLst/>
                          <a:latin typeface="Aptos Narrow" panose="020B0004020202020204" pitchFamily="34" charset="0"/>
                        </a:rPr>
                        <a:t>MEMO</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4793609"/>
                  </a:ext>
                </a:extLst>
              </a:tr>
              <a:tr h="323039">
                <a:tc>
                  <a:txBody>
                    <a:bodyPr/>
                    <a:lstStyle/>
                    <a:p>
                      <a:pPr algn="l" fontAlgn="b"/>
                      <a:r>
                        <a:rPr lang="en-US" sz="2000" b="0" i="0" u="none" strike="noStrike">
                          <a:solidFill>
                            <a:srgbClr val="000000"/>
                          </a:solidFill>
                          <a:effectLst/>
                          <a:latin typeface="Aptos Narrow" panose="020B0004020202020204" pitchFamily="34" charset="0"/>
                        </a:rPr>
                        <a:t>KDD99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a:solidFill>
                            <a:srgbClr val="000000"/>
                          </a:solidFill>
                          <a:effectLst/>
                          <a:latin typeface="Aptos Narrow" panose="020B0004020202020204" pitchFamily="34" charset="0"/>
                        </a:rPr>
                        <a:t>20,75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a:solidFill>
                            <a:srgbClr val="000000"/>
                          </a:solidFill>
                          <a:effectLst/>
                          <a:latin typeface="Aptos Narrow" panose="020B0004020202020204" pitchFamily="34" charset="0"/>
                        </a:rPr>
                        <a:t>68,3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a:solidFill>
                            <a:srgbClr val="000000"/>
                          </a:solidFill>
                          <a:effectLst/>
                          <a:latin typeface="Aptos Narrow" panose="020B0004020202020204" pitchFamily="34" charset="0"/>
                        </a:rPr>
                        <a:t>96,59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dirty="0">
                          <a:solidFill>
                            <a:srgbClr val="000000"/>
                          </a:solidFill>
                          <a:effectLst/>
                          <a:latin typeface="Aptos Narrow" panose="020B0004020202020204" pitchFamily="34" charset="0"/>
                        </a:rPr>
                        <a:t>98,95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a:solidFill>
                            <a:srgbClr val="000000"/>
                          </a:solidFill>
                          <a:effectLst/>
                          <a:latin typeface="Aptos Narrow" panose="020B0004020202020204" pitchFamily="34" charset="0"/>
                        </a:rPr>
                        <a:t>95,88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2551795"/>
                  </a:ext>
                </a:extLst>
              </a:tr>
              <a:tr h="636292">
                <a:tc>
                  <a:txBody>
                    <a:bodyPr/>
                    <a:lstStyle/>
                    <a:p>
                      <a:pPr algn="l" fontAlgn="b"/>
                      <a:r>
                        <a:rPr lang="en-US" sz="2000" b="0" i="0" u="none" strike="noStrike">
                          <a:solidFill>
                            <a:srgbClr val="000000"/>
                          </a:solidFill>
                          <a:effectLst/>
                          <a:latin typeface="Aptos Narrow" panose="020B0004020202020204" pitchFamily="34" charset="0"/>
                        </a:rPr>
                        <a:t>CIC-IDS-2017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a:solidFill>
                            <a:srgbClr val="000000"/>
                          </a:solidFill>
                          <a:effectLst/>
                          <a:latin typeface="Aptos Narrow" panose="020B0004020202020204" pitchFamily="34" charset="0"/>
                        </a:rPr>
                        <a:t>22,03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a:solidFill>
                            <a:srgbClr val="000000"/>
                          </a:solidFill>
                          <a:effectLst/>
                          <a:latin typeface="Aptos Narrow" panose="020B0004020202020204" pitchFamily="34" charset="0"/>
                        </a:rPr>
                        <a:t>13,15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a:solidFill>
                            <a:srgbClr val="000000"/>
                          </a:solidFill>
                          <a:effectLst/>
                          <a:latin typeface="Aptos Narrow" panose="020B0004020202020204" pitchFamily="34" charset="0"/>
                        </a:rPr>
                        <a:t>49,93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a:solidFill>
                            <a:srgbClr val="000000"/>
                          </a:solidFill>
                          <a:effectLst/>
                          <a:latin typeface="Aptos Narrow" panose="020B0004020202020204" pitchFamily="34" charset="0"/>
                        </a:rPr>
                        <a:t>32,27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dirty="0">
                          <a:solidFill>
                            <a:srgbClr val="000000"/>
                          </a:solidFill>
                          <a:effectLst/>
                          <a:latin typeface="Aptos Narrow" panose="020B0004020202020204" pitchFamily="34" charset="0"/>
                        </a:rPr>
                        <a:t>25,96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3282538"/>
                  </a:ext>
                </a:extLst>
              </a:tr>
              <a:tr h="636292">
                <a:tc>
                  <a:txBody>
                    <a:bodyPr/>
                    <a:lstStyle/>
                    <a:p>
                      <a:pPr algn="l" fontAlgn="b"/>
                      <a:r>
                        <a:rPr lang="en-US" sz="2000" b="0" i="0" u="none" strike="noStrike">
                          <a:solidFill>
                            <a:srgbClr val="000000"/>
                          </a:solidFill>
                          <a:effectLst/>
                          <a:latin typeface="Aptos Narrow" panose="020B0004020202020204" pitchFamily="34" charset="0"/>
                        </a:rPr>
                        <a:t>ToN-IoT-Network</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a:solidFill>
                            <a:srgbClr val="000000"/>
                          </a:solidFill>
                          <a:effectLst/>
                          <a:latin typeface="Aptos Narrow" panose="020B0004020202020204" pitchFamily="34" charset="0"/>
                        </a:rPr>
                        <a:t>38,26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a:solidFill>
                            <a:srgbClr val="000000"/>
                          </a:solidFill>
                          <a:effectLst/>
                          <a:latin typeface="Aptos Narrow" panose="020B0004020202020204" pitchFamily="34" charset="0"/>
                        </a:rPr>
                        <a:t>52,06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a:solidFill>
                            <a:srgbClr val="000000"/>
                          </a:solidFill>
                          <a:effectLst/>
                          <a:latin typeface="Aptos Narrow" panose="020B0004020202020204" pitchFamily="34" charset="0"/>
                        </a:rPr>
                        <a:t>66,24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dirty="0">
                          <a:solidFill>
                            <a:srgbClr val="000000"/>
                          </a:solidFill>
                          <a:effectLst/>
                          <a:latin typeface="Aptos Narrow" panose="020B0004020202020204" pitchFamily="34" charset="0"/>
                        </a:rPr>
                        <a:t>40,25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a:solidFill>
                            <a:srgbClr val="000000"/>
                          </a:solidFill>
                          <a:effectLst/>
                          <a:latin typeface="Aptos Narrow" panose="020B0004020202020204" pitchFamily="34" charset="0"/>
                        </a:rPr>
                        <a:t>38,32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6600653"/>
                  </a:ext>
                </a:extLst>
              </a:tr>
              <a:tr h="636292">
                <a:tc>
                  <a:txBody>
                    <a:bodyPr/>
                    <a:lstStyle/>
                    <a:p>
                      <a:pPr algn="l" fontAlgn="b"/>
                      <a:r>
                        <a:rPr lang="en-US" sz="2000" b="0" i="0" u="none" strike="noStrike">
                          <a:solidFill>
                            <a:srgbClr val="000000"/>
                          </a:solidFill>
                          <a:effectLst/>
                          <a:latin typeface="Aptos Narrow" panose="020B0004020202020204" pitchFamily="34" charset="0"/>
                        </a:rPr>
                        <a:t>UNSW-NB15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a:solidFill>
                            <a:srgbClr val="000000"/>
                          </a:solidFill>
                          <a:effectLst/>
                          <a:latin typeface="Aptos Narrow" panose="020B0004020202020204" pitchFamily="34" charset="0"/>
                        </a:rPr>
                        <a:t>23,02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a:solidFill>
                            <a:srgbClr val="000000"/>
                          </a:solidFill>
                          <a:effectLst/>
                          <a:latin typeface="Aptos Narrow" panose="020B0004020202020204" pitchFamily="34" charset="0"/>
                        </a:rPr>
                        <a:t>22,46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a:solidFill>
                            <a:srgbClr val="000000"/>
                          </a:solidFill>
                          <a:effectLst/>
                          <a:latin typeface="Aptos Narrow" panose="020B0004020202020204" pitchFamily="34" charset="0"/>
                        </a:rPr>
                        <a:t>30,61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dirty="0">
                          <a:solidFill>
                            <a:srgbClr val="000000"/>
                          </a:solidFill>
                          <a:effectLst/>
                          <a:latin typeface="Aptos Narrow" panose="020B0004020202020204" pitchFamily="34" charset="0"/>
                        </a:rPr>
                        <a:t>27,92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dirty="0">
                          <a:solidFill>
                            <a:srgbClr val="000000"/>
                          </a:solidFill>
                          <a:effectLst/>
                          <a:latin typeface="Aptos Narrow" panose="020B0004020202020204" pitchFamily="34" charset="0"/>
                        </a:rPr>
                        <a:t>23,13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1801064"/>
                  </a:ext>
                </a:extLst>
              </a:tr>
              <a:tr h="567409">
                <a:tc>
                  <a:txBody>
                    <a:bodyPr/>
                    <a:lstStyle/>
                    <a:p>
                      <a:pPr algn="l" fontAlgn="b"/>
                      <a:r>
                        <a:rPr lang="en-US" sz="2000" b="0" i="0" u="none" strike="noStrike" dirty="0">
                          <a:solidFill>
                            <a:srgbClr val="000000"/>
                          </a:solidFill>
                          <a:effectLst/>
                          <a:latin typeface="Aptos Narrow" panose="020B0004020202020204" pitchFamily="34" charset="0"/>
                        </a:rPr>
                        <a:t>Synthetic</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dirty="0">
                          <a:solidFill>
                            <a:srgbClr val="000000"/>
                          </a:solidFill>
                          <a:effectLst/>
                          <a:latin typeface="Aptos Narrow" panose="020B0004020202020204" pitchFamily="34" charset="0"/>
                        </a:rPr>
                        <a:t>45,9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a:solidFill>
                            <a:srgbClr val="000000"/>
                          </a:solidFill>
                          <a:effectLst/>
                          <a:latin typeface="Aptos Narrow" panose="020B0004020202020204" pitchFamily="34" charset="0"/>
                        </a:rPr>
                        <a:t>50,21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a:solidFill>
                            <a:srgbClr val="000000"/>
                          </a:solidFill>
                          <a:effectLst/>
                          <a:latin typeface="Aptos Narrow" panose="020B0004020202020204" pitchFamily="34" charset="0"/>
                        </a:rPr>
                        <a:t>99,99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dirty="0">
                          <a:solidFill>
                            <a:srgbClr val="000000"/>
                          </a:solidFill>
                          <a:effectLst/>
                          <a:latin typeface="Aptos Narrow" panose="020B0004020202020204" pitchFamily="34" charset="0"/>
                        </a:rPr>
                        <a:t>100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2000" b="0" i="0" u="none" strike="noStrike" dirty="0">
                          <a:solidFill>
                            <a:srgbClr val="000000"/>
                          </a:solidFill>
                          <a:effectLst/>
                          <a:latin typeface="Aptos Narrow" panose="020B0004020202020204" pitchFamily="34" charset="0"/>
                        </a:rPr>
                        <a:t>99,88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8853577"/>
                  </a:ext>
                </a:extLst>
              </a:tr>
            </a:tbl>
          </a:graphicData>
        </a:graphic>
      </p:graphicFrame>
      <p:sp>
        <p:nvSpPr>
          <p:cNvPr id="10" name="TextBox 9">
            <a:extLst>
              <a:ext uri="{FF2B5EF4-FFF2-40B4-BE49-F238E27FC236}">
                <a16:creationId xmlns:a16="http://schemas.microsoft.com/office/drawing/2014/main" id="{C3441FA5-3527-AE3A-86E9-A1A0B2A083DC}"/>
              </a:ext>
            </a:extLst>
          </p:cNvPr>
          <p:cNvSpPr txBox="1"/>
          <p:nvPr/>
        </p:nvSpPr>
        <p:spPr>
          <a:xfrm>
            <a:off x="709596" y="4676528"/>
            <a:ext cx="7724807" cy="369332"/>
          </a:xfrm>
          <a:prstGeom prst="rect">
            <a:avLst/>
          </a:prstGeom>
          <a:noFill/>
        </p:spPr>
        <p:txBody>
          <a:bodyPr wrap="none" rtlCol="0">
            <a:spAutoFit/>
          </a:bodyPr>
          <a:lstStyle/>
          <a:p>
            <a:r>
              <a:rPr lang="en-VN" dirty="0"/>
              <a:t>Table 1: Average Accuracy of all methods on all datasets with exemplar size 2000</a:t>
            </a:r>
          </a:p>
        </p:txBody>
      </p:sp>
      <p:sp>
        <p:nvSpPr>
          <p:cNvPr id="11" name="TextBox 10">
            <a:extLst>
              <a:ext uri="{FF2B5EF4-FFF2-40B4-BE49-F238E27FC236}">
                <a16:creationId xmlns:a16="http://schemas.microsoft.com/office/drawing/2014/main" id="{EB1CFFFA-04C1-9A22-4230-2EA31152D004}"/>
              </a:ext>
            </a:extLst>
          </p:cNvPr>
          <p:cNvSpPr txBox="1"/>
          <p:nvPr/>
        </p:nvSpPr>
        <p:spPr>
          <a:xfrm>
            <a:off x="884228" y="5103674"/>
            <a:ext cx="7708947" cy="1754326"/>
          </a:xfrm>
          <a:prstGeom prst="rect">
            <a:avLst/>
          </a:prstGeom>
          <a:noFill/>
        </p:spPr>
        <p:txBody>
          <a:bodyPr wrap="square" rtlCol="0">
            <a:spAutoFit/>
          </a:bodyPr>
          <a:lstStyle/>
          <a:p>
            <a:r>
              <a:rPr lang="en-VN" dirty="0"/>
              <a:t>- LWF have better accuracy than Finetune in most case.</a:t>
            </a:r>
            <a:br>
              <a:rPr lang="en-VN" dirty="0"/>
            </a:br>
            <a:r>
              <a:rPr lang="en-VN" dirty="0"/>
              <a:t>- Exemplar-based method (ICARL, DER, MEMO) outperforms exemplar-free method.</a:t>
            </a:r>
            <a:br>
              <a:rPr lang="en-VN" dirty="0"/>
            </a:br>
            <a:r>
              <a:rPr lang="en-VN" dirty="0"/>
              <a:t>- ICARL gives competitive results in all datasets.</a:t>
            </a:r>
            <a:br>
              <a:rPr lang="en-VN" dirty="0"/>
            </a:br>
            <a:r>
              <a:rPr lang="en-VN" dirty="0"/>
              <a:t> </a:t>
            </a:r>
            <a:br>
              <a:rPr lang="en-VN" dirty="0"/>
            </a:br>
            <a:endParaRPr lang="en-VN" dirty="0"/>
          </a:p>
        </p:txBody>
      </p:sp>
      <p:sp>
        <p:nvSpPr>
          <p:cNvPr id="4" name="TextBox 3">
            <a:extLst>
              <a:ext uri="{FF2B5EF4-FFF2-40B4-BE49-F238E27FC236}">
                <a16:creationId xmlns:a16="http://schemas.microsoft.com/office/drawing/2014/main" id="{30A6CEA9-DFAE-73FE-536C-769698AB84D3}"/>
              </a:ext>
            </a:extLst>
          </p:cNvPr>
          <p:cNvSpPr txBox="1"/>
          <p:nvPr/>
        </p:nvSpPr>
        <p:spPr>
          <a:xfrm>
            <a:off x="427984" y="938768"/>
            <a:ext cx="3147015" cy="400110"/>
          </a:xfrm>
          <a:prstGeom prst="rect">
            <a:avLst/>
          </a:prstGeom>
          <a:noFill/>
        </p:spPr>
        <p:txBody>
          <a:bodyPr wrap="none" rtlCol="0">
            <a:spAutoFit/>
          </a:bodyPr>
          <a:lstStyle/>
          <a:p>
            <a:r>
              <a:rPr lang="en-VN" sz="2000" b="1" dirty="0">
                <a:latin typeface="Lato" panose="020F0502020204030203" pitchFamily="34" charset="0"/>
                <a:ea typeface="Lato" panose="020F0502020204030203" pitchFamily="34" charset="0"/>
                <a:cs typeface="Lato" panose="020F0502020204030203" pitchFamily="34" charset="0"/>
              </a:rPr>
              <a:t>Evaluation on all datasets</a:t>
            </a:r>
          </a:p>
        </p:txBody>
      </p:sp>
    </p:spTree>
    <p:extLst>
      <p:ext uri="{BB962C8B-B14F-4D97-AF65-F5344CB8AC3E}">
        <p14:creationId xmlns:p14="http://schemas.microsoft.com/office/powerpoint/2010/main" val="37299933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53D903-5652-2555-2CD4-FA1C520B6E06}"/>
              </a:ext>
            </a:extLst>
          </p:cNvPr>
          <p:cNvSpPr>
            <a:spLocks noGrp="1"/>
          </p:cNvSpPr>
          <p:nvPr>
            <p:ph type="sldNum" sz="quarter" idx="12"/>
          </p:nvPr>
        </p:nvSpPr>
        <p:spPr/>
        <p:txBody>
          <a:bodyPr/>
          <a:lstStyle/>
          <a:p>
            <a:fld id="{9EA0BE3B-158A-4EDF-80DC-E394A0D1600F}" type="slidenum">
              <a:rPr lang="en-US" smtClean="0"/>
              <a:pPr/>
              <a:t>32</a:t>
            </a:fld>
            <a:endParaRPr lang="en-US" dirty="0"/>
          </a:p>
        </p:txBody>
      </p:sp>
      <p:graphicFrame>
        <p:nvGraphicFramePr>
          <p:cNvPr id="5" name="Table 4">
            <a:extLst>
              <a:ext uri="{FF2B5EF4-FFF2-40B4-BE49-F238E27FC236}">
                <a16:creationId xmlns:a16="http://schemas.microsoft.com/office/drawing/2014/main" id="{BA884304-ECA9-201E-E33A-938505E93FC7}"/>
              </a:ext>
            </a:extLst>
          </p:cNvPr>
          <p:cNvGraphicFramePr>
            <a:graphicFrameLocks noGrp="1"/>
          </p:cNvGraphicFramePr>
          <p:nvPr>
            <p:extLst>
              <p:ext uri="{D42A27DB-BD31-4B8C-83A1-F6EECF244321}">
                <p14:modId xmlns:p14="http://schemas.microsoft.com/office/powerpoint/2010/main" val="3408778193"/>
              </p:ext>
            </p:extLst>
          </p:nvPr>
        </p:nvGraphicFramePr>
        <p:xfrm>
          <a:off x="523505" y="1612898"/>
          <a:ext cx="3624107" cy="1816100"/>
        </p:xfrm>
        <a:graphic>
          <a:graphicData uri="http://schemas.openxmlformats.org/drawingml/2006/table">
            <a:tbl>
              <a:tblPr>
                <a:tableStyleId>{5C22544A-7EE6-4342-B048-85BDC9FD1C3A}</a:tableStyleId>
              </a:tblPr>
              <a:tblGrid>
                <a:gridCol w="930783">
                  <a:extLst>
                    <a:ext uri="{9D8B030D-6E8A-4147-A177-3AD203B41FA5}">
                      <a16:colId xmlns:a16="http://schemas.microsoft.com/office/drawing/2014/main" val="3833377057"/>
                    </a:ext>
                  </a:extLst>
                </a:gridCol>
                <a:gridCol w="1007199">
                  <a:extLst>
                    <a:ext uri="{9D8B030D-6E8A-4147-A177-3AD203B41FA5}">
                      <a16:colId xmlns:a16="http://schemas.microsoft.com/office/drawing/2014/main" val="2729956740"/>
                    </a:ext>
                  </a:extLst>
                </a:gridCol>
                <a:gridCol w="1037042">
                  <a:extLst>
                    <a:ext uri="{9D8B030D-6E8A-4147-A177-3AD203B41FA5}">
                      <a16:colId xmlns:a16="http://schemas.microsoft.com/office/drawing/2014/main" val="135825848"/>
                    </a:ext>
                  </a:extLst>
                </a:gridCol>
                <a:gridCol w="649083">
                  <a:extLst>
                    <a:ext uri="{9D8B030D-6E8A-4147-A177-3AD203B41FA5}">
                      <a16:colId xmlns:a16="http://schemas.microsoft.com/office/drawing/2014/main" val="2363436446"/>
                    </a:ext>
                  </a:extLst>
                </a:gridCol>
              </a:tblGrid>
              <a:tr h="363220">
                <a:tc>
                  <a:txBody>
                    <a:bodyPr/>
                    <a:lstStyle/>
                    <a:p>
                      <a:pPr algn="l" fontAlgn="b"/>
                      <a:r>
                        <a:rPr lang="en-VN" sz="1200" u="none" strike="noStrike" dirty="0">
                          <a:effectLst/>
                        </a:rPr>
                        <a:t> Exemplar Size</a:t>
                      </a:r>
                      <a:endParaRPr lang="en-VN" sz="12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200" u="none" strike="noStrike" dirty="0">
                          <a:effectLst/>
                        </a:rPr>
                        <a:t>ICARL</a:t>
                      </a:r>
                      <a:endParaRPr lang="en-US" sz="12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200" u="none" strike="noStrike" dirty="0">
                          <a:effectLst/>
                        </a:rPr>
                        <a:t>DER</a:t>
                      </a:r>
                      <a:endParaRPr lang="en-US" sz="12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200" u="none" strike="noStrike">
                          <a:effectLst/>
                        </a:rPr>
                        <a:t>MEMO</a:t>
                      </a:r>
                      <a:endParaRPr lang="en-US"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9730271"/>
                  </a:ext>
                </a:extLst>
              </a:tr>
              <a:tr h="363220">
                <a:tc>
                  <a:txBody>
                    <a:bodyPr/>
                    <a:lstStyle/>
                    <a:p>
                      <a:pPr algn="r" fontAlgn="b"/>
                      <a:r>
                        <a:rPr lang="en-VN" sz="1200" u="none" strike="noStrike">
                          <a:effectLst/>
                        </a:rPr>
                        <a:t>1000</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a:effectLst/>
                        </a:rPr>
                        <a:t>99,99</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a:effectLst/>
                        </a:rPr>
                        <a:t>99,96</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a:effectLst/>
                        </a:rPr>
                        <a:t>99,84</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1831125"/>
                  </a:ext>
                </a:extLst>
              </a:tr>
              <a:tr h="363220">
                <a:tc>
                  <a:txBody>
                    <a:bodyPr/>
                    <a:lstStyle/>
                    <a:p>
                      <a:pPr algn="r" fontAlgn="b"/>
                      <a:r>
                        <a:rPr lang="en-VN" sz="1200" u="none" strike="noStrike">
                          <a:effectLst/>
                        </a:rPr>
                        <a:t>500</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a:effectLst/>
                        </a:rPr>
                        <a:t>99,99</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a:effectLst/>
                        </a:rPr>
                        <a:t>100</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a:effectLst/>
                        </a:rPr>
                        <a:t>99,88</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3017820"/>
                  </a:ext>
                </a:extLst>
              </a:tr>
              <a:tr h="363220">
                <a:tc>
                  <a:txBody>
                    <a:bodyPr/>
                    <a:lstStyle/>
                    <a:p>
                      <a:pPr algn="r" fontAlgn="b"/>
                      <a:r>
                        <a:rPr lang="en-VN" sz="1200" u="none" strike="noStrike">
                          <a:effectLst/>
                        </a:rPr>
                        <a:t>250</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a:effectLst/>
                        </a:rPr>
                        <a:t>96,13</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a:effectLst/>
                        </a:rPr>
                        <a:t>99,82</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a:effectLst/>
                        </a:rPr>
                        <a:t>79,84</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6439038"/>
                  </a:ext>
                </a:extLst>
              </a:tr>
              <a:tr h="363220">
                <a:tc>
                  <a:txBody>
                    <a:bodyPr/>
                    <a:lstStyle/>
                    <a:p>
                      <a:pPr algn="r" fontAlgn="b"/>
                      <a:r>
                        <a:rPr lang="en-VN" sz="1200" u="none" strike="noStrike">
                          <a:effectLst/>
                        </a:rPr>
                        <a:t>100</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a:effectLst/>
                        </a:rPr>
                        <a:t>69,25</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a:effectLst/>
                        </a:rPr>
                        <a:t>96,3</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dirty="0">
                          <a:effectLst/>
                        </a:rPr>
                        <a:t>64,1</a:t>
                      </a:r>
                      <a:endParaRPr lang="en-VN" sz="12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8972687"/>
                  </a:ext>
                </a:extLst>
              </a:tr>
            </a:tbl>
          </a:graphicData>
        </a:graphic>
      </p:graphicFrame>
      <p:graphicFrame>
        <p:nvGraphicFramePr>
          <p:cNvPr id="7" name="Table 6">
            <a:extLst>
              <a:ext uri="{FF2B5EF4-FFF2-40B4-BE49-F238E27FC236}">
                <a16:creationId xmlns:a16="http://schemas.microsoft.com/office/drawing/2014/main" id="{9BB12B89-9449-A67B-B57D-08CF8167C79E}"/>
              </a:ext>
            </a:extLst>
          </p:cNvPr>
          <p:cNvGraphicFramePr>
            <a:graphicFrameLocks noGrp="1"/>
          </p:cNvGraphicFramePr>
          <p:nvPr>
            <p:extLst>
              <p:ext uri="{D42A27DB-BD31-4B8C-83A1-F6EECF244321}">
                <p14:modId xmlns:p14="http://schemas.microsoft.com/office/powerpoint/2010/main" val="3296589107"/>
              </p:ext>
            </p:extLst>
          </p:nvPr>
        </p:nvGraphicFramePr>
        <p:xfrm>
          <a:off x="4800602" y="1612898"/>
          <a:ext cx="3819896" cy="1816102"/>
        </p:xfrm>
        <a:graphic>
          <a:graphicData uri="http://schemas.openxmlformats.org/drawingml/2006/table">
            <a:tbl>
              <a:tblPr>
                <a:tableStyleId>{5C22544A-7EE6-4342-B048-85BDC9FD1C3A}</a:tableStyleId>
              </a:tblPr>
              <a:tblGrid>
                <a:gridCol w="1126571">
                  <a:extLst>
                    <a:ext uri="{9D8B030D-6E8A-4147-A177-3AD203B41FA5}">
                      <a16:colId xmlns:a16="http://schemas.microsoft.com/office/drawing/2014/main" val="1002634908"/>
                    </a:ext>
                  </a:extLst>
                </a:gridCol>
                <a:gridCol w="1007199">
                  <a:extLst>
                    <a:ext uri="{9D8B030D-6E8A-4147-A177-3AD203B41FA5}">
                      <a16:colId xmlns:a16="http://schemas.microsoft.com/office/drawing/2014/main" val="2690929998"/>
                    </a:ext>
                  </a:extLst>
                </a:gridCol>
                <a:gridCol w="1037042">
                  <a:extLst>
                    <a:ext uri="{9D8B030D-6E8A-4147-A177-3AD203B41FA5}">
                      <a16:colId xmlns:a16="http://schemas.microsoft.com/office/drawing/2014/main" val="398767745"/>
                    </a:ext>
                  </a:extLst>
                </a:gridCol>
                <a:gridCol w="649084">
                  <a:extLst>
                    <a:ext uri="{9D8B030D-6E8A-4147-A177-3AD203B41FA5}">
                      <a16:colId xmlns:a16="http://schemas.microsoft.com/office/drawing/2014/main" val="1323294399"/>
                    </a:ext>
                  </a:extLst>
                </a:gridCol>
              </a:tblGrid>
              <a:tr h="387202">
                <a:tc>
                  <a:txBody>
                    <a:bodyPr/>
                    <a:lstStyle/>
                    <a:p>
                      <a:pPr algn="l" fontAlgn="b"/>
                      <a:r>
                        <a:rPr lang="en-VN" sz="1200" u="none" strike="noStrike" dirty="0">
                          <a:effectLst/>
                        </a:rPr>
                        <a:t> Exemplar Size</a:t>
                      </a:r>
                      <a:endParaRPr lang="en-VN" sz="12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200" u="none" strike="noStrike">
                          <a:effectLst/>
                        </a:rPr>
                        <a:t>ICARL</a:t>
                      </a:r>
                      <a:endParaRPr lang="en-US"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200" u="none" strike="noStrike" dirty="0">
                          <a:effectLst/>
                        </a:rPr>
                        <a:t>DER</a:t>
                      </a:r>
                      <a:endParaRPr lang="en-US" sz="12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200" u="none" strike="noStrike">
                          <a:effectLst/>
                        </a:rPr>
                        <a:t>MEMO</a:t>
                      </a:r>
                      <a:endParaRPr lang="en-US"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4636385"/>
                  </a:ext>
                </a:extLst>
              </a:tr>
              <a:tr h="357225">
                <a:tc>
                  <a:txBody>
                    <a:bodyPr/>
                    <a:lstStyle/>
                    <a:p>
                      <a:pPr algn="r" fontAlgn="b"/>
                      <a:r>
                        <a:rPr lang="en-VN" sz="1200" u="none" strike="noStrike">
                          <a:effectLst/>
                        </a:rPr>
                        <a:t>1000</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a:effectLst/>
                        </a:rPr>
                        <a:t>96,39</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a:effectLst/>
                        </a:rPr>
                        <a:t>94,57</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a:effectLst/>
                        </a:rPr>
                        <a:t>94,5</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1980356"/>
                  </a:ext>
                </a:extLst>
              </a:tr>
              <a:tr h="357225">
                <a:tc>
                  <a:txBody>
                    <a:bodyPr/>
                    <a:lstStyle/>
                    <a:p>
                      <a:pPr algn="r" fontAlgn="b"/>
                      <a:r>
                        <a:rPr lang="en-VN" sz="1200" u="none" strike="noStrike">
                          <a:effectLst/>
                        </a:rPr>
                        <a:t>500</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a:effectLst/>
                        </a:rPr>
                        <a:t>80,43</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a:effectLst/>
                        </a:rPr>
                        <a:t>93,02</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a:effectLst/>
                        </a:rPr>
                        <a:t>58,74</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1918366"/>
                  </a:ext>
                </a:extLst>
              </a:tr>
              <a:tr h="357225">
                <a:tc>
                  <a:txBody>
                    <a:bodyPr/>
                    <a:lstStyle/>
                    <a:p>
                      <a:pPr algn="r" fontAlgn="b"/>
                      <a:r>
                        <a:rPr lang="en-VN" sz="1200" u="none" strike="noStrike">
                          <a:effectLst/>
                        </a:rPr>
                        <a:t>250</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dirty="0">
                          <a:effectLst/>
                        </a:rPr>
                        <a:t>62,86</a:t>
                      </a:r>
                      <a:endParaRPr lang="en-VN" sz="12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a:effectLst/>
                        </a:rPr>
                        <a:t>51,59</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a:effectLst/>
                        </a:rPr>
                        <a:t>21,02</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8392650"/>
                  </a:ext>
                </a:extLst>
              </a:tr>
              <a:tr h="357225">
                <a:tc>
                  <a:txBody>
                    <a:bodyPr/>
                    <a:lstStyle/>
                    <a:p>
                      <a:pPr algn="r" fontAlgn="b"/>
                      <a:r>
                        <a:rPr lang="en-VN" sz="1200" u="none" strike="noStrike">
                          <a:effectLst/>
                        </a:rPr>
                        <a:t>100</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a:effectLst/>
                        </a:rPr>
                        <a:t>67,11</a:t>
                      </a:r>
                      <a:endParaRPr lang="en-VN" sz="12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dirty="0">
                          <a:effectLst/>
                        </a:rPr>
                        <a:t>33,73</a:t>
                      </a:r>
                      <a:endParaRPr lang="en-VN" sz="12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200" u="none" strike="noStrike" dirty="0">
                          <a:effectLst/>
                        </a:rPr>
                        <a:t>20,75</a:t>
                      </a:r>
                      <a:endParaRPr lang="en-VN" sz="12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5794601"/>
                  </a:ext>
                </a:extLst>
              </a:tr>
            </a:tbl>
          </a:graphicData>
        </a:graphic>
      </p:graphicFrame>
      <p:sp>
        <p:nvSpPr>
          <p:cNvPr id="8" name="TextBox 7">
            <a:extLst>
              <a:ext uri="{FF2B5EF4-FFF2-40B4-BE49-F238E27FC236}">
                <a16:creationId xmlns:a16="http://schemas.microsoft.com/office/drawing/2014/main" id="{5EAA52A1-8408-7F9F-77EE-0B928BB77159}"/>
              </a:ext>
            </a:extLst>
          </p:cNvPr>
          <p:cNvSpPr txBox="1"/>
          <p:nvPr/>
        </p:nvSpPr>
        <p:spPr>
          <a:xfrm>
            <a:off x="0" y="3632198"/>
            <a:ext cx="4467698" cy="369332"/>
          </a:xfrm>
          <a:prstGeom prst="rect">
            <a:avLst/>
          </a:prstGeom>
          <a:noFill/>
        </p:spPr>
        <p:txBody>
          <a:bodyPr wrap="none" rtlCol="0">
            <a:spAutoFit/>
          </a:bodyPr>
          <a:lstStyle/>
          <a:p>
            <a:r>
              <a:rPr lang="en-VN" dirty="0"/>
              <a:t>Table 2: Averge Accuracy on Synthetic dataset</a:t>
            </a:r>
          </a:p>
        </p:txBody>
      </p:sp>
      <p:sp>
        <p:nvSpPr>
          <p:cNvPr id="9" name="TextBox 8">
            <a:extLst>
              <a:ext uri="{FF2B5EF4-FFF2-40B4-BE49-F238E27FC236}">
                <a16:creationId xmlns:a16="http://schemas.microsoft.com/office/drawing/2014/main" id="{8E85D234-9714-5DD2-BD95-58C7CABC4FB4}"/>
              </a:ext>
            </a:extLst>
          </p:cNvPr>
          <p:cNvSpPr txBox="1"/>
          <p:nvPr/>
        </p:nvSpPr>
        <p:spPr>
          <a:xfrm>
            <a:off x="4676304" y="3632198"/>
            <a:ext cx="4348819" cy="369332"/>
          </a:xfrm>
          <a:prstGeom prst="rect">
            <a:avLst/>
          </a:prstGeom>
          <a:noFill/>
        </p:spPr>
        <p:txBody>
          <a:bodyPr wrap="none" rtlCol="0">
            <a:spAutoFit/>
          </a:bodyPr>
          <a:lstStyle/>
          <a:p>
            <a:r>
              <a:rPr lang="en-VN" dirty="0"/>
              <a:t>Table 3: Average Accuracy on KDD99 dataset</a:t>
            </a:r>
          </a:p>
        </p:txBody>
      </p:sp>
      <p:sp>
        <p:nvSpPr>
          <p:cNvPr id="11" name="Title 2">
            <a:extLst>
              <a:ext uri="{FF2B5EF4-FFF2-40B4-BE49-F238E27FC236}">
                <a16:creationId xmlns:a16="http://schemas.microsoft.com/office/drawing/2014/main" id="{DB90DD3C-D493-FB71-A136-8FDA926F5994}"/>
              </a:ext>
            </a:extLst>
          </p:cNvPr>
          <p:cNvSpPr>
            <a:spLocks noGrp="1"/>
          </p:cNvSpPr>
          <p:nvPr>
            <p:ph type="title"/>
          </p:nvPr>
        </p:nvSpPr>
        <p:spPr>
          <a:xfrm>
            <a:off x="235077" y="78613"/>
            <a:ext cx="8673846" cy="451739"/>
          </a:xfrm>
        </p:spPr>
        <p:txBody>
          <a:bodyPr/>
          <a:lstStyle/>
          <a:p>
            <a:r>
              <a:rPr lang="en-VN" dirty="0"/>
              <a:t>Numerical Results (2)</a:t>
            </a:r>
          </a:p>
        </p:txBody>
      </p:sp>
      <p:sp>
        <p:nvSpPr>
          <p:cNvPr id="12" name="TextBox 11">
            <a:extLst>
              <a:ext uri="{FF2B5EF4-FFF2-40B4-BE49-F238E27FC236}">
                <a16:creationId xmlns:a16="http://schemas.microsoft.com/office/drawing/2014/main" id="{43186EF5-D507-CFC7-015F-C866A5136086}"/>
              </a:ext>
            </a:extLst>
          </p:cNvPr>
          <p:cNvSpPr txBox="1"/>
          <p:nvPr/>
        </p:nvSpPr>
        <p:spPr>
          <a:xfrm>
            <a:off x="235077" y="4105148"/>
            <a:ext cx="8385421" cy="1754326"/>
          </a:xfrm>
          <a:prstGeom prst="rect">
            <a:avLst/>
          </a:prstGeom>
          <a:noFill/>
        </p:spPr>
        <p:txBody>
          <a:bodyPr wrap="square" rtlCol="0">
            <a:spAutoFit/>
          </a:bodyPr>
          <a:lstStyle/>
          <a:p>
            <a:pPr marL="285750" indent="-285750">
              <a:buFontTx/>
              <a:buChar char="-"/>
            </a:pPr>
            <a:r>
              <a:rPr lang="en-VN" dirty="0">
                <a:latin typeface="Lato" panose="020F0502020204030203" pitchFamily="34" charset="0"/>
                <a:ea typeface="Lato" panose="020F0502020204030203" pitchFamily="34" charset="0"/>
                <a:cs typeface="Lato" panose="020F0502020204030203" pitchFamily="34" charset="0"/>
              </a:rPr>
              <a:t>A</a:t>
            </a:r>
            <a:r>
              <a:rPr lang="en-US" dirty="0">
                <a:latin typeface="Lato" panose="020F0502020204030203" pitchFamily="34" charset="0"/>
                <a:ea typeface="Lato" panose="020F0502020204030203" pitchFamily="34" charset="0"/>
                <a:cs typeface="Lato" panose="020F0502020204030203" pitchFamily="34" charset="0"/>
              </a:rPr>
              <a:t>l</a:t>
            </a:r>
            <a:r>
              <a:rPr lang="en-VN" dirty="0">
                <a:latin typeface="Lato" panose="020F0502020204030203" pitchFamily="34" charset="0"/>
                <a:ea typeface="Lato" panose="020F0502020204030203" pitchFamily="34" charset="0"/>
                <a:cs typeface="Lato" panose="020F0502020204030203" pitchFamily="34" charset="0"/>
              </a:rPr>
              <a:t>l methods performs equally well with sufficient exemplars (1000 and 500 exemplar </a:t>
            </a:r>
            <a:r>
              <a:rPr lang="en-US" dirty="0">
                <a:latin typeface="Lato" panose="020F0502020204030203" pitchFamily="34" charset="0"/>
                <a:ea typeface="Lato" panose="020F0502020204030203" pitchFamily="34" charset="0"/>
                <a:cs typeface="Lato" panose="020F0502020204030203" pitchFamily="34" charset="0"/>
              </a:rPr>
              <a:t>o</a:t>
            </a:r>
            <a:r>
              <a:rPr lang="en-VN" dirty="0">
                <a:latin typeface="Lato" panose="020F0502020204030203" pitchFamily="34" charset="0"/>
                <a:ea typeface="Lato" panose="020F0502020204030203" pitchFamily="34" charset="0"/>
                <a:cs typeface="Lato" panose="020F0502020204030203" pitchFamily="34" charset="0"/>
              </a:rPr>
              <a:t>n synthetic dataset and 1000 exemplar on KDD99 dataset.</a:t>
            </a:r>
          </a:p>
          <a:p>
            <a:pPr marL="285750" indent="-285750">
              <a:buFontTx/>
              <a:buChar char="-"/>
            </a:pPr>
            <a:r>
              <a:rPr lang="en-VN" dirty="0">
                <a:latin typeface="Lato" panose="020F0502020204030203" pitchFamily="34" charset="0"/>
                <a:ea typeface="Lato" panose="020F0502020204030203" pitchFamily="34" charset="0"/>
                <a:cs typeface="Lato" panose="020F0502020204030203" pitchFamily="34" charset="0"/>
              </a:rPr>
              <a:t>All methods performances decreased when the size of exemplar decrease.</a:t>
            </a:r>
          </a:p>
          <a:p>
            <a:pPr marL="285750" indent="-285750">
              <a:buFontTx/>
              <a:buChar char="-"/>
            </a:pPr>
            <a:r>
              <a:rPr lang="en-VN" dirty="0">
                <a:latin typeface="Lato" panose="020F0502020204030203" pitchFamily="34" charset="0"/>
                <a:ea typeface="Lato" panose="020F0502020204030203" pitchFamily="34" charset="0"/>
                <a:cs typeface="Lato" panose="020F0502020204030203" pitchFamily="34" charset="0"/>
              </a:rPr>
              <a:t>DER have better accuracy when exemplar size is large. F</a:t>
            </a:r>
            <a:r>
              <a:rPr lang="en-US" dirty="0">
                <a:latin typeface="Lato" panose="020F0502020204030203" pitchFamily="34" charset="0"/>
                <a:ea typeface="Lato" panose="020F0502020204030203" pitchFamily="34" charset="0"/>
                <a:cs typeface="Lato" panose="020F0502020204030203" pitchFamily="34" charset="0"/>
              </a:rPr>
              <a:t>o</a:t>
            </a:r>
            <a:r>
              <a:rPr lang="en-VN" dirty="0">
                <a:latin typeface="Lato" panose="020F0502020204030203" pitchFamily="34" charset="0"/>
                <a:ea typeface="Lato" panose="020F0502020204030203" pitchFamily="34" charset="0"/>
                <a:cs typeface="Lato" panose="020F0502020204030203" pitchFamily="34" charset="0"/>
              </a:rPr>
              <a:t>r really small exemplar size, ICARL performs better.</a:t>
            </a:r>
          </a:p>
          <a:p>
            <a:pPr marL="285750" indent="-285750">
              <a:buFontTx/>
              <a:buChar char="-"/>
            </a:pPr>
            <a:r>
              <a:rPr lang="en-VN" dirty="0">
                <a:latin typeface="Lato" panose="020F0502020204030203" pitchFamily="34" charset="0"/>
                <a:ea typeface="Lato" panose="020F0502020204030203" pitchFamily="34" charset="0"/>
                <a:cs typeface="Lato" panose="020F0502020204030203" pitchFamily="34" charset="0"/>
              </a:rPr>
              <a:t>DER performs better than MEMO in all exemplar size.</a:t>
            </a:r>
          </a:p>
        </p:txBody>
      </p:sp>
      <p:sp>
        <p:nvSpPr>
          <p:cNvPr id="13" name="TextBox 12">
            <a:extLst>
              <a:ext uri="{FF2B5EF4-FFF2-40B4-BE49-F238E27FC236}">
                <a16:creationId xmlns:a16="http://schemas.microsoft.com/office/drawing/2014/main" id="{B6CE3B34-A222-A1AF-064A-F7477C444918}"/>
              </a:ext>
            </a:extLst>
          </p:cNvPr>
          <p:cNvSpPr txBox="1"/>
          <p:nvPr/>
        </p:nvSpPr>
        <p:spPr>
          <a:xfrm>
            <a:off x="427984" y="938768"/>
            <a:ext cx="7016664" cy="400110"/>
          </a:xfrm>
          <a:prstGeom prst="rect">
            <a:avLst/>
          </a:prstGeom>
          <a:noFill/>
        </p:spPr>
        <p:txBody>
          <a:bodyPr wrap="none" rtlCol="0">
            <a:spAutoFit/>
          </a:bodyPr>
          <a:lstStyle/>
          <a:p>
            <a:r>
              <a:rPr lang="en-VN" sz="2000" b="1" dirty="0">
                <a:latin typeface="Lato" panose="020F0502020204030203" pitchFamily="34" charset="0"/>
                <a:ea typeface="Lato" panose="020F0502020204030203" pitchFamily="34" charset="0"/>
                <a:cs typeface="Lato" panose="020F0502020204030203" pitchFamily="34" charset="0"/>
              </a:rPr>
              <a:t>Evaluation on different exemplar size: [1000, 500, 250, 100]</a:t>
            </a:r>
          </a:p>
        </p:txBody>
      </p:sp>
    </p:spTree>
    <p:extLst>
      <p:ext uri="{BB962C8B-B14F-4D97-AF65-F5344CB8AC3E}">
        <p14:creationId xmlns:p14="http://schemas.microsoft.com/office/powerpoint/2010/main" val="12282922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C4F45D-054F-660C-8D01-DFCD49AA3224}"/>
              </a:ext>
            </a:extLst>
          </p:cNvPr>
          <p:cNvSpPr>
            <a:spLocks noGrp="1"/>
          </p:cNvSpPr>
          <p:nvPr>
            <p:ph type="sldNum" sz="quarter" idx="12"/>
          </p:nvPr>
        </p:nvSpPr>
        <p:spPr/>
        <p:txBody>
          <a:bodyPr/>
          <a:lstStyle/>
          <a:p>
            <a:fld id="{9EA0BE3B-158A-4EDF-80DC-E394A0D1600F}" type="slidenum">
              <a:rPr lang="en-US" smtClean="0"/>
              <a:pPr/>
              <a:t>33</a:t>
            </a:fld>
            <a:endParaRPr lang="en-US" dirty="0"/>
          </a:p>
        </p:txBody>
      </p:sp>
      <p:sp>
        <p:nvSpPr>
          <p:cNvPr id="3" name="Title 2">
            <a:extLst>
              <a:ext uri="{FF2B5EF4-FFF2-40B4-BE49-F238E27FC236}">
                <a16:creationId xmlns:a16="http://schemas.microsoft.com/office/drawing/2014/main" id="{43CB7D38-C8EA-33C2-B14F-61D5E6DE076A}"/>
              </a:ext>
            </a:extLst>
          </p:cNvPr>
          <p:cNvSpPr>
            <a:spLocks noGrp="1"/>
          </p:cNvSpPr>
          <p:nvPr>
            <p:ph type="title"/>
          </p:nvPr>
        </p:nvSpPr>
        <p:spPr/>
        <p:txBody>
          <a:bodyPr/>
          <a:lstStyle/>
          <a:p>
            <a:r>
              <a:rPr lang="en-VN" dirty="0"/>
              <a:t>Numerical Results (3)</a:t>
            </a:r>
          </a:p>
        </p:txBody>
      </p:sp>
      <p:sp>
        <p:nvSpPr>
          <p:cNvPr id="4" name="Content Placeholder 3">
            <a:extLst>
              <a:ext uri="{FF2B5EF4-FFF2-40B4-BE49-F238E27FC236}">
                <a16:creationId xmlns:a16="http://schemas.microsoft.com/office/drawing/2014/main" id="{17B26457-BFC6-E77C-024E-8E7D33E1A471}"/>
              </a:ext>
            </a:extLst>
          </p:cNvPr>
          <p:cNvSpPr>
            <a:spLocks noGrp="1"/>
          </p:cNvSpPr>
          <p:nvPr>
            <p:ph sz="quarter" idx="13"/>
          </p:nvPr>
        </p:nvSpPr>
        <p:spPr>
          <a:xfrm>
            <a:off x="235077" y="841247"/>
            <a:ext cx="8674100" cy="3857753"/>
          </a:xfrm>
        </p:spPr>
        <p:txBody>
          <a:bodyPr/>
          <a:lstStyle/>
          <a:p>
            <a:pPr marL="0" indent="0">
              <a:buNone/>
            </a:pPr>
            <a:r>
              <a:rPr lang="en-VN" sz="2000" b="1" dirty="0"/>
              <a:t>Evaluation of knowledge-distilation based methods with different temperature hyperparameter T = [0.25, 0.5, 1, 2, 4, 8]</a:t>
            </a:r>
          </a:p>
        </p:txBody>
      </p:sp>
      <p:graphicFrame>
        <p:nvGraphicFramePr>
          <p:cNvPr id="6" name="Table 5">
            <a:extLst>
              <a:ext uri="{FF2B5EF4-FFF2-40B4-BE49-F238E27FC236}">
                <a16:creationId xmlns:a16="http://schemas.microsoft.com/office/drawing/2014/main" id="{FF2D5F86-DDA5-6900-FAD2-AD12ABEF56F2}"/>
              </a:ext>
            </a:extLst>
          </p:cNvPr>
          <p:cNvGraphicFramePr>
            <a:graphicFrameLocks noGrp="1"/>
          </p:cNvGraphicFramePr>
          <p:nvPr>
            <p:extLst>
              <p:ext uri="{D42A27DB-BD31-4B8C-83A1-F6EECF244321}">
                <p14:modId xmlns:p14="http://schemas.microsoft.com/office/powerpoint/2010/main" val="76174259"/>
              </p:ext>
            </p:extLst>
          </p:nvPr>
        </p:nvGraphicFramePr>
        <p:xfrm>
          <a:off x="685357" y="1650672"/>
          <a:ext cx="2508249" cy="2108526"/>
        </p:xfrm>
        <a:graphic>
          <a:graphicData uri="http://schemas.openxmlformats.org/drawingml/2006/table">
            <a:tbl>
              <a:tblPr/>
              <a:tblGrid>
                <a:gridCol w="836083">
                  <a:extLst>
                    <a:ext uri="{9D8B030D-6E8A-4147-A177-3AD203B41FA5}">
                      <a16:colId xmlns:a16="http://schemas.microsoft.com/office/drawing/2014/main" val="3002199529"/>
                    </a:ext>
                  </a:extLst>
                </a:gridCol>
                <a:gridCol w="836083">
                  <a:extLst>
                    <a:ext uri="{9D8B030D-6E8A-4147-A177-3AD203B41FA5}">
                      <a16:colId xmlns:a16="http://schemas.microsoft.com/office/drawing/2014/main" val="973232975"/>
                    </a:ext>
                  </a:extLst>
                </a:gridCol>
                <a:gridCol w="836083">
                  <a:extLst>
                    <a:ext uri="{9D8B030D-6E8A-4147-A177-3AD203B41FA5}">
                      <a16:colId xmlns:a16="http://schemas.microsoft.com/office/drawing/2014/main" val="2679732979"/>
                    </a:ext>
                  </a:extLst>
                </a:gridCol>
              </a:tblGrid>
              <a:tr h="301218">
                <a:tc>
                  <a:txBody>
                    <a:bodyPr/>
                    <a:lstStyle/>
                    <a:p>
                      <a:r>
                        <a:rPr lang="en-VN" dirty="0">
                          <a:effectLst/>
                          <a:latin typeface="Helvetica" pitchFamily="2" charset="0"/>
                        </a:rPr>
                        <a:t> T</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effectLst/>
                          <a:latin typeface="Helvetica" pitchFamily="2" charset="0"/>
                        </a:rPr>
                        <a:t>LWF</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dirty="0">
                          <a:effectLst/>
                          <a:latin typeface="Helvetica" pitchFamily="2" charset="0"/>
                        </a:rPr>
                        <a:t>ICARL</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2734903"/>
                  </a:ext>
                </a:extLst>
              </a:tr>
              <a:tr h="301218">
                <a:tc>
                  <a:txBody>
                    <a:bodyPr/>
                    <a:lstStyle/>
                    <a:p>
                      <a:pPr algn="r"/>
                      <a:r>
                        <a:rPr lang="en-VN">
                          <a:effectLst/>
                          <a:latin typeface="Helvetica" pitchFamily="2" charset="0"/>
                        </a:rPr>
                        <a:t>0,25</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VN" dirty="0">
                          <a:effectLst/>
                          <a:latin typeface="Lato" panose="020F0502020204030203" pitchFamily="34" charset="0"/>
                          <a:ea typeface="Lato" panose="020F0502020204030203" pitchFamily="34" charset="0"/>
                          <a:cs typeface="Lato" panose="020F0502020204030203" pitchFamily="34" charset="0"/>
                        </a:rPr>
                        <a:t>32,4</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VN" dirty="0">
                          <a:effectLst/>
                          <a:latin typeface="Helvetica" pitchFamily="2" charset="0"/>
                        </a:rPr>
                        <a:t>96,04</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0150986"/>
                  </a:ext>
                </a:extLst>
              </a:tr>
              <a:tr h="301218">
                <a:tc>
                  <a:txBody>
                    <a:bodyPr/>
                    <a:lstStyle/>
                    <a:p>
                      <a:pPr algn="r"/>
                      <a:r>
                        <a:rPr lang="en-VN">
                          <a:effectLst/>
                          <a:latin typeface="Helvetica" pitchFamily="2" charset="0"/>
                        </a:rPr>
                        <a:t>0,5</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VN">
                          <a:effectLst/>
                          <a:latin typeface="Helvetica" pitchFamily="2" charset="0"/>
                        </a:rPr>
                        <a:t>41,23</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VN" dirty="0">
                          <a:effectLst/>
                          <a:latin typeface="Helvetica" pitchFamily="2" charset="0"/>
                        </a:rPr>
                        <a:t>98,53</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9431588"/>
                  </a:ext>
                </a:extLst>
              </a:tr>
              <a:tr h="301218">
                <a:tc>
                  <a:txBody>
                    <a:bodyPr/>
                    <a:lstStyle/>
                    <a:p>
                      <a:pPr algn="r"/>
                      <a:r>
                        <a:rPr lang="en-VN">
                          <a:effectLst/>
                          <a:latin typeface="Helvetica" pitchFamily="2" charset="0"/>
                        </a:rPr>
                        <a:t>1</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VN">
                          <a:effectLst/>
                          <a:latin typeface="Helvetica" pitchFamily="2" charset="0"/>
                        </a:rPr>
                        <a:t>45,9</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VN">
                          <a:effectLst/>
                          <a:latin typeface="Helvetica" pitchFamily="2" charset="0"/>
                        </a:rPr>
                        <a:t>99,49</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3397521"/>
                  </a:ext>
                </a:extLst>
              </a:tr>
              <a:tr h="301218">
                <a:tc>
                  <a:txBody>
                    <a:bodyPr/>
                    <a:lstStyle/>
                    <a:p>
                      <a:pPr algn="r"/>
                      <a:r>
                        <a:rPr lang="en-VN">
                          <a:effectLst/>
                          <a:latin typeface="Helvetica" pitchFamily="2" charset="0"/>
                        </a:rPr>
                        <a:t>2</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VN">
                          <a:effectLst/>
                          <a:latin typeface="Helvetica" pitchFamily="2" charset="0"/>
                        </a:rPr>
                        <a:t>45,9</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VN">
                          <a:effectLst/>
                          <a:latin typeface="Helvetica" pitchFamily="2" charset="0"/>
                        </a:rPr>
                        <a:t>96,13</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9006571"/>
                  </a:ext>
                </a:extLst>
              </a:tr>
              <a:tr h="301218">
                <a:tc>
                  <a:txBody>
                    <a:bodyPr/>
                    <a:lstStyle/>
                    <a:p>
                      <a:pPr algn="r"/>
                      <a:r>
                        <a:rPr lang="en-VN">
                          <a:effectLst/>
                          <a:latin typeface="Helvetica" pitchFamily="2" charset="0"/>
                        </a:rPr>
                        <a:t>4</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VN">
                          <a:effectLst/>
                          <a:latin typeface="Helvetica" pitchFamily="2" charset="0"/>
                        </a:rPr>
                        <a:t>45,9</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VN" dirty="0">
                          <a:effectLst/>
                          <a:latin typeface="Helvetica" pitchFamily="2" charset="0"/>
                        </a:rPr>
                        <a:t>95,59</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3187183"/>
                  </a:ext>
                </a:extLst>
              </a:tr>
              <a:tr h="301218">
                <a:tc>
                  <a:txBody>
                    <a:bodyPr/>
                    <a:lstStyle/>
                    <a:p>
                      <a:pPr algn="r"/>
                      <a:r>
                        <a:rPr lang="en-VN">
                          <a:effectLst/>
                          <a:latin typeface="Helvetica" pitchFamily="2" charset="0"/>
                        </a:rPr>
                        <a:t>8</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VN" dirty="0">
                          <a:effectLst/>
                          <a:latin typeface="Helvetica" pitchFamily="2" charset="0"/>
                        </a:rPr>
                        <a:t>45,9</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VN" dirty="0">
                          <a:effectLst/>
                          <a:latin typeface="Helvetica" pitchFamily="2" charset="0"/>
                        </a:rPr>
                        <a:t>81,38</a:t>
                      </a: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8618586"/>
                  </a:ext>
                </a:extLst>
              </a:tr>
            </a:tbl>
          </a:graphicData>
        </a:graphic>
      </p:graphicFrame>
      <p:sp>
        <p:nvSpPr>
          <p:cNvPr id="9" name="TextBox 8">
            <a:extLst>
              <a:ext uri="{FF2B5EF4-FFF2-40B4-BE49-F238E27FC236}">
                <a16:creationId xmlns:a16="http://schemas.microsoft.com/office/drawing/2014/main" id="{6C8E3E31-DFDF-5CC5-42A8-F3C370AFAB37}"/>
              </a:ext>
            </a:extLst>
          </p:cNvPr>
          <p:cNvSpPr txBox="1"/>
          <p:nvPr/>
        </p:nvSpPr>
        <p:spPr>
          <a:xfrm>
            <a:off x="0" y="3862790"/>
            <a:ext cx="4572000" cy="338554"/>
          </a:xfrm>
          <a:prstGeom prst="rect">
            <a:avLst/>
          </a:prstGeom>
          <a:noFill/>
        </p:spPr>
        <p:txBody>
          <a:bodyPr wrap="square">
            <a:spAutoFit/>
          </a:bodyPr>
          <a:lstStyle/>
          <a:p>
            <a:r>
              <a:rPr lang="en-VN" sz="1600" dirty="0"/>
              <a:t>Table 4: Averge Accuracy on Synthetic dataset 100</a:t>
            </a:r>
          </a:p>
        </p:txBody>
      </p:sp>
      <p:graphicFrame>
        <p:nvGraphicFramePr>
          <p:cNvPr id="10" name="Table 9">
            <a:extLst>
              <a:ext uri="{FF2B5EF4-FFF2-40B4-BE49-F238E27FC236}">
                <a16:creationId xmlns:a16="http://schemas.microsoft.com/office/drawing/2014/main" id="{E0FFAFBE-180C-B33C-BB73-817022E4D61A}"/>
              </a:ext>
            </a:extLst>
          </p:cNvPr>
          <p:cNvGraphicFramePr>
            <a:graphicFrameLocks noGrp="1"/>
          </p:cNvGraphicFramePr>
          <p:nvPr>
            <p:extLst>
              <p:ext uri="{D42A27DB-BD31-4B8C-83A1-F6EECF244321}">
                <p14:modId xmlns:p14="http://schemas.microsoft.com/office/powerpoint/2010/main" val="2226189491"/>
              </p:ext>
            </p:extLst>
          </p:nvPr>
        </p:nvGraphicFramePr>
        <p:xfrm>
          <a:off x="5950394" y="1650672"/>
          <a:ext cx="2508249" cy="2108526"/>
        </p:xfrm>
        <a:graphic>
          <a:graphicData uri="http://schemas.openxmlformats.org/drawingml/2006/table">
            <a:tbl>
              <a:tblPr>
                <a:tableStyleId>{5C22544A-7EE6-4342-B048-85BDC9FD1C3A}</a:tableStyleId>
              </a:tblPr>
              <a:tblGrid>
                <a:gridCol w="794016">
                  <a:extLst>
                    <a:ext uri="{9D8B030D-6E8A-4147-A177-3AD203B41FA5}">
                      <a16:colId xmlns:a16="http://schemas.microsoft.com/office/drawing/2014/main" val="1408515835"/>
                    </a:ext>
                  </a:extLst>
                </a:gridCol>
                <a:gridCol w="1004351">
                  <a:extLst>
                    <a:ext uri="{9D8B030D-6E8A-4147-A177-3AD203B41FA5}">
                      <a16:colId xmlns:a16="http://schemas.microsoft.com/office/drawing/2014/main" val="562251024"/>
                    </a:ext>
                  </a:extLst>
                </a:gridCol>
                <a:gridCol w="709882">
                  <a:extLst>
                    <a:ext uri="{9D8B030D-6E8A-4147-A177-3AD203B41FA5}">
                      <a16:colId xmlns:a16="http://schemas.microsoft.com/office/drawing/2014/main" val="1430676130"/>
                    </a:ext>
                  </a:extLst>
                </a:gridCol>
              </a:tblGrid>
              <a:tr h="301218">
                <a:tc>
                  <a:txBody>
                    <a:bodyPr/>
                    <a:lstStyle/>
                    <a:p>
                      <a:pPr algn="l" fontAlgn="b"/>
                      <a:r>
                        <a:rPr lang="en-VN" sz="1800" u="none" strike="noStrike" dirty="0">
                          <a:effectLst/>
                          <a:latin typeface="Lato" panose="020F0502020204030203" pitchFamily="34" charset="0"/>
                          <a:ea typeface="Lato" panose="020F0502020204030203" pitchFamily="34" charset="0"/>
                          <a:cs typeface="Lato" panose="020F0502020204030203" pitchFamily="34" charset="0"/>
                        </a:rPr>
                        <a:t> T</a:t>
                      </a:r>
                      <a:endParaRPr lang="en-VN" sz="1800" b="0" i="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800" u="none" strike="noStrike">
                          <a:effectLst/>
                          <a:latin typeface="Lato" panose="020F0502020204030203" pitchFamily="34" charset="0"/>
                          <a:ea typeface="Lato" panose="020F0502020204030203" pitchFamily="34" charset="0"/>
                          <a:cs typeface="Lato" panose="020F0502020204030203" pitchFamily="34" charset="0"/>
                        </a:rPr>
                        <a:t>LWF</a:t>
                      </a:r>
                      <a:endParaRPr lang="en-US" sz="18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800" u="none" strike="noStrike" dirty="0">
                          <a:effectLst/>
                          <a:latin typeface="Lato" panose="020F0502020204030203" pitchFamily="34" charset="0"/>
                          <a:ea typeface="Lato" panose="020F0502020204030203" pitchFamily="34" charset="0"/>
                          <a:cs typeface="Lato" panose="020F0502020204030203" pitchFamily="34" charset="0"/>
                        </a:rPr>
                        <a:t>ICARL</a:t>
                      </a:r>
                      <a:endParaRPr lang="en-US" sz="1800" b="0" i="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1138242"/>
                  </a:ext>
                </a:extLst>
              </a:tr>
              <a:tr h="301218">
                <a:tc>
                  <a:txBody>
                    <a:bodyPr/>
                    <a:lstStyle/>
                    <a:p>
                      <a:pPr algn="r" fontAlgn="b"/>
                      <a:r>
                        <a:rPr lang="en-VN" sz="1800" u="none" strike="noStrike">
                          <a:effectLst/>
                          <a:latin typeface="Lato" panose="020F0502020204030203" pitchFamily="34" charset="0"/>
                          <a:ea typeface="Lato" panose="020F0502020204030203" pitchFamily="34" charset="0"/>
                          <a:cs typeface="Lato" panose="020F0502020204030203" pitchFamily="34" charset="0"/>
                        </a:rPr>
                        <a:t>0,25</a:t>
                      </a:r>
                      <a:endParaRPr lang="en-VN" sz="18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a:effectLst/>
                          <a:latin typeface="Lato" panose="020F0502020204030203" pitchFamily="34" charset="0"/>
                          <a:ea typeface="Lato" panose="020F0502020204030203" pitchFamily="34" charset="0"/>
                          <a:cs typeface="Lato" panose="020F0502020204030203" pitchFamily="34" charset="0"/>
                        </a:rPr>
                        <a:t>20,38</a:t>
                      </a:r>
                      <a:endParaRPr lang="en-VN" sz="18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a:effectLst/>
                          <a:latin typeface="Lato" panose="020F0502020204030203" pitchFamily="34" charset="0"/>
                          <a:ea typeface="Lato" panose="020F0502020204030203" pitchFamily="34" charset="0"/>
                          <a:cs typeface="Lato" panose="020F0502020204030203" pitchFamily="34" charset="0"/>
                        </a:rPr>
                        <a:t>98,42</a:t>
                      </a:r>
                      <a:endParaRPr lang="en-VN" sz="18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4732392"/>
                  </a:ext>
                </a:extLst>
              </a:tr>
              <a:tr h="301218">
                <a:tc>
                  <a:txBody>
                    <a:bodyPr/>
                    <a:lstStyle/>
                    <a:p>
                      <a:pPr algn="r" fontAlgn="b"/>
                      <a:r>
                        <a:rPr lang="en-VN" sz="1800" u="none" strike="noStrike">
                          <a:effectLst/>
                          <a:latin typeface="Lato" panose="020F0502020204030203" pitchFamily="34" charset="0"/>
                          <a:ea typeface="Lato" panose="020F0502020204030203" pitchFamily="34" charset="0"/>
                          <a:cs typeface="Lato" panose="020F0502020204030203" pitchFamily="34" charset="0"/>
                        </a:rPr>
                        <a:t>0,5</a:t>
                      </a:r>
                      <a:endParaRPr lang="en-VN" sz="18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dirty="0">
                          <a:effectLst/>
                          <a:latin typeface="Lato" panose="020F0502020204030203" pitchFamily="34" charset="0"/>
                          <a:ea typeface="Lato" panose="020F0502020204030203" pitchFamily="34" charset="0"/>
                          <a:cs typeface="Lato" panose="020F0502020204030203" pitchFamily="34" charset="0"/>
                        </a:rPr>
                        <a:t>20,52</a:t>
                      </a:r>
                      <a:endParaRPr lang="en-VN" sz="1800" b="0" i="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dirty="0">
                          <a:effectLst/>
                          <a:latin typeface="Lato" panose="020F0502020204030203" pitchFamily="34" charset="0"/>
                          <a:ea typeface="Lato" panose="020F0502020204030203" pitchFamily="34" charset="0"/>
                          <a:cs typeface="Lato" panose="020F0502020204030203" pitchFamily="34" charset="0"/>
                        </a:rPr>
                        <a:t>97,03</a:t>
                      </a:r>
                      <a:endParaRPr lang="en-VN" sz="1800" b="0" i="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0267725"/>
                  </a:ext>
                </a:extLst>
              </a:tr>
              <a:tr h="301218">
                <a:tc>
                  <a:txBody>
                    <a:bodyPr/>
                    <a:lstStyle/>
                    <a:p>
                      <a:pPr algn="r" fontAlgn="b"/>
                      <a:r>
                        <a:rPr lang="en-VN" sz="1800" u="none" strike="noStrike">
                          <a:effectLst/>
                          <a:latin typeface="Lato" panose="020F0502020204030203" pitchFamily="34" charset="0"/>
                          <a:ea typeface="Lato" panose="020F0502020204030203" pitchFamily="34" charset="0"/>
                          <a:cs typeface="Lato" panose="020F0502020204030203" pitchFamily="34" charset="0"/>
                        </a:rPr>
                        <a:t>1</a:t>
                      </a:r>
                      <a:endParaRPr lang="en-VN" sz="18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a:effectLst/>
                          <a:latin typeface="Lato" panose="020F0502020204030203" pitchFamily="34" charset="0"/>
                          <a:ea typeface="Lato" panose="020F0502020204030203" pitchFamily="34" charset="0"/>
                          <a:cs typeface="Lato" panose="020F0502020204030203" pitchFamily="34" charset="0"/>
                        </a:rPr>
                        <a:t>20,75</a:t>
                      </a:r>
                      <a:endParaRPr lang="en-VN" sz="18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dirty="0">
                          <a:effectLst/>
                          <a:latin typeface="Lato" panose="020F0502020204030203" pitchFamily="34" charset="0"/>
                          <a:ea typeface="Lato" panose="020F0502020204030203" pitchFamily="34" charset="0"/>
                          <a:cs typeface="Lato" panose="020F0502020204030203" pitchFamily="34" charset="0"/>
                        </a:rPr>
                        <a:t>96,17</a:t>
                      </a:r>
                      <a:endParaRPr lang="en-VN" sz="1800" b="0" i="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2241197"/>
                  </a:ext>
                </a:extLst>
              </a:tr>
              <a:tr h="301218">
                <a:tc>
                  <a:txBody>
                    <a:bodyPr/>
                    <a:lstStyle/>
                    <a:p>
                      <a:pPr algn="r" fontAlgn="b"/>
                      <a:r>
                        <a:rPr lang="en-VN" sz="1800" u="none" strike="noStrike">
                          <a:effectLst/>
                          <a:latin typeface="Lato" panose="020F0502020204030203" pitchFamily="34" charset="0"/>
                          <a:ea typeface="Lato" panose="020F0502020204030203" pitchFamily="34" charset="0"/>
                          <a:cs typeface="Lato" panose="020F0502020204030203" pitchFamily="34" charset="0"/>
                        </a:rPr>
                        <a:t>2</a:t>
                      </a:r>
                      <a:endParaRPr lang="en-VN" sz="18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dirty="0">
                          <a:effectLst/>
                          <a:latin typeface="Lato" panose="020F0502020204030203" pitchFamily="34" charset="0"/>
                          <a:ea typeface="Lato" panose="020F0502020204030203" pitchFamily="34" charset="0"/>
                          <a:cs typeface="Lato" panose="020F0502020204030203" pitchFamily="34" charset="0"/>
                        </a:rPr>
                        <a:t>20,75</a:t>
                      </a:r>
                      <a:endParaRPr lang="en-VN" sz="1800" b="0" i="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a:effectLst/>
                          <a:latin typeface="Lato" panose="020F0502020204030203" pitchFamily="34" charset="0"/>
                          <a:ea typeface="Lato" panose="020F0502020204030203" pitchFamily="34" charset="0"/>
                          <a:cs typeface="Lato" panose="020F0502020204030203" pitchFamily="34" charset="0"/>
                        </a:rPr>
                        <a:t>96,39</a:t>
                      </a:r>
                      <a:endParaRPr lang="en-VN" sz="18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6793942"/>
                  </a:ext>
                </a:extLst>
              </a:tr>
              <a:tr h="301218">
                <a:tc>
                  <a:txBody>
                    <a:bodyPr/>
                    <a:lstStyle/>
                    <a:p>
                      <a:pPr algn="r" fontAlgn="b"/>
                      <a:r>
                        <a:rPr lang="en-VN" sz="1800" u="none" strike="noStrike">
                          <a:effectLst/>
                          <a:latin typeface="Lato" panose="020F0502020204030203" pitchFamily="34" charset="0"/>
                          <a:ea typeface="Lato" panose="020F0502020204030203" pitchFamily="34" charset="0"/>
                          <a:cs typeface="Lato" panose="020F0502020204030203" pitchFamily="34" charset="0"/>
                        </a:rPr>
                        <a:t>4</a:t>
                      </a:r>
                      <a:endParaRPr lang="en-VN" sz="18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a:effectLst/>
                          <a:latin typeface="Lato" panose="020F0502020204030203" pitchFamily="34" charset="0"/>
                          <a:ea typeface="Lato" panose="020F0502020204030203" pitchFamily="34" charset="0"/>
                          <a:cs typeface="Lato" panose="020F0502020204030203" pitchFamily="34" charset="0"/>
                        </a:rPr>
                        <a:t>20,75</a:t>
                      </a:r>
                      <a:endParaRPr lang="en-VN" sz="18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dirty="0">
                          <a:effectLst/>
                          <a:latin typeface="Lato" panose="020F0502020204030203" pitchFamily="34" charset="0"/>
                          <a:ea typeface="Lato" panose="020F0502020204030203" pitchFamily="34" charset="0"/>
                          <a:cs typeface="Lato" panose="020F0502020204030203" pitchFamily="34" charset="0"/>
                        </a:rPr>
                        <a:t>96,17</a:t>
                      </a:r>
                      <a:endParaRPr lang="en-VN" sz="1800" b="0" i="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9914580"/>
                  </a:ext>
                </a:extLst>
              </a:tr>
              <a:tr h="301218">
                <a:tc>
                  <a:txBody>
                    <a:bodyPr/>
                    <a:lstStyle/>
                    <a:p>
                      <a:pPr algn="r" fontAlgn="b"/>
                      <a:r>
                        <a:rPr lang="en-VN" sz="1800" u="none" strike="noStrike">
                          <a:effectLst/>
                          <a:latin typeface="Lato" panose="020F0502020204030203" pitchFamily="34" charset="0"/>
                          <a:ea typeface="Lato" panose="020F0502020204030203" pitchFamily="34" charset="0"/>
                          <a:cs typeface="Lato" panose="020F0502020204030203" pitchFamily="34" charset="0"/>
                        </a:rPr>
                        <a:t>8</a:t>
                      </a:r>
                      <a:endParaRPr lang="en-VN" sz="1800" b="0" i="0" u="none" strike="noStrike">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dirty="0">
                          <a:effectLst/>
                          <a:latin typeface="Lato" panose="020F0502020204030203" pitchFamily="34" charset="0"/>
                          <a:ea typeface="Lato" panose="020F0502020204030203" pitchFamily="34" charset="0"/>
                          <a:cs typeface="Lato" panose="020F0502020204030203" pitchFamily="34" charset="0"/>
                        </a:rPr>
                        <a:t>20,75</a:t>
                      </a:r>
                      <a:endParaRPr lang="en-VN" sz="1800" b="0" i="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dirty="0">
                          <a:effectLst/>
                          <a:latin typeface="Lato" panose="020F0502020204030203" pitchFamily="34" charset="0"/>
                          <a:ea typeface="Lato" panose="020F0502020204030203" pitchFamily="34" charset="0"/>
                          <a:cs typeface="Lato" panose="020F0502020204030203" pitchFamily="34" charset="0"/>
                        </a:rPr>
                        <a:t>95,93</a:t>
                      </a:r>
                      <a:endParaRPr lang="en-VN" sz="1800" b="0" i="0" u="none" strike="noStrike"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618622"/>
                  </a:ext>
                </a:extLst>
              </a:tr>
            </a:tbl>
          </a:graphicData>
        </a:graphic>
      </p:graphicFrame>
      <p:sp>
        <p:nvSpPr>
          <p:cNvPr id="12" name="TextBox 11">
            <a:extLst>
              <a:ext uri="{FF2B5EF4-FFF2-40B4-BE49-F238E27FC236}">
                <a16:creationId xmlns:a16="http://schemas.microsoft.com/office/drawing/2014/main" id="{374138C1-9A08-C0D3-646C-E74726B95642}"/>
              </a:ext>
            </a:extLst>
          </p:cNvPr>
          <p:cNvSpPr txBox="1"/>
          <p:nvPr/>
        </p:nvSpPr>
        <p:spPr>
          <a:xfrm>
            <a:off x="4807077" y="3862790"/>
            <a:ext cx="4572000" cy="338554"/>
          </a:xfrm>
          <a:prstGeom prst="rect">
            <a:avLst/>
          </a:prstGeom>
          <a:noFill/>
        </p:spPr>
        <p:txBody>
          <a:bodyPr wrap="square">
            <a:spAutoFit/>
          </a:bodyPr>
          <a:lstStyle/>
          <a:p>
            <a:r>
              <a:rPr lang="en-VN" sz="1600" dirty="0"/>
              <a:t>Table 5: Averge Accuracy on KDD99 dataset 500</a:t>
            </a:r>
          </a:p>
        </p:txBody>
      </p:sp>
      <p:sp>
        <p:nvSpPr>
          <p:cNvPr id="13" name="TextBox 12">
            <a:extLst>
              <a:ext uri="{FF2B5EF4-FFF2-40B4-BE49-F238E27FC236}">
                <a16:creationId xmlns:a16="http://schemas.microsoft.com/office/drawing/2014/main" id="{BBD7BF47-8D64-9D55-C1AB-8F0B454E88FF}"/>
              </a:ext>
            </a:extLst>
          </p:cNvPr>
          <p:cNvSpPr txBox="1"/>
          <p:nvPr/>
        </p:nvSpPr>
        <p:spPr>
          <a:xfrm>
            <a:off x="426442" y="4878903"/>
            <a:ext cx="8399543" cy="1015663"/>
          </a:xfrm>
          <a:prstGeom prst="rect">
            <a:avLst/>
          </a:prstGeom>
          <a:noFill/>
        </p:spPr>
        <p:txBody>
          <a:bodyPr wrap="none" rtlCol="0">
            <a:spAutoFit/>
          </a:bodyPr>
          <a:lstStyle/>
          <a:p>
            <a:r>
              <a:rPr lang="en-VN" sz="2000" dirty="0"/>
              <a:t>- Temperature hyperparameter T have little effect on the performance of LWF.</a:t>
            </a:r>
          </a:p>
          <a:p>
            <a:endParaRPr lang="en-VN" sz="2000" dirty="0"/>
          </a:p>
          <a:p>
            <a:r>
              <a:rPr lang="en-VN" sz="2000" dirty="0"/>
              <a:t>-  Higher T leads to decrease in the performance of ICARL in both datasets.</a:t>
            </a:r>
          </a:p>
        </p:txBody>
      </p:sp>
    </p:spTree>
    <p:extLst>
      <p:ext uri="{BB962C8B-B14F-4D97-AF65-F5344CB8AC3E}">
        <p14:creationId xmlns:p14="http://schemas.microsoft.com/office/powerpoint/2010/main" val="18462262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1CA28A-26D3-70E5-29F0-D4425153558C}"/>
              </a:ext>
            </a:extLst>
          </p:cNvPr>
          <p:cNvSpPr>
            <a:spLocks noGrp="1"/>
          </p:cNvSpPr>
          <p:nvPr>
            <p:ph type="sldNum" sz="quarter" idx="12"/>
          </p:nvPr>
        </p:nvSpPr>
        <p:spPr/>
        <p:txBody>
          <a:bodyPr/>
          <a:lstStyle/>
          <a:p>
            <a:fld id="{9EA0BE3B-158A-4EDF-80DC-E394A0D1600F}" type="slidenum">
              <a:rPr lang="en-US" smtClean="0"/>
              <a:pPr/>
              <a:t>34</a:t>
            </a:fld>
            <a:endParaRPr lang="en-US" dirty="0"/>
          </a:p>
        </p:txBody>
      </p:sp>
      <p:sp>
        <p:nvSpPr>
          <p:cNvPr id="3" name="Title 2">
            <a:extLst>
              <a:ext uri="{FF2B5EF4-FFF2-40B4-BE49-F238E27FC236}">
                <a16:creationId xmlns:a16="http://schemas.microsoft.com/office/drawing/2014/main" id="{67C97DB0-24CE-C1D2-BBB9-388B46248487}"/>
              </a:ext>
            </a:extLst>
          </p:cNvPr>
          <p:cNvSpPr>
            <a:spLocks noGrp="1"/>
          </p:cNvSpPr>
          <p:nvPr>
            <p:ph type="title"/>
          </p:nvPr>
        </p:nvSpPr>
        <p:spPr/>
        <p:txBody>
          <a:bodyPr/>
          <a:lstStyle/>
          <a:p>
            <a:r>
              <a:rPr lang="en-VN" dirty="0"/>
              <a:t>Numerical Results (4)</a:t>
            </a:r>
          </a:p>
        </p:txBody>
      </p:sp>
      <p:sp>
        <p:nvSpPr>
          <p:cNvPr id="4" name="Content Placeholder 3">
            <a:extLst>
              <a:ext uri="{FF2B5EF4-FFF2-40B4-BE49-F238E27FC236}">
                <a16:creationId xmlns:a16="http://schemas.microsoft.com/office/drawing/2014/main" id="{7D4C77FC-7EB7-7F4C-3813-ACEE5DC76892}"/>
              </a:ext>
            </a:extLst>
          </p:cNvPr>
          <p:cNvSpPr>
            <a:spLocks noGrp="1"/>
          </p:cNvSpPr>
          <p:nvPr>
            <p:ph sz="quarter" idx="13"/>
          </p:nvPr>
        </p:nvSpPr>
        <p:spPr>
          <a:xfrm>
            <a:off x="235077" y="841247"/>
            <a:ext cx="8674100" cy="4072303"/>
          </a:xfrm>
        </p:spPr>
        <p:txBody>
          <a:bodyPr/>
          <a:lstStyle/>
          <a:p>
            <a:pPr marL="0" indent="0">
              <a:buNone/>
            </a:pPr>
            <a:r>
              <a:rPr lang="en-VN" sz="2000" b="1" dirty="0"/>
              <a:t>Evaluation of DER with NME classifier</a:t>
            </a:r>
          </a:p>
          <a:p>
            <a:endParaRPr lang="en-VN" sz="2000" b="1" dirty="0"/>
          </a:p>
        </p:txBody>
      </p:sp>
      <p:graphicFrame>
        <p:nvGraphicFramePr>
          <p:cNvPr id="5" name="Table 4">
            <a:extLst>
              <a:ext uri="{FF2B5EF4-FFF2-40B4-BE49-F238E27FC236}">
                <a16:creationId xmlns:a16="http://schemas.microsoft.com/office/drawing/2014/main" id="{EB2669D5-E9CE-1B4F-6D12-9B99A400AA7A}"/>
              </a:ext>
            </a:extLst>
          </p:cNvPr>
          <p:cNvGraphicFramePr>
            <a:graphicFrameLocks noGrp="1"/>
          </p:cNvGraphicFramePr>
          <p:nvPr>
            <p:extLst>
              <p:ext uri="{D42A27DB-BD31-4B8C-83A1-F6EECF244321}">
                <p14:modId xmlns:p14="http://schemas.microsoft.com/office/powerpoint/2010/main" val="4280434281"/>
              </p:ext>
            </p:extLst>
          </p:nvPr>
        </p:nvGraphicFramePr>
        <p:xfrm>
          <a:off x="2057399" y="1498601"/>
          <a:ext cx="5029201" cy="2987463"/>
        </p:xfrm>
        <a:graphic>
          <a:graphicData uri="http://schemas.openxmlformats.org/drawingml/2006/table">
            <a:tbl>
              <a:tblPr>
                <a:tableStyleId>{5C22544A-7EE6-4342-B048-85BDC9FD1C3A}</a:tableStyleId>
              </a:tblPr>
              <a:tblGrid>
                <a:gridCol w="1689197">
                  <a:extLst>
                    <a:ext uri="{9D8B030D-6E8A-4147-A177-3AD203B41FA5}">
                      <a16:colId xmlns:a16="http://schemas.microsoft.com/office/drawing/2014/main" val="2816188763"/>
                    </a:ext>
                  </a:extLst>
                </a:gridCol>
                <a:gridCol w="1670002">
                  <a:extLst>
                    <a:ext uri="{9D8B030D-6E8A-4147-A177-3AD203B41FA5}">
                      <a16:colId xmlns:a16="http://schemas.microsoft.com/office/drawing/2014/main" val="1540610434"/>
                    </a:ext>
                  </a:extLst>
                </a:gridCol>
                <a:gridCol w="1670002">
                  <a:extLst>
                    <a:ext uri="{9D8B030D-6E8A-4147-A177-3AD203B41FA5}">
                      <a16:colId xmlns:a16="http://schemas.microsoft.com/office/drawing/2014/main" val="3281673704"/>
                    </a:ext>
                  </a:extLst>
                </a:gridCol>
              </a:tblGrid>
              <a:tr h="416983">
                <a:tc>
                  <a:txBody>
                    <a:bodyPr/>
                    <a:lstStyle/>
                    <a:p>
                      <a:pPr algn="l" fontAlgn="b"/>
                      <a:r>
                        <a:rPr lang="en-VN" sz="1800" u="none" strike="noStrike" dirty="0">
                          <a:effectLst/>
                        </a:rPr>
                        <a:t>Dataset </a:t>
                      </a:r>
                      <a:endParaRPr lang="en-VN" sz="18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800" u="none" strike="noStrike" dirty="0">
                          <a:effectLst/>
                        </a:rPr>
                        <a:t>Normal Classifier</a:t>
                      </a:r>
                      <a:endParaRPr lang="en-US" sz="18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800" u="none" strike="noStrike" dirty="0">
                          <a:effectLst/>
                        </a:rPr>
                        <a:t>NME Classifier</a:t>
                      </a:r>
                      <a:endParaRPr lang="en-US" sz="18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0929082"/>
                  </a:ext>
                </a:extLst>
              </a:tr>
              <a:tr h="416983">
                <a:tc>
                  <a:txBody>
                    <a:bodyPr/>
                    <a:lstStyle/>
                    <a:p>
                      <a:pPr algn="l" fontAlgn="b"/>
                      <a:r>
                        <a:rPr lang="en-US" sz="1800" u="none" strike="noStrike">
                          <a:effectLst/>
                        </a:rPr>
                        <a:t>KDD99  - 1000</a:t>
                      </a:r>
                      <a:endParaRPr lang="en-US"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a:effectLst/>
                        </a:rPr>
                        <a:t>94,57</a:t>
                      </a:r>
                      <a:endParaRPr lang="en-VN"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a:effectLst/>
                        </a:rPr>
                        <a:t>97,88</a:t>
                      </a:r>
                      <a:endParaRPr lang="en-VN"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4913175"/>
                  </a:ext>
                </a:extLst>
              </a:tr>
              <a:tr h="416983">
                <a:tc>
                  <a:txBody>
                    <a:bodyPr/>
                    <a:lstStyle/>
                    <a:p>
                      <a:pPr algn="l" fontAlgn="b"/>
                      <a:r>
                        <a:rPr lang="en-US" sz="1800" u="none" strike="noStrike">
                          <a:effectLst/>
                        </a:rPr>
                        <a:t>CIC-IDS-2017 1000</a:t>
                      </a:r>
                      <a:endParaRPr lang="en-US"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a:effectLst/>
                        </a:rPr>
                        <a:t>27,38</a:t>
                      </a:r>
                      <a:endParaRPr lang="en-VN"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a:effectLst/>
                        </a:rPr>
                        <a:t>71,83</a:t>
                      </a:r>
                      <a:endParaRPr lang="en-VN"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5367492"/>
                  </a:ext>
                </a:extLst>
              </a:tr>
              <a:tr h="620184">
                <a:tc>
                  <a:txBody>
                    <a:bodyPr/>
                    <a:lstStyle/>
                    <a:p>
                      <a:pPr algn="l" fontAlgn="b"/>
                      <a:r>
                        <a:rPr lang="en-US" sz="1800" u="none" strike="noStrike">
                          <a:effectLst/>
                        </a:rPr>
                        <a:t>ToN-IoT-Network 1000</a:t>
                      </a:r>
                      <a:endParaRPr lang="en-US"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a:effectLst/>
                        </a:rPr>
                        <a:t>38,26</a:t>
                      </a:r>
                      <a:endParaRPr lang="en-VN"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a:effectLst/>
                        </a:rPr>
                        <a:t>95,19</a:t>
                      </a:r>
                      <a:endParaRPr lang="en-VN"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8907916"/>
                  </a:ext>
                </a:extLst>
              </a:tr>
              <a:tr h="416983">
                <a:tc>
                  <a:txBody>
                    <a:bodyPr/>
                    <a:lstStyle/>
                    <a:p>
                      <a:pPr algn="l" fontAlgn="b"/>
                      <a:r>
                        <a:rPr lang="en-US" sz="1800" u="none" strike="noStrike">
                          <a:effectLst/>
                        </a:rPr>
                        <a:t>UNSW-NB15 1000</a:t>
                      </a:r>
                      <a:endParaRPr lang="en-US"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a:effectLst/>
                        </a:rPr>
                        <a:t>24,32</a:t>
                      </a:r>
                      <a:endParaRPr lang="en-VN"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a:effectLst/>
                        </a:rPr>
                        <a:t>31,37</a:t>
                      </a:r>
                      <a:endParaRPr lang="en-VN"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7973163"/>
                  </a:ext>
                </a:extLst>
              </a:tr>
              <a:tr h="416983">
                <a:tc>
                  <a:txBody>
                    <a:bodyPr/>
                    <a:lstStyle/>
                    <a:p>
                      <a:pPr algn="l" fontAlgn="b"/>
                      <a:r>
                        <a:rPr lang="en-US" sz="1800" u="none" strike="noStrike">
                          <a:effectLst/>
                        </a:rPr>
                        <a:t>Synthetic 100</a:t>
                      </a:r>
                      <a:endParaRPr lang="en-US"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a:effectLst/>
                        </a:rPr>
                        <a:t>96,3</a:t>
                      </a:r>
                      <a:endParaRPr lang="en-VN"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VN" sz="1800" u="none" strike="noStrike" dirty="0">
                          <a:effectLst/>
                        </a:rPr>
                        <a:t>99,77</a:t>
                      </a:r>
                      <a:endParaRPr lang="en-VN" sz="18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0705756"/>
                  </a:ext>
                </a:extLst>
              </a:tr>
            </a:tbl>
          </a:graphicData>
        </a:graphic>
      </p:graphicFrame>
      <p:sp>
        <p:nvSpPr>
          <p:cNvPr id="8" name="TextBox 7">
            <a:extLst>
              <a:ext uri="{FF2B5EF4-FFF2-40B4-BE49-F238E27FC236}">
                <a16:creationId xmlns:a16="http://schemas.microsoft.com/office/drawing/2014/main" id="{40071A42-7CEE-36A1-58A5-BE349157030D}"/>
              </a:ext>
            </a:extLst>
          </p:cNvPr>
          <p:cNvSpPr txBox="1"/>
          <p:nvPr/>
        </p:nvSpPr>
        <p:spPr>
          <a:xfrm>
            <a:off x="235077" y="5412823"/>
            <a:ext cx="8838060" cy="400110"/>
          </a:xfrm>
          <a:prstGeom prst="rect">
            <a:avLst/>
          </a:prstGeom>
          <a:noFill/>
        </p:spPr>
        <p:txBody>
          <a:bodyPr wrap="none" rtlCol="0">
            <a:spAutoFit/>
          </a:bodyPr>
          <a:lstStyle/>
          <a:p>
            <a:r>
              <a:rPr lang="en-VN" sz="2000" dirty="0"/>
              <a:t>DER model with NME Classifier performs better than traditional DER in all datasets.</a:t>
            </a:r>
          </a:p>
        </p:txBody>
      </p:sp>
      <p:sp>
        <p:nvSpPr>
          <p:cNvPr id="9" name="TextBox 8">
            <a:extLst>
              <a:ext uri="{FF2B5EF4-FFF2-40B4-BE49-F238E27FC236}">
                <a16:creationId xmlns:a16="http://schemas.microsoft.com/office/drawing/2014/main" id="{16EE3710-73B4-2118-AFF4-842B5E54DB28}"/>
              </a:ext>
            </a:extLst>
          </p:cNvPr>
          <p:cNvSpPr txBox="1"/>
          <p:nvPr/>
        </p:nvSpPr>
        <p:spPr>
          <a:xfrm>
            <a:off x="1011075" y="4715187"/>
            <a:ext cx="7427790" cy="338554"/>
          </a:xfrm>
          <a:prstGeom prst="rect">
            <a:avLst/>
          </a:prstGeom>
          <a:noFill/>
        </p:spPr>
        <p:txBody>
          <a:bodyPr wrap="square">
            <a:spAutoFit/>
          </a:bodyPr>
          <a:lstStyle/>
          <a:p>
            <a:r>
              <a:rPr lang="en-VN" sz="1600" dirty="0"/>
              <a:t>Table 6: Averge Accuracy of DER with NME on all dataset, compared to normal DER</a:t>
            </a:r>
          </a:p>
        </p:txBody>
      </p:sp>
    </p:spTree>
    <p:extLst>
      <p:ext uri="{BB962C8B-B14F-4D97-AF65-F5344CB8AC3E}">
        <p14:creationId xmlns:p14="http://schemas.microsoft.com/office/powerpoint/2010/main" val="41832839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08E1B1-D9CD-415A-BCE5-B57F39B2F31D}"/>
              </a:ext>
            </a:extLst>
          </p:cNvPr>
          <p:cNvSpPr>
            <a:spLocks noGrp="1"/>
          </p:cNvSpPr>
          <p:nvPr>
            <p:ph sz="quarter" idx="13"/>
          </p:nvPr>
        </p:nvSpPr>
        <p:spPr>
          <a:xfrm>
            <a:off x="3418779" y="3094226"/>
            <a:ext cx="5543550" cy="2632680"/>
          </a:xfrm>
        </p:spPr>
        <p:txBody>
          <a:bodyPr/>
          <a:lstStyle/>
          <a:p>
            <a:pPr marL="0" indent="0">
              <a:buNone/>
            </a:pPr>
            <a:r>
              <a:rPr lang="en-US" sz="2700" b="1" dirty="0">
                <a:latin typeface="Lato Bold"/>
              </a:rPr>
              <a:t>	5. CONCLUSION</a:t>
            </a:r>
          </a:p>
        </p:txBody>
      </p:sp>
      <p:sp>
        <p:nvSpPr>
          <p:cNvPr id="4" name="Slide Number Placeholder 3">
            <a:extLst>
              <a:ext uri="{FF2B5EF4-FFF2-40B4-BE49-F238E27FC236}">
                <a16:creationId xmlns:a16="http://schemas.microsoft.com/office/drawing/2014/main" id="{BD91CA00-8B5A-4B5F-AE21-CF0691D64D53}"/>
              </a:ext>
            </a:extLst>
          </p:cNvPr>
          <p:cNvSpPr>
            <a:spLocks noGrp="1"/>
          </p:cNvSpPr>
          <p:nvPr>
            <p:ph type="sldNum" sz="quarter" idx="12"/>
          </p:nvPr>
        </p:nvSpPr>
        <p:spPr/>
        <p:txBody>
          <a:bodyPr/>
          <a:lstStyle/>
          <a:p>
            <a:fld id="{9EA0BE3B-158A-4EDF-80DC-E394A0D1600F}" type="slidenum">
              <a:rPr lang="en-US" smtClean="0"/>
              <a:pPr/>
              <a:t>35</a:t>
            </a:fld>
            <a:endParaRPr lang="en-US" dirty="0"/>
          </a:p>
        </p:txBody>
      </p:sp>
    </p:spTree>
    <p:extLst>
      <p:ext uri="{BB962C8B-B14F-4D97-AF65-F5344CB8AC3E}">
        <p14:creationId xmlns:p14="http://schemas.microsoft.com/office/powerpoint/2010/main" val="30845672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592822-058F-0BDE-7F9D-2F8BA2B1735F}"/>
              </a:ext>
            </a:extLst>
          </p:cNvPr>
          <p:cNvSpPr>
            <a:spLocks noGrp="1"/>
          </p:cNvSpPr>
          <p:nvPr>
            <p:ph type="sldNum" sz="quarter" idx="12"/>
          </p:nvPr>
        </p:nvSpPr>
        <p:spPr/>
        <p:txBody>
          <a:bodyPr/>
          <a:lstStyle/>
          <a:p>
            <a:fld id="{9EA0BE3B-158A-4EDF-80DC-E394A0D1600F}" type="slidenum">
              <a:rPr lang="en-US" smtClean="0"/>
              <a:pPr/>
              <a:t>36</a:t>
            </a:fld>
            <a:endParaRPr lang="en-US" dirty="0"/>
          </a:p>
        </p:txBody>
      </p:sp>
      <p:sp>
        <p:nvSpPr>
          <p:cNvPr id="3" name="Title 2">
            <a:extLst>
              <a:ext uri="{FF2B5EF4-FFF2-40B4-BE49-F238E27FC236}">
                <a16:creationId xmlns:a16="http://schemas.microsoft.com/office/drawing/2014/main" id="{FC5EBB3F-9252-AA64-9527-9E64FDDEE9C9}"/>
              </a:ext>
            </a:extLst>
          </p:cNvPr>
          <p:cNvSpPr>
            <a:spLocks noGrp="1"/>
          </p:cNvSpPr>
          <p:nvPr>
            <p:ph type="title"/>
          </p:nvPr>
        </p:nvSpPr>
        <p:spPr/>
        <p:txBody>
          <a:bodyPr/>
          <a:lstStyle/>
          <a:p>
            <a:r>
              <a:rPr lang="en-VN"/>
              <a:t>Conclusion</a:t>
            </a:r>
          </a:p>
        </p:txBody>
      </p:sp>
      <p:sp>
        <p:nvSpPr>
          <p:cNvPr id="4" name="Content Placeholder 3">
            <a:extLst>
              <a:ext uri="{FF2B5EF4-FFF2-40B4-BE49-F238E27FC236}">
                <a16:creationId xmlns:a16="http://schemas.microsoft.com/office/drawing/2014/main" id="{E5FFAA4B-BF27-58E4-F1EC-45B83F17EA7D}"/>
              </a:ext>
            </a:extLst>
          </p:cNvPr>
          <p:cNvSpPr>
            <a:spLocks noGrp="1"/>
          </p:cNvSpPr>
          <p:nvPr>
            <p:ph sz="quarter" idx="13"/>
          </p:nvPr>
        </p:nvSpPr>
        <p:spPr/>
        <p:txBody>
          <a:bodyPr/>
          <a:lstStyle/>
          <a:p>
            <a:r>
              <a:rPr lang="en-US" dirty="0"/>
              <a:t>A</a:t>
            </a:r>
            <a:r>
              <a:rPr lang="en-US" dirty="0">
                <a:effectLst/>
              </a:rPr>
              <a:t>ll benchmark methods perform better than the </a:t>
            </a:r>
            <a:r>
              <a:rPr lang="en-US" dirty="0"/>
              <a:t>traditional </a:t>
            </a:r>
            <a:r>
              <a:rPr lang="en-US" dirty="0">
                <a:effectLst/>
              </a:rPr>
              <a:t>model in incremental learning setup. However, their effectiveness heavily relies on the size of the exemplar set. </a:t>
            </a:r>
          </a:p>
          <a:p>
            <a:r>
              <a:rPr lang="en-US" dirty="0"/>
              <a:t>Soft label target is not effective in knowledge distillation approach. </a:t>
            </a:r>
            <a:endParaRPr lang="en-US" dirty="0">
              <a:effectLst/>
            </a:endParaRPr>
          </a:p>
          <a:p>
            <a:r>
              <a:rPr lang="en-US" dirty="0"/>
              <a:t>NME classifier performs well in CIL compared to traditional classifier.</a:t>
            </a:r>
            <a:endParaRPr lang="en-US" dirty="0">
              <a:effectLst/>
            </a:endParaRPr>
          </a:p>
          <a:p>
            <a:r>
              <a:rPr lang="en-US" dirty="0"/>
              <a:t>DER, combined with the NME classifier, achieve highest accuracy. However, DER is more resource expensive than other.</a:t>
            </a:r>
          </a:p>
          <a:p>
            <a:endParaRPr lang="en-US" dirty="0"/>
          </a:p>
        </p:txBody>
      </p:sp>
    </p:spTree>
    <p:extLst>
      <p:ext uri="{BB962C8B-B14F-4D97-AF65-F5344CB8AC3E}">
        <p14:creationId xmlns:p14="http://schemas.microsoft.com/office/powerpoint/2010/main" val="239747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37</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28305356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0C97B7-197F-AD15-D1EB-8427AC4476D1}"/>
              </a:ext>
            </a:extLst>
          </p:cNvPr>
          <p:cNvSpPr>
            <a:spLocks noGrp="1"/>
          </p:cNvSpPr>
          <p:nvPr>
            <p:ph type="sldNum" sz="quarter" idx="12"/>
          </p:nvPr>
        </p:nvSpPr>
        <p:spPr/>
        <p:txBody>
          <a:bodyPr/>
          <a:lstStyle/>
          <a:p>
            <a:fld id="{9EA0BE3B-158A-4EDF-80DC-E394A0D1600F}" type="slidenum">
              <a:rPr lang="en-US" smtClean="0"/>
              <a:pPr/>
              <a:t>38</a:t>
            </a:fld>
            <a:endParaRPr lang="en-US" dirty="0"/>
          </a:p>
        </p:txBody>
      </p:sp>
      <p:sp>
        <p:nvSpPr>
          <p:cNvPr id="3" name="Title 2">
            <a:extLst>
              <a:ext uri="{FF2B5EF4-FFF2-40B4-BE49-F238E27FC236}">
                <a16:creationId xmlns:a16="http://schemas.microsoft.com/office/drawing/2014/main" id="{CF11103F-05BD-1F67-571A-3C80A8D48198}"/>
              </a:ext>
            </a:extLst>
          </p:cNvPr>
          <p:cNvSpPr>
            <a:spLocks noGrp="1"/>
          </p:cNvSpPr>
          <p:nvPr>
            <p:ph type="title"/>
          </p:nvPr>
        </p:nvSpPr>
        <p:spPr/>
        <p:txBody>
          <a:bodyPr/>
          <a:lstStyle/>
          <a:p>
            <a:r>
              <a:rPr lang="en-VN"/>
              <a:t>References </a:t>
            </a:r>
          </a:p>
        </p:txBody>
      </p:sp>
      <p:sp>
        <p:nvSpPr>
          <p:cNvPr id="4" name="Content Placeholder 3">
            <a:extLst>
              <a:ext uri="{FF2B5EF4-FFF2-40B4-BE49-F238E27FC236}">
                <a16:creationId xmlns:a16="http://schemas.microsoft.com/office/drawing/2014/main" id="{702655E9-F1B7-8646-1052-86FA0B7E235D}"/>
              </a:ext>
            </a:extLst>
          </p:cNvPr>
          <p:cNvSpPr>
            <a:spLocks noGrp="1"/>
          </p:cNvSpPr>
          <p:nvPr>
            <p:ph sz="quarter" idx="13"/>
          </p:nvPr>
        </p:nvSpPr>
        <p:spPr/>
        <p:txBody>
          <a:bodyPr/>
          <a:lstStyle/>
          <a:p>
            <a:pPr marL="0" indent="0">
              <a:buNone/>
            </a:pPr>
            <a:r>
              <a:rPr lang="en-VN" sz="2400" dirty="0"/>
              <a:t>[1] </a:t>
            </a:r>
            <a:r>
              <a:rPr lang="en-US" sz="2400" dirty="0"/>
              <a:t>S.-A. Rebuffi, A. Kolesnikov, G. Sperl, and C. H. Lampert, “Icarl: Incremental classifier and representation learning,” </a:t>
            </a:r>
          </a:p>
          <a:p>
            <a:pPr marL="0" indent="0">
              <a:buNone/>
            </a:pPr>
            <a:r>
              <a:rPr lang="en-US" sz="2400" dirty="0"/>
              <a:t>[2] A. Chaudhry, P. K. Dokania, T. Ajanthan, and P. H. Torr, “Riemannian walk for incremental learning: Understanding forgetting and intransigence,”</a:t>
            </a:r>
          </a:p>
          <a:p>
            <a:pPr marL="0" indent="0">
              <a:buNone/>
            </a:pPr>
            <a:r>
              <a:rPr lang="en-US" sz="2400" dirty="0"/>
              <a:t>[3] J. Bang, H. Kim, Y. Yoo, J.-W. Ha, and J. Choi, “Rainbow memory: Continual learning with a memory of diverse samples,” </a:t>
            </a:r>
          </a:p>
          <a:p>
            <a:pPr marL="0" indent="0">
              <a:buNone/>
            </a:pPr>
            <a:r>
              <a:rPr lang="en-US" sz="2400" dirty="0"/>
              <a:t>[4] H. Shin, J. K. Lee, J. Kim, and J. Kim, “Continual learning with deep generative replay,” </a:t>
            </a:r>
          </a:p>
          <a:p>
            <a:pPr marL="0" indent="0">
              <a:buNone/>
            </a:pPr>
            <a:r>
              <a:rPr lang="en-US" sz="2400" dirty="0"/>
              <a:t>[5] S. Yan, J. Xie, and X. He, “Der: Dynamically expandable representation for class incremental learning,” </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VN" sz="2400" dirty="0"/>
          </a:p>
        </p:txBody>
      </p:sp>
    </p:spTree>
    <p:extLst>
      <p:ext uri="{BB962C8B-B14F-4D97-AF65-F5344CB8AC3E}">
        <p14:creationId xmlns:p14="http://schemas.microsoft.com/office/powerpoint/2010/main" val="40787133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B4CD54-6CCA-FE03-E1EE-6593F8D14981}"/>
              </a:ext>
            </a:extLst>
          </p:cNvPr>
          <p:cNvSpPr>
            <a:spLocks noGrp="1"/>
          </p:cNvSpPr>
          <p:nvPr>
            <p:ph type="sldNum" sz="quarter" idx="12"/>
          </p:nvPr>
        </p:nvSpPr>
        <p:spPr/>
        <p:txBody>
          <a:bodyPr/>
          <a:lstStyle/>
          <a:p>
            <a:fld id="{9EA0BE3B-158A-4EDF-80DC-E394A0D1600F}" type="slidenum">
              <a:rPr lang="en-US" smtClean="0"/>
              <a:pPr/>
              <a:t>39</a:t>
            </a:fld>
            <a:endParaRPr lang="en-US" dirty="0"/>
          </a:p>
        </p:txBody>
      </p:sp>
      <p:sp>
        <p:nvSpPr>
          <p:cNvPr id="3" name="Title 2">
            <a:extLst>
              <a:ext uri="{FF2B5EF4-FFF2-40B4-BE49-F238E27FC236}">
                <a16:creationId xmlns:a16="http://schemas.microsoft.com/office/drawing/2014/main" id="{62ECA375-DACE-108E-0088-1194DFE0B9FF}"/>
              </a:ext>
            </a:extLst>
          </p:cNvPr>
          <p:cNvSpPr>
            <a:spLocks noGrp="1"/>
          </p:cNvSpPr>
          <p:nvPr>
            <p:ph type="title"/>
          </p:nvPr>
        </p:nvSpPr>
        <p:spPr/>
        <p:txBody>
          <a:bodyPr/>
          <a:lstStyle/>
          <a:p>
            <a:r>
              <a:rPr lang="en-VN"/>
              <a:t>References (2)</a:t>
            </a:r>
          </a:p>
        </p:txBody>
      </p:sp>
      <p:sp>
        <p:nvSpPr>
          <p:cNvPr id="4" name="Content Placeholder 3">
            <a:extLst>
              <a:ext uri="{FF2B5EF4-FFF2-40B4-BE49-F238E27FC236}">
                <a16:creationId xmlns:a16="http://schemas.microsoft.com/office/drawing/2014/main" id="{1C1A111F-2CBD-E621-9AFE-0FF31A1F2F66}"/>
              </a:ext>
            </a:extLst>
          </p:cNvPr>
          <p:cNvSpPr>
            <a:spLocks noGrp="1"/>
          </p:cNvSpPr>
          <p:nvPr>
            <p:ph sz="quarter" idx="13"/>
          </p:nvPr>
        </p:nvSpPr>
        <p:spPr/>
        <p:txBody>
          <a:bodyPr/>
          <a:lstStyle/>
          <a:p>
            <a:pPr marL="0" indent="0">
              <a:buNone/>
            </a:pPr>
            <a:r>
              <a:rPr lang="en-VN" sz="2400" dirty="0"/>
              <a:t>[6] </a:t>
            </a:r>
            <a:r>
              <a:rPr lang="en-US" sz="2400" dirty="0"/>
              <a:t>F.-Y. Wang, D.-W. Zhou, H.-J. Ye, and D.-C. Zhan, “Foster: Feature boosting and compression for class-incremental learning,” </a:t>
            </a:r>
          </a:p>
          <a:p>
            <a:pPr marL="0" indent="0">
              <a:buNone/>
            </a:pPr>
            <a:r>
              <a:rPr lang="en-VN" sz="2400" dirty="0"/>
              <a:t>[7] </a:t>
            </a:r>
            <a:r>
              <a:rPr lang="en-US" sz="2400" dirty="0"/>
              <a:t>D.-W. Zhou, Q.-W. Wang, H.-J. Ye, and D.-C. Zhan, “A model or 603 exemplars: Towards memory-efficient class-incremental learning,”</a:t>
            </a:r>
          </a:p>
          <a:p>
            <a:pPr marL="0" indent="0">
              <a:buNone/>
            </a:pPr>
            <a:r>
              <a:rPr lang="en-US" sz="2400" dirty="0"/>
              <a:t>[8] Z. Li and D. Hoiem, “Learning without forgetting,” </a:t>
            </a:r>
          </a:p>
          <a:p>
            <a:pPr marL="0" indent="0">
              <a:buNone/>
            </a:pPr>
            <a:r>
              <a:rPr lang="en-US" sz="2400" dirty="0"/>
              <a:t>[9] J. Kirkpatrick, R. Pascanu, N. Rabinowitz, et al., “Overcoming catastrophic forgetting in neural networks,” </a:t>
            </a:r>
          </a:p>
          <a:p>
            <a:pPr marL="0" indent="0">
              <a:buNone/>
            </a:pPr>
            <a:endParaRPr lang="en-US" sz="2400" dirty="0"/>
          </a:p>
          <a:p>
            <a:pPr marL="0" indent="0">
              <a:buNone/>
            </a:pPr>
            <a:endParaRPr lang="en-VN" sz="2400" dirty="0"/>
          </a:p>
        </p:txBody>
      </p:sp>
    </p:spTree>
    <p:extLst>
      <p:ext uri="{BB962C8B-B14F-4D97-AF65-F5344CB8AC3E}">
        <p14:creationId xmlns:p14="http://schemas.microsoft.com/office/powerpoint/2010/main" val="23652172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08E1B1-D9CD-415A-BCE5-B57F39B2F31D}"/>
              </a:ext>
            </a:extLst>
          </p:cNvPr>
          <p:cNvSpPr>
            <a:spLocks noGrp="1"/>
          </p:cNvSpPr>
          <p:nvPr>
            <p:ph sz="quarter" idx="13"/>
          </p:nvPr>
        </p:nvSpPr>
        <p:spPr>
          <a:xfrm>
            <a:off x="3418779" y="3094226"/>
            <a:ext cx="5543550" cy="2632680"/>
          </a:xfrm>
        </p:spPr>
        <p:txBody>
          <a:bodyPr/>
          <a:lstStyle/>
          <a:p>
            <a:pPr marL="0" indent="0">
              <a:buNone/>
            </a:pPr>
            <a:r>
              <a:rPr lang="en-US" sz="2700" b="1" dirty="0">
                <a:latin typeface="Lato Bold"/>
              </a:rPr>
              <a:t>	            APPENDIX</a:t>
            </a:r>
          </a:p>
        </p:txBody>
      </p:sp>
      <p:sp>
        <p:nvSpPr>
          <p:cNvPr id="4" name="Slide Number Placeholder 3">
            <a:extLst>
              <a:ext uri="{FF2B5EF4-FFF2-40B4-BE49-F238E27FC236}">
                <a16:creationId xmlns:a16="http://schemas.microsoft.com/office/drawing/2014/main" id="{BD91CA00-8B5A-4B5F-AE21-CF0691D64D53}"/>
              </a:ext>
            </a:extLst>
          </p:cNvPr>
          <p:cNvSpPr>
            <a:spLocks noGrp="1"/>
          </p:cNvSpPr>
          <p:nvPr>
            <p:ph type="sldNum" sz="quarter" idx="12"/>
          </p:nvPr>
        </p:nvSpPr>
        <p:spPr/>
        <p:txBody>
          <a:bodyPr/>
          <a:lstStyle/>
          <a:p>
            <a:fld id="{9EA0BE3B-158A-4EDF-80DC-E394A0D1600F}" type="slidenum">
              <a:rPr lang="en-US" smtClean="0"/>
              <a:pPr/>
              <a:t>40</a:t>
            </a:fld>
            <a:endParaRPr lang="en-US" dirty="0"/>
          </a:p>
        </p:txBody>
      </p:sp>
    </p:spTree>
    <p:extLst>
      <p:ext uri="{BB962C8B-B14F-4D97-AF65-F5344CB8AC3E}">
        <p14:creationId xmlns:p14="http://schemas.microsoft.com/office/powerpoint/2010/main" val="37812768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3DE602-3E85-99AE-4D59-0B4A40606EBE}"/>
              </a:ext>
            </a:extLst>
          </p:cNvPr>
          <p:cNvSpPr>
            <a:spLocks noGrp="1"/>
          </p:cNvSpPr>
          <p:nvPr>
            <p:ph type="sldNum" sz="quarter" idx="12"/>
          </p:nvPr>
        </p:nvSpPr>
        <p:spPr/>
        <p:txBody>
          <a:bodyPr/>
          <a:lstStyle/>
          <a:p>
            <a:fld id="{9EA0BE3B-158A-4EDF-80DC-E394A0D1600F}" type="slidenum">
              <a:rPr lang="en-US" smtClean="0"/>
              <a:pPr/>
              <a:t>41</a:t>
            </a:fld>
            <a:endParaRPr lang="en-US" dirty="0"/>
          </a:p>
        </p:txBody>
      </p:sp>
      <p:sp>
        <p:nvSpPr>
          <p:cNvPr id="3" name="Title 2">
            <a:extLst>
              <a:ext uri="{FF2B5EF4-FFF2-40B4-BE49-F238E27FC236}">
                <a16:creationId xmlns:a16="http://schemas.microsoft.com/office/drawing/2014/main" id="{3A97806C-63A2-09E4-73B4-B73102998067}"/>
              </a:ext>
            </a:extLst>
          </p:cNvPr>
          <p:cNvSpPr>
            <a:spLocks noGrp="1"/>
          </p:cNvSpPr>
          <p:nvPr>
            <p:ph type="title"/>
          </p:nvPr>
        </p:nvSpPr>
        <p:spPr/>
        <p:txBody>
          <a:bodyPr/>
          <a:lstStyle/>
          <a:p>
            <a:r>
              <a:rPr lang="en-VN" dirty="0"/>
              <a:t>Backbone Architecture </a:t>
            </a:r>
          </a:p>
        </p:txBody>
      </p:sp>
      <p:sp>
        <p:nvSpPr>
          <p:cNvPr id="7" name="TextBox 6">
            <a:extLst>
              <a:ext uri="{FF2B5EF4-FFF2-40B4-BE49-F238E27FC236}">
                <a16:creationId xmlns:a16="http://schemas.microsoft.com/office/drawing/2014/main" id="{ED9C2CD2-AA54-3EA0-1F30-3CF229E5C691}"/>
              </a:ext>
            </a:extLst>
          </p:cNvPr>
          <p:cNvSpPr txBox="1"/>
          <p:nvPr/>
        </p:nvSpPr>
        <p:spPr>
          <a:xfrm>
            <a:off x="235077" y="1395553"/>
            <a:ext cx="4105103" cy="3693319"/>
          </a:xfrm>
          <a:prstGeom prst="rect">
            <a:avLst/>
          </a:prstGeom>
          <a:noFill/>
        </p:spPr>
        <p:txBody>
          <a:bodyPr wrap="square" rtlCol="0">
            <a:spAutoFit/>
          </a:bodyPr>
          <a:lstStyle/>
          <a:p>
            <a:r>
              <a:rPr lang="en-VN" dirty="0">
                <a:latin typeface="Lato" panose="020F0502020204030203" pitchFamily="34" charset="0"/>
                <a:ea typeface="Lato" panose="020F0502020204030203" pitchFamily="34" charset="0"/>
                <a:cs typeface="Lato" panose="020F0502020204030203" pitchFamily="34" charset="0"/>
              </a:rPr>
              <a:t>LWF: Store 2 backbones at the time, </a:t>
            </a:r>
            <a:br>
              <a:rPr lang="en-VN" dirty="0">
                <a:latin typeface="Lato" panose="020F0502020204030203" pitchFamily="34" charset="0"/>
                <a:ea typeface="Lato" panose="020F0502020204030203" pitchFamily="34" charset="0"/>
                <a:cs typeface="Lato" panose="020F0502020204030203" pitchFamily="34" charset="0"/>
              </a:rPr>
            </a:br>
            <a:r>
              <a:rPr lang="en-VN" dirty="0">
                <a:latin typeface="Lato" panose="020F0502020204030203" pitchFamily="34" charset="0"/>
                <a:ea typeface="Lato" panose="020F0502020204030203" pitchFamily="34" charset="0"/>
                <a:cs typeface="Lato" panose="020F0502020204030203" pitchFamily="34" charset="0"/>
              </a:rPr>
              <a:t>one for the model at the current task, </a:t>
            </a:r>
            <a:br>
              <a:rPr lang="en-VN" dirty="0">
                <a:latin typeface="Lato" panose="020F0502020204030203" pitchFamily="34" charset="0"/>
                <a:ea typeface="Lato" panose="020F0502020204030203" pitchFamily="34" charset="0"/>
                <a:cs typeface="Lato" panose="020F0502020204030203" pitchFamily="34" charset="0"/>
              </a:rPr>
            </a:br>
            <a:r>
              <a:rPr lang="en-VN" dirty="0">
                <a:latin typeface="Lato" panose="020F0502020204030203" pitchFamily="34" charset="0"/>
                <a:ea typeface="Lato" panose="020F0502020204030203" pitchFamily="34" charset="0"/>
                <a:cs typeface="Lato" panose="020F0502020204030203" pitchFamily="34" charset="0"/>
              </a:rPr>
              <a:t>one for model from previous task</a:t>
            </a:r>
          </a:p>
          <a:p>
            <a:endParaRPr lang="en-VN" dirty="0">
              <a:latin typeface="Lato" panose="020F0502020204030203" pitchFamily="34" charset="0"/>
              <a:ea typeface="Lato" panose="020F0502020204030203" pitchFamily="34" charset="0"/>
              <a:cs typeface="Lato" panose="020F0502020204030203" pitchFamily="34" charset="0"/>
            </a:endParaRPr>
          </a:p>
          <a:p>
            <a:r>
              <a:rPr lang="en-VN" dirty="0">
                <a:latin typeface="Lato" panose="020F0502020204030203" pitchFamily="34" charset="0"/>
                <a:ea typeface="Lato" panose="020F0502020204030203" pitchFamily="34" charset="0"/>
                <a:cs typeface="Lato" panose="020F0502020204030203" pitchFamily="34" charset="0"/>
              </a:rPr>
              <a:t>ICARL: Store 2 backbones at the time, </a:t>
            </a:r>
            <a:br>
              <a:rPr lang="en-VN" dirty="0">
                <a:latin typeface="Lato" panose="020F0502020204030203" pitchFamily="34" charset="0"/>
                <a:ea typeface="Lato" panose="020F0502020204030203" pitchFamily="34" charset="0"/>
                <a:cs typeface="Lato" panose="020F0502020204030203" pitchFamily="34" charset="0"/>
              </a:rPr>
            </a:br>
            <a:r>
              <a:rPr lang="en-VN" dirty="0">
                <a:latin typeface="Lato" panose="020F0502020204030203" pitchFamily="34" charset="0"/>
                <a:ea typeface="Lato" panose="020F0502020204030203" pitchFamily="34" charset="0"/>
                <a:cs typeface="Lato" panose="020F0502020204030203" pitchFamily="34" charset="0"/>
              </a:rPr>
              <a:t>one for the model at the current task, </a:t>
            </a:r>
            <a:br>
              <a:rPr lang="en-VN" dirty="0">
                <a:latin typeface="Lato" panose="020F0502020204030203" pitchFamily="34" charset="0"/>
                <a:ea typeface="Lato" panose="020F0502020204030203" pitchFamily="34" charset="0"/>
                <a:cs typeface="Lato" panose="020F0502020204030203" pitchFamily="34" charset="0"/>
              </a:rPr>
            </a:br>
            <a:r>
              <a:rPr lang="en-VN" dirty="0">
                <a:latin typeface="Lato" panose="020F0502020204030203" pitchFamily="34" charset="0"/>
                <a:ea typeface="Lato" panose="020F0502020204030203" pitchFamily="34" charset="0"/>
                <a:cs typeface="Lato" panose="020F0502020204030203" pitchFamily="34" charset="0"/>
              </a:rPr>
              <a:t>one for model from previous task</a:t>
            </a:r>
          </a:p>
          <a:p>
            <a:endParaRPr lang="en-VN" dirty="0">
              <a:latin typeface="Lato" panose="020F0502020204030203" pitchFamily="34" charset="0"/>
              <a:ea typeface="Lato" panose="020F0502020204030203" pitchFamily="34" charset="0"/>
              <a:cs typeface="Lato" panose="020F0502020204030203" pitchFamily="34" charset="0"/>
            </a:endParaRPr>
          </a:p>
          <a:p>
            <a:r>
              <a:rPr lang="en-VN" dirty="0">
                <a:latin typeface="Lato" panose="020F0502020204030203" pitchFamily="34" charset="0"/>
                <a:ea typeface="Lato" panose="020F0502020204030203" pitchFamily="34" charset="0"/>
                <a:cs typeface="Lato" panose="020F0502020204030203" pitchFamily="34" charset="0"/>
              </a:rPr>
              <a:t>DER: Adding a backbone </a:t>
            </a:r>
            <a:br>
              <a:rPr lang="en-VN" dirty="0">
                <a:latin typeface="Lato" panose="020F0502020204030203" pitchFamily="34" charset="0"/>
                <a:ea typeface="Lato" panose="020F0502020204030203" pitchFamily="34" charset="0"/>
                <a:cs typeface="Lato" panose="020F0502020204030203" pitchFamily="34" charset="0"/>
              </a:rPr>
            </a:br>
            <a:r>
              <a:rPr lang="en-VN" dirty="0">
                <a:latin typeface="Lato" panose="020F0502020204030203" pitchFamily="34" charset="0"/>
                <a:ea typeface="Lato" panose="020F0502020204030203" pitchFamily="34" charset="0"/>
                <a:cs typeface="Lato" panose="020F0502020204030203" pitchFamily="34" charset="0"/>
              </a:rPr>
              <a:t>whenever facing new task</a:t>
            </a:r>
          </a:p>
          <a:p>
            <a:endParaRPr lang="en-VN" dirty="0">
              <a:latin typeface="Lato" panose="020F0502020204030203" pitchFamily="34" charset="0"/>
              <a:ea typeface="Lato" panose="020F0502020204030203" pitchFamily="34" charset="0"/>
              <a:cs typeface="Lato" panose="020F0502020204030203" pitchFamily="34" charset="0"/>
            </a:endParaRPr>
          </a:p>
          <a:p>
            <a:r>
              <a:rPr lang="en-VN">
                <a:latin typeface="Lato" panose="020F0502020204030203" pitchFamily="34" charset="0"/>
                <a:ea typeface="Lato" panose="020F0502020204030203" pitchFamily="34" charset="0"/>
                <a:cs typeface="Lato" panose="020F0502020204030203" pitchFamily="34" charset="0"/>
              </a:rPr>
              <a:t>MEMO: Adding second layer </a:t>
            </a:r>
            <a:br>
              <a:rPr lang="en-VN">
                <a:latin typeface="Lato" panose="020F0502020204030203" pitchFamily="34" charset="0"/>
                <a:ea typeface="Lato" panose="020F0502020204030203" pitchFamily="34" charset="0"/>
                <a:cs typeface="Lato" panose="020F0502020204030203" pitchFamily="34" charset="0"/>
              </a:rPr>
            </a:br>
            <a:r>
              <a:rPr lang="en-VN">
                <a:latin typeface="Lato" panose="020F0502020204030203" pitchFamily="34" charset="0"/>
                <a:ea typeface="Lato" panose="020F0502020204030203" pitchFamily="34" charset="0"/>
                <a:cs typeface="Lato" panose="020F0502020204030203" pitchFamily="34" charset="0"/>
              </a:rPr>
              <a:t>whenever facing new task</a:t>
            </a:r>
          </a:p>
        </p:txBody>
      </p:sp>
      <p:sp>
        <p:nvSpPr>
          <p:cNvPr id="8" name="TextBox 7">
            <a:extLst>
              <a:ext uri="{FF2B5EF4-FFF2-40B4-BE49-F238E27FC236}">
                <a16:creationId xmlns:a16="http://schemas.microsoft.com/office/drawing/2014/main" id="{9FC48BFB-14FF-48E8-377A-90FC08B66949}"/>
              </a:ext>
            </a:extLst>
          </p:cNvPr>
          <p:cNvSpPr txBox="1"/>
          <p:nvPr/>
        </p:nvSpPr>
        <p:spPr>
          <a:xfrm>
            <a:off x="4899578" y="4994031"/>
            <a:ext cx="2317366" cy="369332"/>
          </a:xfrm>
          <a:prstGeom prst="rect">
            <a:avLst/>
          </a:prstGeom>
          <a:noFill/>
        </p:spPr>
        <p:txBody>
          <a:bodyPr wrap="none" rtlCol="0">
            <a:spAutoFit/>
          </a:bodyPr>
          <a:lstStyle/>
          <a:p>
            <a:r>
              <a:rPr lang="en-VN" dirty="0"/>
              <a:t>Backbone Architecture</a:t>
            </a:r>
          </a:p>
        </p:txBody>
      </p:sp>
      <p:pic>
        <p:nvPicPr>
          <p:cNvPr id="12" name="Content Placeholder 11">
            <a:extLst>
              <a:ext uri="{FF2B5EF4-FFF2-40B4-BE49-F238E27FC236}">
                <a16:creationId xmlns:a16="http://schemas.microsoft.com/office/drawing/2014/main" id="{F7AB41B2-E0B6-A808-0D44-E8F4767804B1}"/>
              </a:ext>
            </a:extLst>
          </p:cNvPr>
          <p:cNvPicPr>
            <a:picLocks noGrp="1" noChangeAspect="1"/>
          </p:cNvPicPr>
          <p:nvPr>
            <p:ph sz="quarter" idx="13"/>
          </p:nvPr>
        </p:nvPicPr>
        <p:blipFill>
          <a:blip r:embed="rId2"/>
          <a:stretch>
            <a:fillRect/>
          </a:stretch>
        </p:blipFill>
        <p:spPr>
          <a:xfrm>
            <a:off x="4288378" y="1069296"/>
            <a:ext cx="4242673" cy="3320353"/>
          </a:xfrm>
        </p:spPr>
      </p:pic>
    </p:spTree>
    <p:extLst>
      <p:ext uri="{BB962C8B-B14F-4D97-AF65-F5344CB8AC3E}">
        <p14:creationId xmlns:p14="http://schemas.microsoft.com/office/powerpoint/2010/main" val="24862229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9FFB98-C507-D839-99DE-7EDE53F23C37}"/>
              </a:ext>
            </a:extLst>
          </p:cNvPr>
          <p:cNvSpPr>
            <a:spLocks noGrp="1"/>
          </p:cNvSpPr>
          <p:nvPr>
            <p:ph type="sldNum" sz="quarter" idx="12"/>
          </p:nvPr>
        </p:nvSpPr>
        <p:spPr/>
        <p:txBody>
          <a:bodyPr/>
          <a:lstStyle/>
          <a:p>
            <a:fld id="{9EA0BE3B-158A-4EDF-80DC-E394A0D1600F}" type="slidenum">
              <a:rPr lang="en-US" smtClean="0"/>
              <a:pPr/>
              <a:t>42</a:t>
            </a:fld>
            <a:endParaRPr lang="en-US" dirty="0"/>
          </a:p>
        </p:txBody>
      </p:sp>
      <p:sp>
        <p:nvSpPr>
          <p:cNvPr id="3" name="Title 2">
            <a:extLst>
              <a:ext uri="{FF2B5EF4-FFF2-40B4-BE49-F238E27FC236}">
                <a16:creationId xmlns:a16="http://schemas.microsoft.com/office/drawing/2014/main" id="{C33F5A51-7652-CD25-4A44-A422B7F74999}"/>
              </a:ext>
            </a:extLst>
          </p:cNvPr>
          <p:cNvSpPr>
            <a:spLocks noGrp="1"/>
          </p:cNvSpPr>
          <p:nvPr>
            <p:ph type="title"/>
          </p:nvPr>
        </p:nvSpPr>
        <p:spPr/>
        <p:txBody>
          <a:bodyPr/>
          <a:lstStyle/>
          <a:p>
            <a:r>
              <a:rPr lang="en-VN"/>
              <a:t>LWF: LEARNING WITHOUT FORGETTING</a:t>
            </a:r>
          </a:p>
        </p:txBody>
      </p:sp>
      <p:sp>
        <p:nvSpPr>
          <p:cNvPr id="4" name="Content Placeholder 3">
            <a:extLst>
              <a:ext uri="{FF2B5EF4-FFF2-40B4-BE49-F238E27FC236}">
                <a16:creationId xmlns:a16="http://schemas.microsoft.com/office/drawing/2014/main" id="{80C1231F-F074-53A4-FC37-5F6077933389}"/>
              </a:ext>
            </a:extLst>
          </p:cNvPr>
          <p:cNvSpPr>
            <a:spLocks noGrp="1"/>
          </p:cNvSpPr>
          <p:nvPr>
            <p:ph sz="quarter" idx="13"/>
          </p:nvPr>
        </p:nvSpPr>
        <p:spPr>
          <a:xfrm>
            <a:off x="219217" y="3288476"/>
            <a:ext cx="8536783" cy="2750818"/>
          </a:xfrm>
        </p:spPr>
        <p:txBody>
          <a:bodyPr/>
          <a:lstStyle/>
          <a:p>
            <a:pPr marL="0" indent="0">
              <a:buNone/>
            </a:pPr>
            <a:endParaRPr lang="en-VN"/>
          </a:p>
          <a:p>
            <a:pPr marL="0" indent="0">
              <a:buNone/>
            </a:pPr>
            <a:r>
              <a:rPr lang="en-VN"/>
              <a:t>Idea: An ensemble of models predict better than a single model.</a:t>
            </a:r>
          </a:p>
          <a:p>
            <a:pPr marL="0" indent="0">
              <a:buNone/>
            </a:pPr>
            <a:r>
              <a:rPr lang="en-VN"/>
              <a:t>Knowledge distilation: Boost the accuracy of single model by transfer knowledge from an ensemble of models to the single model.</a:t>
            </a:r>
          </a:p>
          <a:p>
            <a:endParaRPr lang="en-VN"/>
          </a:p>
          <a:p>
            <a:endParaRPr lang="en-VN"/>
          </a:p>
        </p:txBody>
      </p:sp>
      <p:grpSp>
        <p:nvGrpSpPr>
          <p:cNvPr id="5" name="Group 4">
            <a:extLst>
              <a:ext uri="{FF2B5EF4-FFF2-40B4-BE49-F238E27FC236}">
                <a16:creationId xmlns:a16="http://schemas.microsoft.com/office/drawing/2014/main" id="{A6C87F38-510C-B085-4C70-7FB36DC6ADC2}"/>
              </a:ext>
            </a:extLst>
          </p:cNvPr>
          <p:cNvGrpSpPr/>
          <p:nvPr/>
        </p:nvGrpSpPr>
        <p:grpSpPr>
          <a:xfrm>
            <a:off x="128752" y="1090352"/>
            <a:ext cx="8478083" cy="2062461"/>
            <a:chOff x="235077" y="3025477"/>
            <a:chExt cx="8478083" cy="2062461"/>
          </a:xfrm>
        </p:grpSpPr>
        <p:cxnSp>
          <p:nvCxnSpPr>
            <p:cNvPr id="6" name="Straight Arrow Connector 5">
              <a:extLst>
                <a:ext uri="{FF2B5EF4-FFF2-40B4-BE49-F238E27FC236}">
                  <a16:creationId xmlns:a16="http://schemas.microsoft.com/office/drawing/2014/main" id="{64147C88-0E50-8F29-B502-0A363D51E7B2}"/>
                </a:ext>
              </a:extLst>
            </p:cNvPr>
            <p:cNvCxnSpPr>
              <a:cxnSpLocks/>
              <a:endCxn id="14" idx="2"/>
            </p:cNvCxnSpPr>
            <p:nvPr/>
          </p:nvCxnSpPr>
          <p:spPr>
            <a:xfrm flipV="1">
              <a:off x="7241963" y="3661891"/>
              <a:ext cx="0" cy="39165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grpSp>
          <p:nvGrpSpPr>
            <p:cNvPr id="7" name="Group 6">
              <a:extLst>
                <a:ext uri="{FF2B5EF4-FFF2-40B4-BE49-F238E27FC236}">
                  <a16:creationId xmlns:a16="http://schemas.microsoft.com/office/drawing/2014/main" id="{0D95EFEC-6D0D-FEAF-5318-55A9231F2080}"/>
                </a:ext>
              </a:extLst>
            </p:cNvPr>
            <p:cNvGrpSpPr/>
            <p:nvPr/>
          </p:nvGrpSpPr>
          <p:grpSpPr>
            <a:xfrm>
              <a:off x="235077" y="3025477"/>
              <a:ext cx="8478083" cy="2062461"/>
              <a:chOff x="235077" y="3025477"/>
              <a:chExt cx="8478083" cy="2062461"/>
            </a:xfrm>
          </p:grpSpPr>
          <p:cxnSp>
            <p:nvCxnSpPr>
              <p:cNvPr id="8" name="Straight Connector 7">
                <a:extLst>
                  <a:ext uri="{FF2B5EF4-FFF2-40B4-BE49-F238E27FC236}">
                    <a16:creationId xmlns:a16="http://schemas.microsoft.com/office/drawing/2014/main" id="{7872A2CD-2130-D550-53A7-47047E878ACF}"/>
                  </a:ext>
                </a:extLst>
              </p:cNvPr>
              <p:cNvCxnSpPr>
                <a:stCxn id="14" idx="3"/>
              </p:cNvCxnSpPr>
              <p:nvPr/>
            </p:nvCxnSpPr>
            <p:spPr>
              <a:xfrm>
                <a:off x="8206605" y="3436022"/>
                <a:ext cx="50655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8C6ACD2A-17B5-8ABD-F551-A682E56D4061}"/>
                  </a:ext>
                </a:extLst>
              </p:cNvPr>
              <p:cNvGrpSpPr/>
              <p:nvPr/>
            </p:nvGrpSpPr>
            <p:grpSpPr>
              <a:xfrm>
                <a:off x="235077" y="3025477"/>
                <a:ext cx="8478083" cy="2062461"/>
                <a:chOff x="235077" y="3218199"/>
                <a:chExt cx="8478083" cy="2062461"/>
              </a:xfrm>
            </p:grpSpPr>
            <p:sp>
              <p:nvSpPr>
                <p:cNvPr id="10" name="TextBox 9">
                  <a:extLst>
                    <a:ext uri="{FF2B5EF4-FFF2-40B4-BE49-F238E27FC236}">
                      <a16:creationId xmlns:a16="http://schemas.microsoft.com/office/drawing/2014/main" id="{32E2A346-B314-19AD-5BFE-0C7B30E5A7A4}"/>
                    </a:ext>
                  </a:extLst>
                </p:cNvPr>
                <p:cNvSpPr txBox="1"/>
                <p:nvPr/>
              </p:nvSpPr>
              <p:spPr>
                <a:xfrm>
                  <a:off x="6515786" y="4258424"/>
                  <a:ext cx="1424586" cy="369332"/>
                </a:xfrm>
                <a:prstGeom prst="rect">
                  <a:avLst/>
                </a:prstGeom>
                <a:solidFill>
                  <a:srgbClr val="00B050"/>
                </a:solidFill>
              </p:spPr>
              <p:txBody>
                <a:bodyPr wrap="square" rtlCol="0">
                  <a:spAutoFit/>
                </a:bodyPr>
                <a:lstStyle/>
                <a:p>
                  <a:r>
                    <a:rPr lang="en-US" dirty="0"/>
                    <a:t>Actual labels</a:t>
                  </a:r>
                </a:p>
              </p:txBody>
            </p:sp>
            <p:grpSp>
              <p:nvGrpSpPr>
                <p:cNvPr id="11" name="Group 10">
                  <a:extLst>
                    <a:ext uri="{FF2B5EF4-FFF2-40B4-BE49-F238E27FC236}">
                      <a16:creationId xmlns:a16="http://schemas.microsoft.com/office/drawing/2014/main" id="{BBDBD0D4-66CF-7BB2-854A-C9EC2459E127}"/>
                    </a:ext>
                  </a:extLst>
                </p:cNvPr>
                <p:cNvGrpSpPr/>
                <p:nvPr/>
              </p:nvGrpSpPr>
              <p:grpSpPr>
                <a:xfrm>
                  <a:off x="235077" y="3218199"/>
                  <a:ext cx="8478083" cy="2062461"/>
                  <a:chOff x="190788" y="3218199"/>
                  <a:chExt cx="8478083" cy="2062461"/>
                </a:xfrm>
              </p:grpSpPr>
              <p:sp>
                <p:nvSpPr>
                  <p:cNvPr id="12" name="Can 11">
                    <a:extLst>
                      <a:ext uri="{FF2B5EF4-FFF2-40B4-BE49-F238E27FC236}">
                        <a16:creationId xmlns:a16="http://schemas.microsoft.com/office/drawing/2014/main" id="{EEAD86F2-17D6-4542-6B40-0594F1852DB7}"/>
                      </a:ext>
                    </a:extLst>
                  </p:cNvPr>
                  <p:cNvSpPr/>
                  <p:nvPr/>
                </p:nvSpPr>
                <p:spPr>
                  <a:xfrm>
                    <a:off x="190788" y="3219408"/>
                    <a:ext cx="1059147" cy="1052660"/>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a:t>Dataset</a:t>
                    </a:r>
                  </a:p>
                </p:txBody>
              </p:sp>
              <p:grpSp>
                <p:nvGrpSpPr>
                  <p:cNvPr id="13" name="Group 12">
                    <a:extLst>
                      <a:ext uri="{FF2B5EF4-FFF2-40B4-BE49-F238E27FC236}">
                        <a16:creationId xmlns:a16="http://schemas.microsoft.com/office/drawing/2014/main" id="{B56FDDE1-39EB-922B-D7DC-6E8CD5F25CC3}"/>
                      </a:ext>
                    </a:extLst>
                  </p:cNvPr>
                  <p:cNvGrpSpPr/>
                  <p:nvPr/>
                </p:nvGrpSpPr>
                <p:grpSpPr>
                  <a:xfrm>
                    <a:off x="2318115" y="3218199"/>
                    <a:ext cx="3228575" cy="844062"/>
                    <a:chOff x="2318115" y="4078592"/>
                    <a:chExt cx="3228575" cy="844062"/>
                  </a:xfrm>
                </p:grpSpPr>
                <p:sp>
                  <p:nvSpPr>
                    <p:cNvPr id="21" name="Cube 20">
                      <a:extLst>
                        <a:ext uri="{FF2B5EF4-FFF2-40B4-BE49-F238E27FC236}">
                          <a16:creationId xmlns:a16="http://schemas.microsoft.com/office/drawing/2014/main" id="{08F712CA-834A-7F60-1571-9F9889330260}"/>
                        </a:ext>
                      </a:extLst>
                    </p:cNvPr>
                    <p:cNvSpPr/>
                    <p:nvPr/>
                  </p:nvSpPr>
                  <p:spPr>
                    <a:xfrm>
                      <a:off x="2318115" y="4078592"/>
                      <a:ext cx="1778558" cy="844062"/>
                    </a:xfrm>
                    <a:prstGeom prst="cub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a:t>Single Model</a:t>
                      </a:r>
                    </a:p>
                  </p:txBody>
                </p:sp>
                <p:sp>
                  <p:nvSpPr>
                    <p:cNvPr id="22" name="Rounded Rectangle 21">
                      <a:extLst>
                        <a:ext uri="{FF2B5EF4-FFF2-40B4-BE49-F238E27FC236}">
                          <a16:creationId xmlns:a16="http://schemas.microsoft.com/office/drawing/2014/main" id="{7A7A8CF6-4B44-DBA0-CCA4-7BC370016303}"/>
                        </a:ext>
                      </a:extLst>
                    </p:cNvPr>
                    <p:cNvSpPr/>
                    <p:nvPr/>
                  </p:nvSpPr>
                  <p:spPr>
                    <a:xfrm>
                      <a:off x="3969099" y="4318315"/>
                      <a:ext cx="1577591" cy="3416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a:t>Prediction</a:t>
                      </a:r>
                    </a:p>
                  </p:txBody>
                </p:sp>
              </p:grpSp>
              <p:sp>
                <p:nvSpPr>
                  <p:cNvPr id="14" name="Terminator 13">
                    <a:extLst>
                      <a:ext uri="{FF2B5EF4-FFF2-40B4-BE49-F238E27FC236}">
                        <a16:creationId xmlns:a16="http://schemas.microsoft.com/office/drawing/2014/main" id="{F844553C-C8C6-5A95-178B-AAA970B73485}"/>
                      </a:ext>
                    </a:extLst>
                  </p:cNvPr>
                  <p:cNvSpPr/>
                  <p:nvPr/>
                </p:nvSpPr>
                <p:spPr>
                  <a:xfrm>
                    <a:off x="6233032" y="3402875"/>
                    <a:ext cx="1929284" cy="451738"/>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a:t>Cross Entropy Loss</a:t>
                    </a:r>
                  </a:p>
                </p:txBody>
              </p:sp>
              <p:grpSp>
                <p:nvGrpSpPr>
                  <p:cNvPr id="15" name="Group 14">
                    <a:extLst>
                      <a:ext uri="{FF2B5EF4-FFF2-40B4-BE49-F238E27FC236}">
                        <a16:creationId xmlns:a16="http://schemas.microsoft.com/office/drawing/2014/main" id="{AC758A47-FEE1-55F8-3CA4-920DAAB55C6A}"/>
                      </a:ext>
                    </a:extLst>
                  </p:cNvPr>
                  <p:cNvGrpSpPr/>
                  <p:nvPr/>
                </p:nvGrpSpPr>
                <p:grpSpPr>
                  <a:xfrm>
                    <a:off x="3207394" y="3618397"/>
                    <a:ext cx="5461477" cy="1662263"/>
                    <a:chOff x="3207394" y="4518212"/>
                    <a:chExt cx="5461477" cy="1662263"/>
                  </a:xfrm>
                </p:grpSpPr>
                <p:cxnSp>
                  <p:nvCxnSpPr>
                    <p:cNvPr id="18" name="Straight Connector 17">
                      <a:extLst>
                        <a:ext uri="{FF2B5EF4-FFF2-40B4-BE49-F238E27FC236}">
                          <a16:creationId xmlns:a16="http://schemas.microsoft.com/office/drawing/2014/main" id="{16E51ED3-EF49-577C-5272-6F7BDEA054E2}"/>
                        </a:ext>
                      </a:extLst>
                    </p:cNvPr>
                    <p:cNvCxnSpPr>
                      <a:cxnSpLocks/>
                    </p:cNvCxnSpPr>
                    <p:nvPr/>
                  </p:nvCxnSpPr>
                  <p:spPr>
                    <a:xfrm>
                      <a:off x="3207394" y="6180475"/>
                      <a:ext cx="5461477" cy="0"/>
                    </a:xfrm>
                    <a:prstGeom prst="line">
                      <a:avLst/>
                    </a:prstGeom>
                    <a:ln w="38100">
                      <a:prstDash val="solid"/>
                    </a:ln>
                  </p:spPr>
                  <p:style>
                    <a:lnRef idx="3">
                      <a:schemeClr val="dk1"/>
                    </a:lnRef>
                    <a:fillRef idx="0">
                      <a:schemeClr val="dk1"/>
                    </a:fillRef>
                    <a:effectRef idx="2">
                      <a:schemeClr val="dk1"/>
                    </a:effectRef>
                    <a:fontRef idx="minor">
                      <a:schemeClr val="tx1"/>
                    </a:fontRef>
                  </p:style>
                </p:cxnSp>
                <p:cxnSp>
                  <p:nvCxnSpPr>
                    <p:cNvPr id="19" name="Straight Arrow Connector 18">
                      <a:extLst>
                        <a:ext uri="{FF2B5EF4-FFF2-40B4-BE49-F238E27FC236}">
                          <a16:creationId xmlns:a16="http://schemas.microsoft.com/office/drawing/2014/main" id="{DDE8314B-3BFF-941E-B0FA-9FC880BF87AD}"/>
                        </a:ext>
                      </a:extLst>
                    </p:cNvPr>
                    <p:cNvCxnSpPr>
                      <a:cxnSpLocks/>
                    </p:cNvCxnSpPr>
                    <p:nvPr/>
                  </p:nvCxnSpPr>
                  <p:spPr>
                    <a:xfrm flipV="1">
                      <a:off x="3207394" y="4993341"/>
                      <a:ext cx="0" cy="1187134"/>
                    </a:xfrm>
                    <a:prstGeom prst="straightConnector1">
                      <a:avLst/>
                    </a:prstGeom>
                    <a:ln w="38100">
                      <a:prstDash val="solid"/>
                      <a:tailEnd type="triangle"/>
                    </a:ln>
                  </p:spPr>
                  <p:style>
                    <a:lnRef idx="3">
                      <a:schemeClr val="dk1"/>
                    </a:lnRef>
                    <a:fillRef idx="0">
                      <a:schemeClr val="dk1"/>
                    </a:fillRef>
                    <a:effectRef idx="2">
                      <a:schemeClr val="dk1"/>
                    </a:effectRef>
                    <a:fontRef idx="minor">
                      <a:schemeClr val="tx1"/>
                    </a:fontRef>
                  </p:style>
                </p:cxnSp>
                <p:cxnSp>
                  <p:nvCxnSpPr>
                    <p:cNvPr id="20" name="Straight Connector 19">
                      <a:extLst>
                        <a:ext uri="{FF2B5EF4-FFF2-40B4-BE49-F238E27FC236}">
                          <a16:creationId xmlns:a16="http://schemas.microsoft.com/office/drawing/2014/main" id="{D7C41335-FFE1-777D-40F3-4D3EF565DF0C}"/>
                        </a:ext>
                      </a:extLst>
                    </p:cNvPr>
                    <p:cNvCxnSpPr>
                      <a:cxnSpLocks/>
                    </p:cNvCxnSpPr>
                    <p:nvPr/>
                  </p:nvCxnSpPr>
                  <p:spPr>
                    <a:xfrm>
                      <a:off x="8668871" y="4518212"/>
                      <a:ext cx="0" cy="1650102"/>
                    </a:xfrm>
                    <a:prstGeom prst="line">
                      <a:avLst/>
                    </a:prstGeom>
                    <a:ln w="38100">
                      <a:prstDash val="solid"/>
                    </a:ln>
                  </p:spPr>
                  <p:style>
                    <a:lnRef idx="3">
                      <a:schemeClr val="dk1"/>
                    </a:lnRef>
                    <a:fillRef idx="0">
                      <a:schemeClr val="dk1"/>
                    </a:fillRef>
                    <a:effectRef idx="2">
                      <a:schemeClr val="dk1"/>
                    </a:effectRef>
                    <a:fontRef idx="minor">
                      <a:schemeClr val="tx1"/>
                    </a:fontRef>
                  </p:style>
                </p:cxnSp>
              </p:grpSp>
              <p:cxnSp>
                <p:nvCxnSpPr>
                  <p:cNvPr id="16" name="Straight Arrow Connector 15">
                    <a:extLst>
                      <a:ext uri="{FF2B5EF4-FFF2-40B4-BE49-F238E27FC236}">
                        <a16:creationId xmlns:a16="http://schemas.microsoft.com/office/drawing/2014/main" id="{C514B5F1-00BB-5069-9EC7-F03657A40604}"/>
                      </a:ext>
                    </a:extLst>
                  </p:cNvPr>
                  <p:cNvCxnSpPr>
                    <a:stCxn id="22" idx="3"/>
                    <a:endCxn id="14" idx="1"/>
                  </p:cNvCxnSpPr>
                  <p:nvPr/>
                </p:nvCxnSpPr>
                <p:spPr>
                  <a:xfrm>
                    <a:off x="5546690" y="3628744"/>
                    <a:ext cx="68634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DFB2FB8-A52F-A19E-E235-C8646967B779}"/>
                      </a:ext>
                    </a:extLst>
                  </p:cNvPr>
                  <p:cNvCxnSpPr>
                    <a:stCxn id="12" idx="4"/>
                    <a:endCxn id="21" idx="2"/>
                  </p:cNvCxnSpPr>
                  <p:nvPr/>
                </p:nvCxnSpPr>
                <p:spPr>
                  <a:xfrm>
                    <a:off x="1249935" y="3745738"/>
                    <a:ext cx="106818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grpSp>
    </p:spTree>
    <p:extLst>
      <p:ext uri="{BB962C8B-B14F-4D97-AF65-F5344CB8AC3E}">
        <p14:creationId xmlns:p14="http://schemas.microsoft.com/office/powerpoint/2010/main" val="1493216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TIMING" val="|0.2|0.3"/>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5405</TotalTime>
  <Words>2705</Words>
  <Application>Microsoft Macintosh PowerPoint</Application>
  <PresentationFormat>On-screen Show (4:3)</PresentationFormat>
  <Paragraphs>442</Paragraphs>
  <Slides>42</Slides>
  <Notes>11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42</vt:i4>
      </vt:variant>
    </vt:vector>
  </HeadingPairs>
  <TitlesOfParts>
    <vt:vector size="57" baseType="lpstr">
      <vt:lpstr>Aptos Narrow</vt:lpstr>
      <vt:lpstr>Arial</vt:lpstr>
      <vt:lpstr>Calibri</vt:lpstr>
      <vt:lpstr>Cambria Math</vt:lpstr>
      <vt:lpstr>CMMI12</vt:lpstr>
      <vt:lpstr>CMMI9</vt:lpstr>
      <vt:lpstr>CMR12</vt:lpstr>
      <vt:lpstr>CMR9</vt:lpstr>
      <vt:lpstr>CMSY10</vt:lpstr>
      <vt:lpstr>CMSY9</vt:lpstr>
      <vt:lpstr>Helvetica</vt:lpstr>
      <vt:lpstr>Lato</vt:lpstr>
      <vt:lpstr>Lato Bold</vt:lpstr>
      <vt:lpstr>VnNimbusRomanNo9L</vt:lpstr>
      <vt:lpstr>Office Theme</vt:lpstr>
      <vt:lpstr>PowerPoint Presentation</vt:lpstr>
      <vt:lpstr>CONTENT</vt:lpstr>
      <vt:lpstr>PowerPoint Presentation</vt:lpstr>
      <vt:lpstr>Introduction</vt:lpstr>
      <vt:lpstr>Class Incremental Learning </vt:lpstr>
      <vt:lpstr>Class Incremental Learning</vt:lpstr>
      <vt:lpstr>Contribution</vt:lpstr>
      <vt:lpstr>PowerPoint Presentation</vt:lpstr>
      <vt:lpstr>Preliminaries </vt:lpstr>
      <vt:lpstr>Preliminaries </vt:lpstr>
      <vt:lpstr>Related Works: Data Based Approach</vt:lpstr>
      <vt:lpstr>Related Works: Model Based Approach</vt:lpstr>
      <vt:lpstr>PowerPoint Presentation</vt:lpstr>
      <vt:lpstr>CIL Flow</vt:lpstr>
      <vt:lpstr>Benchmark Methods</vt:lpstr>
      <vt:lpstr>LWF: LEARNING WITHOUT FORGETTING</vt:lpstr>
      <vt:lpstr>LWF: LEARNING WITHOUT FORGETTING</vt:lpstr>
      <vt:lpstr>LWF Architecture</vt:lpstr>
      <vt:lpstr>ICARL: Incremental Classification and Representation Learning</vt:lpstr>
      <vt:lpstr>Exemplar Using</vt:lpstr>
      <vt:lpstr>Exemplar Using</vt:lpstr>
      <vt:lpstr>Nearest-Mean-of-Exemplar Classifier</vt:lpstr>
      <vt:lpstr>ICARL Architecture</vt:lpstr>
      <vt:lpstr>DER: Dynamic Expandable Representation</vt:lpstr>
      <vt:lpstr>DER Architecture</vt:lpstr>
      <vt:lpstr>MEMO: Memory Efficient Expandable Model</vt:lpstr>
      <vt:lpstr>PowerPoint Presentation</vt:lpstr>
      <vt:lpstr>Numerical results</vt:lpstr>
      <vt:lpstr>Data Preprocessing</vt:lpstr>
      <vt:lpstr>Implementation </vt:lpstr>
      <vt:lpstr>Numerical Results</vt:lpstr>
      <vt:lpstr>Numerical Results (2)</vt:lpstr>
      <vt:lpstr>Numerical Results (3)</vt:lpstr>
      <vt:lpstr>Numerical Results (4)</vt:lpstr>
      <vt:lpstr>PowerPoint Presentation</vt:lpstr>
      <vt:lpstr>Conclusion</vt:lpstr>
      <vt:lpstr>PowerPoint Presentation</vt:lpstr>
      <vt:lpstr>References </vt:lpstr>
      <vt:lpstr>References (2)</vt:lpstr>
      <vt:lpstr>PowerPoint Presentation</vt:lpstr>
      <vt:lpstr>Backbone Architecture </vt:lpstr>
      <vt:lpstr>LWF: LEARNING WITHOUT FORGETTING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NGUYEN QUANG MINH 20194444</cp:lastModifiedBy>
  <cp:revision>251</cp:revision>
  <dcterms:created xsi:type="dcterms:W3CDTF">2021-05-28T04:32:29Z</dcterms:created>
  <dcterms:modified xsi:type="dcterms:W3CDTF">2024-07-15T21:10:29Z</dcterms:modified>
</cp:coreProperties>
</file>